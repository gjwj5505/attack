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>
        <p:scale>
          <a:sx n="66" d="100"/>
          <a:sy n="66" d="100"/>
        </p:scale>
        <p:origin x="-4925" y="-19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7"/>
            <a:ext cx="18176082" cy="10540259"/>
          </a:xfrm>
        </p:spPr>
        <p:txBody>
          <a:bodyPr anchor="b"/>
          <a:lstStyle>
            <a:lvl1pPr algn="ctr">
              <a:defRPr sz="992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5" y="15901498"/>
            <a:ext cx="16037719" cy="7309500"/>
          </a:xfrm>
        </p:spPr>
        <p:txBody>
          <a:bodyPr/>
          <a:lstStyle>
            <a:lvl1pPr marL="0" indent="0" algn="ctr">
              <a:buNone/>
              <a:defRPr sz="3968"/>
            </a:lvl1pPr>
            <a:lvl2pPr marL="755980" indent="0" algn="ctr">
              <a:buNone/>
              <a:defRPr sz="3307"/>
            </a:lvl2pPr>
            <a:lvl3pPr marL="1511960" indent="0" algn="ctr">
              <a:buNone/>
              <a:defRPr sz="2976"/>
            </a:lvl3pPr>
            <a:lvl4pPr marL="2267941" indent="0" algn="ctr">
              <a:buNone/>
              <a:defRPr sz="2646"/>
            </a:lvl4pPr>
            <a:lvl5pPr marL="3023921" indent="0" algn="ctr">
              <a:buNone/>
              <a:defRPr sz="2646"/>
            </a:lvl5pPr>
            <a:lvl6pPr marL="3779901" indent="0" algn="ctr">
              <a:buNone/>
              <a:defRPr sz="2646"/>
            </a:lvl6pPr>
            <a:lvl7pPr marL="4535881" indent="0" algn="ctr">
              <a:buNone/>
              <a:defRPr sz="2646"/>
            </a:lvl7pPr>
            <a:lvl8pPr marL="5291861" indent="0" algn="ctr">
              <a:buNone/>
              <a:defRPr sz="2646"/>
            </a:lvl8pPr>
            <a:lvl9pPr marL="6047842" indent="0" algn="ctr">
              <a:buNone/>
              <a:defRPr sz="26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2326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0858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90" y="7547788"/>
            <a:ext cx="18443376" cy="12593645"/>
          </a:xfrm>
        </p:spPr>
        <p:txBody>
          <a:bodyPr anchor="b"/>
          <a:lstStyle>
            <a:lvl1pPr>
              <a:defRPr sz="992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90" y="20260573"/>
            <a:ext cx="18443376" cy="6622700"/>
          </a:xfrm>
        </p:spPr>
        <p:txBody>
          <a:bodyPr/>
          <a:lstStyle>
            <a:lvl1pPr marL="0" indent="0">
              <a:buNone/>
              <a:defRPr sz="3968">
                <a:solidFill>
                  <a:schemeClr val="tx1">
                    <a:tint val="82000"/>
                  </a:schemeClr>
                </a:solidFill>
              </a:defRPr>
            </a:lvl1pPr>
            <a:lvl2pPr marL="755980" indent="0">
              <a:buNone/>
              <a:defRPr sz="3307">
                <a:solidFill>
                  <a:schemeClr val="tx1">
                    <a:tint val="82000"/>
                  </a:schemeClr>
                </a:solidFill>
              </a:defRPr>
            </a:lvl2pPr>
            <a:lvl3pPr marL="1511960" indent="0">
              <a:buNone/>
              <a:defRPr sz="2976">
                <a:solidFill>
                  <a:schemeClr val="tx1">
                    <a:tint val="82000"/>
                  </a:schemeClr>
                </a:solidFill>
              </a:defRPr>
            </a:lvl3pPr>
            <a:lvl4pPr marL="226794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4pPr>
            <a:lvl5pPr marL="302392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5pPr>
            <a:lvl6pPr marL="377990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6pPr>
            <a:lvl7pPr marL="453588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7pPr>
            <a:lvl8pPr marL="529186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8pPr>
            <a:lvl9pPr marL="6047842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7615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5" y="8059374"/>
            <a:ext cx="9088041" cy="1920934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1" y="8059374"/>
            <a:ext cx="9088041" cy="1920934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1316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11" y="1611883"/>
            <a:ext cx="18443376" cy="585180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3" y="7421637"/>
            <a:ext cx="9046275" cy="3637228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3" y="11058862"/>
            <a:ext cx="9046275" cy="1626592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2" y="7421637"/>
            <a:ext cx="9090826" cy="3637228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2" y="11058862"/>
            <a:ext cx="9090826" cy="1626592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9663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5858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6048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10" y="2018350"/>
            <a:ext cx="6896776" cy="7064217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7" y="4359076"/>
            <a:ext cx="10825460" cy="21515025"/>
          </a:xfrm>
        </p:spPr>
        <p:txBody>
          <a:bodyPr/>
          <a:lstStyle>
            <a:lvl1pPr>
              <a:defRPr sz="5291"/>
            </a:lvl1pPr>
            <a:lvl2pPr>
              <a:defRPr sz="4630"/>
            </a:lvl2pPr>
            <a:lvl3pPr>
              <a:defRPr sz="3968"/>
            </a:lvl3pPr>
            <a:lvl4pPr>
              <a:defRPr sz="3307"/>
            </a:lvl4pPr>
            <a:lvl5pPr>
              <a:defRPr sz="3307"/>
            </a:lvl5pPr>
            <a:lvl6pPr>
              <a:defRPr sz="3307"/>
            </a:lvl6pPr>
            <a:lvl7pPr>
              <a:defRPr sz="3307"/>
            </a:lvl7pPr>
            <a:lvl8pPr>
              <a:defRPr sz="3307"/>
            </a:lvl8pPr>
            <a:lvl9pPr>
              <a:defRPr sz="3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10" y="9082567"/>
            <a:ext cx="6896776" cy="1682657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157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10" y="2018350"/>
            <a:ext cx="6896776" cy="7064217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7" y="4359076"/>
            <a:ext cx="10825460" cy="21515025"/>
          </a:xfrm>
        </p:spPr>
        <p:txBody>
          <a:bodyPr anchor="t"/>
          <a:lstStyle>
            <a:lvl1pPr marL="0" indent="0">
              <a:buNone/>
              <a:defRPr sz="5291"/>
            </a:lvl1pPr>
            <a:lvl2pPr marL="755980" indent="0">
              <a:buNone/>
              <a:defRPr sz="4630"/>
            </a:lvl2pPr>
            <a:lvl3pPr marL="1511960" indent="0">
              <a:buNone/>
              <a:defRPr sz="3968"/>
            </a:lvl3pPr>
            <a:lvl4pPr marL="2267941" indent="0">
              <a:buNone/>
              <a:defRPr sz="3307"/>
            </a:lvl4pPr>
            <a:lvl5pPr marL="3023921" indent="0">
              <a:buNone/>
              <a:defRPr sz="3307"/>
            </a:lvl5pPr>
            <a:lvl6pPr marL="3779901" indent="0">
              <a:buNone/>
              <a:defRPr sz="3307"/>
            </a:lvl6pPr>
            <a:lvl7pPr marL="4535881" indent="0">
              <a:buNone/>
              <a:defRPr sz="3307"/>
            </a:lvl7pPr>
            <a:lvl8pPr marL="5291861" indent="0">
              <a:buNone/>
              <a:defRPr sz="3307"/>
            </a:lvl8pPr>
            <a:lvl9pPr marL="6047842" indent="0">
              <a:buNone/>
              <a:defRPr sz="3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10" y="9082567"/>
            <a:ext cx="6896776" cy="1682657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7010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0834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8" cy="256568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2101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6" y="1611883"/>
            <a:ext cx="18443376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6" y="8059374"/>
            <a:ext cx="18443376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65E9ED-F255-485F-A6F0-6D5D0758477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7" y="28060644"/>
            <a:ext cx="7216974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580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511960" rtl="0" eaLnBrk="1" latinLnBrk="1" hangingPunct="1">
        <a:lnSpc>
          <a:spcPct val="90000"/>
        </a:lnSpc>
        <a:spcBef>
          <a:spcPct val="0"/>
        </a:spcBef>
        <a:buNone/>
        <a:defRPr sz="72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990" indent="-377990" algn="l" defTabSz="1511960" rtl="0" eaLnBrk="1" latinLnBrk="1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4630" kern="1200">
          <a:solidFill>
            <a:schemeClr val="tx1"/>
          </a:solidFill>
          <a:latin typeface="+mn-lt"/>
          <a:ea typeface="+mn-ea"/>
          <a:cs typeface="+mn-cs"/>
        </a:defRPr>
      </a:lvl1pPr>
      <a:lvl2pPr marL="1133970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1889951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645931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401911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4157891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913871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669852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425832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55980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511960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3pPr>
      <a:lvl4pPr marL="2267941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023921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3779901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535881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291861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047842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B33061B-0D4A-89E1-4CFC-74FA313D6FE0}"/>
              </a:ext>
            </a:extLst>
          </p:cNvPr>
          <p:cNvSpPr>
            <a:spLocks/>
          </p:cNvSpPr>
          <p:nvPr/>
        </p:nvSpPr>
        <p:spPr>
          <a:xfrm>
            <a:off x="0" y="0"/>
            <a:ext cx="21384000" cy="30275997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55297DD-2AF7-23A0-CD3C-54DCECCE79B2}"/>
              </a:ext>
            </a:extLst>
          </p:cNvPr>
          <p:cNvSpPr>
            <a:spLocks/>
          </p:cNvSpPr>
          <p:nvPr/>
        </p:nvSpPr>
        <p:spPr>
          <a:xfrm>
            <a:off x="0" y="0"/>
            <a:ext cx="21384000" cy="3524333"/>
          </a:xfrm>
          <a:prstGeom prst="rect">
            <a:avLst/>
          </a:prstGeom>
          <a:solidFill>
            <a:srgbClr val="00397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CB84A9C9-0AE1-EFD7-6D7A-4717E12E9F8A}"/>
              </a:ext>
            </a:extLst>
          </p:cNvPr>
          <p:cNvSpPr txBox="1">
            <a:spLocks/>
          </p:cNvSpPr>
          <p:nvPr/>
        </p:nvSpPr>
        <p:spPr>
          <a:xfrm>
            <a:off x="934034" y="467514"/>
            <a:ext cx="19506950" cy="28770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626" b="1" spc="424" dirty="0">
                <a:solidFill>
                  <a:srgbClr val="A9C6E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SIGPL </a:t>
            </a:r>
            <a:r>
              <a:rPr lang="ko-KR" altLang="en-US" sz="1626" b="1" spc="424" dirty="0">
                <a:solidFill>
                  <a:srgbClr val="A9C6E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여름학교 </a:t>
            </a:r>
            <a:r>
              <a:rPr lang="en-US" altLang="ko-KR" sz="1626" b="1" spc="424" dirty="0">
                <a:solidFill>
                  <a:srgbClr val="A9C6E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2026   ·   </a:t>
            </a:r>
            <a:r>
              <a:rPr lang="ko-KR" altLang="en-US" sz="1626" b="1" spc="424" dirty="0">
                <a:solidFill>
                  <a:srgbClr val="A9C6E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포스터 세션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F1D16C82-1BA7-B2A5-C6F6-8A4C92430B06}"/>
              </a:ext>
            </a:extLst>
          </p:cNvPr>
          <p:cNvSpPr txBox="1">
            <a:spLocks/>
          </p:cNvSpPr>
          <p:nvPr/>
        </p:nvSpPr>
        <p:spPr>
          <a:xfrm>
            <a:off x="1796220" y="995392"/>
            <a:ext cx="17782578" cy="161831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2000"/>
              </a:lnSpc>
            </a:pPr>
            <a:r>
              <a:rPr lang="en-US" altLang="ko-KR" sz="5375" b="1" dirty="0">
                <a:solidFill>
                  <a:srgbClr val="FFFFF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Big-Step </a:t>
            </a:r>
            <a:r>
              <a:rPr lang="ko-KR" altLang="en-US" sz="5375" b="1" dirty="0">
                <a:solidFill>
                  <a:srgbClr val="FFFFF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증명나무 합성을 통한 정적 분석기 공격</a:t>
            </a:r>
          </a:p>
        </p:txBody>
      </p:sp>
      <p:cxnSp>
        <p:nvCxnSpPr>
          <p:cNvPr id="209" name="직선 연결선 208">
            <a:extLst>
              <a:ext uri="{FF2B5EF4-FFF2-40B4-BE49-F238E27FC236}">
                <a16:creationId xmlns:a16="http://schemas.microsoft.com/office/drawing/2014/main" id="{E6A308BA-FC33-4A8E-7513-181506A1050C}"/>
              </a:ext>
            </a:extLst>
          </p:cNvPr>
          <p:cNvCxnSpPr>
            <a:cxnSpLocks/>
          </p:cNvCxnSpPr>
          <p:nvPr/>
        </p:nvCxnSpPr>
        <p:spPr>
          <a:xfrm>
            <a:off x="7423418" y="2823782"/>
            <a:ext cx="6526745" cy="0"/>
          </a:xfrm>
          <a:prstGeom prst="line">
            <a:avLst/>
          </a:prstGeom>
          <a:ln w="17962">
            <a:solidFill>
              <a:srgbClr val="A9C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TextBox 209">
            <a:extLst>
              <a:ext uri="{FF2B5EF4-FFF2-40B4-BE49-F238E27FC236}">
                <a16:creationId xmlns:a16="http://schemas.microsoft.com/office/drawing/2014/main" id="{262BDD8A-64ED-FF24-0B62-2897C0A88038}"/>
              </a:ext>
            </a:extLst>
          </p:cNvPr>
          <p:cNvSpPr txBox="1">
            <a:spLocks/>
          </p:cNvSpPr>
          <p:nvPr/>
        </p:nvSpPr>
        <p:spPr>
          <a:xfrm>
            <a:off x="945530" y="2942408"/>
            <a:ext cx="19506950" cy="35962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768" dirty="0">
                <a:solidFill>
                  <a:srgbClr val="D6DEE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정원준     지도교수  이광근     서울대학교 프로그래밍 연구실 </a:t>
            </a:r>
            <a:r>
              <a:rPr lang="en-US" altLang="ko-KR" sz="1768" dirty="0">
                <a:solidFill>
                  <a:srgbClr val="D6DEE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ROPAS</a:t>
            </a:r>
            <a:endParaRPr lang="ko-KR" altLang="en-US" sz="1768" dirty="0">
              <a:solidFill>
                <a:srgbClr val="D6DEEB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CB698670-33F3-8B93-8E3E-0D66EC5A83E1}"/>
              </a:ext>
            </a:extLst>
          </p:cNvPr>
          <p:cNvSpPr txBox="1">
            <a:spLocks/>
          </p:cNvSpPr>
          <p:nvPr/>
        </p:nvSpPr>
        <p:spPr>
          <a:xfrm>
            <a:off x="934034" y="4207622"/>
            <a:ext cx="19506950" cy="79117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3536" b="1" dirty="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“프로그램을 먼저 합성하면</a:t>
            </a:r>
            <a:r>
              <a:rPr lang="en-US" altLang="ko-KR" sz="3536" b="1" dirty="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3536" b="1" dirty="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그 프로그램에 실행 의미가</a:t>
            </a:r>
            <a:r>
              <a:rPr lang="en-US" altLang="ko-KR" sz="3536" b="1" dirty="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 </a:t>
            </a:r>
            <a:r>
              <a:rPr lang="ko-KR" altLang="en-US" sz="3536" b="1" dirty="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무엇인지 알 수 없다</a:t>
            </a:r>
            <a:r>
              <a:rPr lang="en-US" altLang="ko-KR" sz="3536" b="1" dirty="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.”</a:t>
            </a:r>
            <a:endParaRPr lang="ko-KR" altLang="en-US" sz="3536" b="1" dirty="0">
              <a:solidFill>
                <a:srgbClr val="1A222B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7AE4F518-777E-5EA5-6D52-AA4DDD9A20A9}"/>
              </a:ext>
            </a:extLst>
          </p:cNvPr>
          <p:cNvSpPr txBox="1">
            <a:spLocks/>
          </p:cNvSpPr>
          <p:nvPr/>
        </p:nvSpPr>
        <p:spPr>
          <a:xfrm>
            <a:off x="934034" y="4984414"/>
            <a:ext cx="19506950" cy="3955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909" dirty="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Rice’s Theorem</a:t>
            </a:r>
            <a:endParaRPr lang="ko-KR" altLang="en-US" sz="1909" dirty="0">
              <a:solidFill>
                <a:srgbClr val="3E4A57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8F9688B7-ED7B-F361-7889-20C6FA707291}"/>
              </a:ext>
            </a:extLst>
          </p:cNvPr>
          <p:cNvSpPr txBox="1">
            <a:spLocks/>
          </p:cNvSpPr>
          <p:nvPr/>
        </p:nvSpPr>
        <p:spPr>
          <a:xfrm>
            <a:off x="934034" y="6113639"/>
            <a:ext cx="790337" cy="61136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3536" b="1" dirty="0">
                <a:solidFill>
                  <a:srgbClr val="3A72B8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01</a:t>
            </a:r>
            <a:endParaRPr lang="ko-KR" altLang="en-US" sz="3536" b="1" dirty="0">
              <a:solidFill>
                <a:srgbClr val="3A72B8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CE8AF1CC-6D71-DDAD-1011-2BA12FFB0C3E}"/>
              </a:ext>
            </a:extLst>
          </p:cNvPr>
          <p:cNvSpPr txBox="1">
            <a:spLocks/>
          </p:cNvSpPr>
          <p:nvPr/>
        </p:nvSpPr>
        <p:spPr>
          <a:xfrm>
            <a:off x="1796220" y="6113639"/>
            <a:ext cx="5316812" cy="61136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3536" b="1" dirty="0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문제 설정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207FF33B-9EB3-8AFD-FCC7-47D88B6CD2F3}"/>
              </a:ext>
            </a:extLst>
          </p:cNvPr>
          <p:cNvSpPr txBox="1">
            <a:spLocks/>
          </p:cNvSpPr>
          <p:nvPr/>
        </p:nvSpPr>
        <p:spPr>
          <a:xfrm>
            <a:off x="934034" y="7012704"/>
            <a:ext cx="6178997" cy="7911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909" b="1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분석기가 가짜 경보를 내거나 안전성을 잃는 가장 작은 프로그램을</a:t>
            </a:r>
            <a:r>
              <a:rPr lang="en-US" altLang="ko-KR" sz="1909" b="1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909" b="1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사람 없이 자동으로 찾는다</a:t>
            </a:r>
            <a:r>
              <a:rPr lang="en-US" altLang="ko-KR" sz="1909" b="1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909" b="1">
              <a:solidFill>
                <a:srgbClr val="1A222B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7D2DD36-4665-7E90-DFD5-655E62D4C3DA}"/>
              </a:ext>
            </a:extLst>
          </p:cNvPr>
          <p:cNvSpPr txBox="1">
            <a:spLocks/>
          </p:cNvSpPr>
          <p:nvPr/>
        </p:nvSpPr>
        <p:spPr>
          <a:xfrm>
            <a:off x="934034" y="8019656"/>
            <a:ext cx="6178997" cy="935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556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분석기는 </a:t>
            </a:r>
            <a:r>
              <a:rPr lang="en-US" altLang="ko-KR" sz="1556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</a:t>
            </a:r>
            <a:r>
              <a:rPr lang="ko-KR" altLang="en-US" sz="1556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를 분석하지만</a:t>
            </a:r>
            <a:r>
              <a:rPr lang="en-US" altLang="ko-KR" sz="1556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556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실제 분석은 </a:t>
            </a:r>
            <a:r>
              <a:rPr lang="en-US" altLang="ko-KR" sz="1556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</a:t>
            </a:r>
            <a:r>
              <a:rPr lang="ko-KR" altLang="en-US" sz="1556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를 단순화한 </a:t>
            </a:r>
            <a:r>
              <a:rPr lang="en-US" altLang="ko-KR" sz="1556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CIL</a:t>
            </a:r>
            <a:r>
              <a:rPr lang="ko-KR" altLang="en-US" sz="1556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과 그로부터 만든 </a:t>
            </a:r>
            <a:r>
              <a:rPr lang="en-US" altLang="ko-KR" sz="1556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CFG </a:t>
            </a:r>
            <a:r>
              <a:rPr lang="ko-KR" altLang="en-US" sz="1556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위에서 일어난다</a:t>
            </a:r>
            <a:r>
              <a:rPr lang="en-US" altLang="ko-KR" sz="1556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556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모든 </a:t>
            </a:r>
            <a:r>
              <a:rPr lang="en-US" altLang="ko-KR" sz="1556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 </a:t>
            </a:r>
            <a:r>
              <a:rPr lang="ko-KR" altLang="en-US" sz="1556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문법이 공격에 필요한 것은 아니다</a:t>
            </a:r>
            <a:r>
              <a:rPr lang="en-US" altLang="ko-KR" sz="1556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556">
              <a:solidFill>
                <a:srgbClr val="3E4A57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99CFBEFB-B13B-099F-AEBE-4C09683F1DAB}"/>
              </a:ext>
            </a:extLst>
          </p:cNvPr>
          <p:cNvSpPr txBox="1">
            <a:spLocks/>
          </p:cNvSpPr>
          <p:nvPr/>
        </p:nvSpPr>
        <p:spPr>
          <a:xfrm>
            <a:off x="934034" y="9098534"/>
            <a:ext cx="3592440" cy="25173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344" b="1" spc="170">
                <a:solidFill>
                  <a:srgbClr val="7C8A99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실제 분석 경로</a:t>
            </a:r>
          </a:p>
        </p:txBody>
      </p:sp>
      <p:sp>
        <p:nvSpPr>
          <p:cNvPr id="220" name="사각형: 둥근 모서리 219">
            <a:extLst>
              <a:ext uri="{FF2B5EF4-FFF2-40B4-BE49-F238E27FC236}">
                <a16:creationId xmlns:a16="http://schemas.microsoft.com/office/drawing/2014/main" id="{23A6CA6A-57D3-8B40-306B-FDF900477746}"/>
              </a:ext>
            </a:extLst>
          </p:cNvPr>
          <p:cNvSpPr>
            <a:spLocks/>
          </p:cNvSpPr>
          <p:nvPr/>
        </p:nvSpPr>
        <p:spPr>
          <a:xfrm>
            <a:off x="934034" y="9458159"/>
            <a:ext cx="862186" cy="539439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7962">
            <a:solidFill>
              <a:srgbClr val="C3CF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055D4799-4755-4AEC-1796-CB50AD7A9420}"/>
              </a:ext>
            </a:extLst>
          </p:cNvPr>
          <p:cNvSpPr txBox="1">
            <a:spLocks/>
          </p:cNvSpPr>
          <p:nvPr/>
        </p:nvSpPr>
        <p:spPr>
          <a:xfrm>
            <a:off x="934034" y="9458159"/>
            <a:ext cx="862186" cy="53943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697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</a:t>
            </a:r>
            <a:endParaRPr lang="ko-KR" altLang="en-US" sz="1697" b="1">
              <a:solidFill>
                <a:srgbClr val="00397F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222" name="직선 연결선 221">
            <a:extLst>
              <a:ext uri="{FF2B5EF4-FFF2-40B4-BE49-F238E27FC236}">
                <a16:creationId xmlns:a16="http://schemas.microsoft.com/office/drawing/2014/main" id="{58DEDA3D-F8FE-3319-EAAD-F2CB6076809B}"/>
              </a:ext>
            </a:extLst>
          </p:cNvPr>
          <p:cNvCxnSpPr>
            <a:cxnSpLocks/>
          </p:cNvCxnSpPr>
          <p:nvPr/>
        </p:nvCxnSpPr>
        <p:spPr>
          <a:xfrm>
            <a:off x="1868069" y="9727879"/>
            <a:ext cx="251471" cy="0"/>
          </a:xfrm>
          <a:prstGeom prst="line">
            <a:avLst/>
          </a:prstGeom>
          <a:ln w="21555">
            <a:solidFill>
              <a:srgbClr val="3A72B8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사각형: 둥근 모서리 222">
            <a:extLst>
              <a:ext uri="{FF2B5EF4-FFF2-40B4-BE49-F238E27FC236}">
                <a16:creationId xmlns:a16="http://schemas.microsoft.com/office/drawing/2014/main" id="{C1AAE1F0-E783-AF7A-3B20-E7EBA2770A31}"/>
              </a:ext>
            </a:extLst>
          </p:cNvPr>
          <p:cNvSpPr>
            <a:spLocks/>
          </p:cNvSpPr>
          <p:nvPr/>
        </p:nvSpPr>
        <p:spPr>
          <a:xfrm>
            <a:off x="2191389" y="9458159"/>
            <a:ext cx="1005883" cy="539439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7962">
            <a:solidFill>
              <a:srgbClr val="C3CF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04C109AA-A7DF-65E0-83D7-70BAB206FED4}"/>
              </a:ext>
            </a:extLst>
          </p:cNvPr>
          <p:cNvSpPr txBox="1">
            <a:spLocks/>
          </p:cNvSpPr>
          <p:nvPr/>
        </p:nvSpPr>
        <p:spPr>
          <a:xfrm>
            <a:off x="2191389" y="9458159"/>
            <a:ext cx="1005883" cy="53943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697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CIL</a:t>
            </a:r>
            <a:endParaRPr lang="ko-KR" altLang="en-US" sz="1697" b="1">
              <a:solidFill>
                <a:srgbClr val="00397F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225" name="직선 연결선 224">
            <a:extLst>
              <a:ext uri="{FF2B5EF4-FFF2-40B4-BE49-F238E27FC236}">
                <a16:creationId xmlns:a16="http://schemas.microsoft.com/office/drawing/2014/main" id="{D170EBA9-4567-735C-2097-5884AD00D6E6}"/>
              </a:ext>
            </a:extLst>
          </p:cNvPr>
          <p:cNvCxnSpPr>
            <a:cxnSpLocks/>
          </p:cNvCxnSpPr>
          <p:nvPr/>
        </p:nvCxnSpPr>
        <p:spPr>
          <a:xfrm>
            <a:off x="3269121" y="9727879"/>
            <a:ext cx="251471" cy="0"/>
          </a:xfrm>
          <a:prstGeom prst="line">
            <a:avLst/>
          </a:prstGeom>
          <a:ln w="21555">
            <a:solidFill>
              <a:srgbClr val="3A72B8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" name="사각형: 둥근 모서리 225">
            <a:extLst>
              <a:ext uri="{FF2B5EF4-FFF2-40B4-BE49-F238E27FC236}">
                <a16:creationId xmlns:a16="http://schemas.microsoft.com/office/drawing/2014/main" id="{5D894C1C-D0D7-4628-C03A-9E59DCAE355A}"/>
              </a:ext>
            </a:extLst>
          </p:cNvPr>
          <p:cNvSpPr>
            <a:spLocks/>
          </p:cNvSpPr>
          <p:nvPr/>
        </p:nvSpPr>
        <p:spPr>
          <a:xfrm>
            <a:off x="3592440" y="9458159"/>
            <a:ext cx="1041808" cy="539439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7962">
            <a:solidFill>
              <a:srgbClr val="C3CF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89726C2C-CB00-B79D-1324-5846E4578545}"/>
              </a:ext>
            </a:extLst>
          </p:cNvPr>
          <p:cNvSpPr txBox="1">
            <a:spLocks/>
          </p:cNvSpPr>
          <p:nvPr/>
        </p:nvSpPr>
        <p:spPr>
          <a:xfrm>
            <a:off x="3592440" y="9458159"/>
            <a:ext cx="1041808" cy="53943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697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CFG</a:t>
            </a:r>
            <a:endParaRPr lang="ko-KR" altLang="en-US" sz="1697" b="1">
              <a:solidFill>
                <a:srgbClr val="00397F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228" name="직선 연결선 227">
            <a:extLst>
              <a:ext uri="{FF2B5EF4-FFF2-40B4-BE49-F238E27FC236}">
                <a16:creationId xmlns:a16="http://schemas.microsoft.com/office/drawing/2014/main" id="{015A30C2-0BFD-CA48-6CFF-5ED02309BF07}"/>
              </a:ext>
            </a:extLst>
          </p:cNvPr>
          <p:cNvCxnSpPr>
            <a:cxnSpLocks/>
          </p:cNvCxnSpPr>
          <p:nvPr/>
        </p:nvCxnSpPr>
        <p:spPr>
          <a:xfrm>
            <a:off x="4706096" y="9727879"/>
            <a:ext cx="251471" cy="0"/>
          </a:xfrm>
          <a:prstGeom prst="line">
            <a:avLst/>
          </a:prstGeom>
          <a:ln w="21555">
            <a:solidFill>
              <a:srgbClr val="3A72B8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9" name="사각형: 둥근 모서리 228">
            <a:extLst>
              <a:ext uri="{FF2B5EF4-FFF2-40B4-BE49-F238E27FC236}">
                <a16:creationId xmlns:a16="http://schemas.microsoft.com/office/drawing/2014/main" id="{24013F1B-7CDB-9119-B466-F98E5FCFB25A}"/>
              </a:ext>
            </a:extLst>
          </p:cNvPr>
          <p:cNvSpPr>
            <a:spLocks/>
          </p:cNvSpPr>
          <p:nvPr/>
        </p:nvSpPr>
        <p:spPr>
          <a:xfrm>
            <a:off x="5029416" y="9458159"/>
            <a:ext cx="1365127" cy="539439"/>
          </a:xfrm>
          <a:prstGeom prst="roundRect">
            <a:avLst>
              <a:gd name="adj" fmla="val 20000"/>
            </a:avLst>
          </a:prstGeom>
          <a:solidFill>
            <a:srgbClr val="00397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3017327F-53B8-03DC-2908-5EFA0437862A}"/>
              </a:ext>
            </a:extLst>
          </p:cNvPr>
          <p:cNvSpPr txBox="1">
            <a:spLocks/>
          </p:cNvSpPr>
          <p:nvPr/>
        </p:nvSpPr>
        <p:spPr>
          <a:xfrm>
            <a:off x="5029416" y="9458159"/>
            <a:ext cx="1365127" cy="53943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556" b="1">
                <a:solidFill>
                  <a:srgbClr val="FFFFF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분석기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EE985459-9481-271B-B627-D83701BCB419}"/>
              </a:ext>
            </a:extLst>
          </p:cNvPr>
          <p:cNvSpPr txBox="1">
            <a:spLocks/>
          </p:cNvSpPr>
          <p:nvPr/>
        </p:nvSpPr>
        <p:spPr>
          <a:xfrm>
            <a:off x="934034" y="10177411"/>
            <a:ext cx="6178997" cy="35962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485">
                <a:solidFill>
                  <a:srgbClr val="7C8A99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분석 대상은 </a:t>
            </a:r>
            <a:r>
              <a:rPr lang="en-US" altLang="ko-KR" sz="1485">
                <a:solidFill>
                  <a:srgbClr val="7C8A99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</a:t>
            </a:r>
            <a:r>
              <a:rPr lang="ko-KR" altLang="en-US" sz="1485">
                <a:solidFill>
                  <a:srgbClr val="7C8A99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가 아니라</a:t>
            </a:r>
            <a:r>
              <a:rPr lang="en-US" altLang="ko-KR" sz="1485">
                <a:solidFill>
                  <a:srgbClr val="7C8A99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485">
                <a:solidFill>
                  <a:srgbClr val="7C8A99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그 아래로 내려간 </a:t>
            </a:r>
            <a:r>
              <a:rPr lang="en-US" altLang="ko-KR" sz="1485">
                <a:solidFill>
                  <a:srgbClr val="7C8A99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CIL</a:t>
            </a:r>
            <a:r>
              <a:rPr lang="ko-KR" altLang="en-US" sz="1485">
                <a:solidFill>
                  <a:srgbClr val="7C8A99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과 </a:t>
            </a:r>
            <a:r>
              <a:rPr lang="en-US" altLang="ko-KR" sz="1485">
                <a:solidFill>
                  <a:srgbClr val="7C8A99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CFG</a:t>
            </a:r>
            <a:r>
              <a:rPr lang="ko-KR" altLang="en-US" sz="1485">
                <a:solidFill>
                  <a:srgbClr val="7C8A99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다</a:t>
            </a:r>
            <a:r>
              <a:rPr lang="en-US" altLang="ko-KR" sz="1485">
                <a:solidFill>
                  <a:srgbClr val="7C8A99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485">
              <a:solidFill>
                <a:srgbClr val="7C8A99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32" name="사각형: 둥근 모서리 231">
            <a:extLst>
              <a:ext uri="{FF2B5EF4-FFF2-40B4-BE49-F238E27FC236}">
                <a16:creationId xmlns:a16="http://schemas.microsoft.com/office/drawing/2014/main" id="{7B42D23D-E9C6-5BB0-5D44-FA6EC59563B2}"/>
              </a:ext>
            </a:extLst>
          </p:cNvPr>
          <p:cNvSpPr>
            <a:spLocks/>
          </p:cNvSpPr>
          <p:nvPr/>
        </p:nvSpPr>
        <p:spPr>
          <a:xfrm>
            <a:off x="934034" y="10716850"/>
            <a:ext cx="6178997" cy="1042915"/>
          </a:xfrm>
          <a:prstGeom prst="roundRect">
            <a:avLst>
              <a:gd name="adj" fmla="val 13793"/>
            </a:avLst>
          </a:prstGeom>
          <a:solidFill>
            <a:srgbClr val="D6DE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261094AD-5233-F5F7-0F55-6597125C6F89}"/>
              </a:ext>
            </a:extLst>
          </p:cNvPr>
          <p:cNvSpPr txBox="1">
            <a:spLocks/>
          </p:cNvSpPr>
          <p:nvPr/>
        </p:nvSpPr>
        <p:spPr>
          <a:xfrm>
            <a:off x="1221430" y="10716850"/>
            <a:ext cx="5604207" cy="104291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768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그래서 공격에 필요한 만큼만 담은 더 작은 언어 </a:t>
            </a:r>
            <a:r>
              <a:rPr lang="en-US" altLang="ko-KR" sz="1768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CIL--</a:t>
            </a:r>
            <a:r>
              <a:rPr lang="ko-KR" altLang="en-US" sz="1768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를 새로 정의한다</a:t>
            </a:r>
            <a:r>
              <a:rPr lang="en-US" altLang="ko-KR" sz="1768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768" b="1">
              <a:solidFill>
                <a:srgbClr val="00397F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FAFC7BFB-D278-CF04-FBB3-225985D4FE83}"/>
              </a:ext>
            </a:extLst>
          </p:cNvPr>
          <p:cNvSpPr txBox="1">
            <a:spLocks/>
          </p:cNvSpPr>
          <p:nvPr/>
        </p:nvSpPr>
        <p:spPr>
          <a:xfrm>
            <a:off x="934034" y="11939577"/>
            <a:ext cx="6178997" cy="61136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찾아낸 공격은 분석기를 강화하는 지침이 되고</a:t>
            </a:r>
            <a:r>
              <a:rPr lang="en-US" altLang="ko-KR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거꾸로 난독화에도 쓸 수 있다</a:t>
            </a:r>
            <a:r>
              <a:rPr lang="en-US" altLang="ko-KR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485">
              <a:solidFill>
                <a:srgbClr val="3E4A57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B98C246A-5D6B-2353-1E3A-246DE8C9731B}"/>
              </a:ext>
            </a:extLst>
          </p:cNvPr>
          <p:cNvSpPr txBox="1">
            <a:spLocks/>
          </p:cNvSpPr>
          <p:nvPr/>
        </p:nvSpPr>
        <p:spPr>
          <a:xfrm>
            <a:off x="7580049" y="6113639"/>
            <a:ext cx="790337" cy="61136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3536" b="1">
                <a:solidFill>
                  <a:srgbClr val="3A72B8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02</a:t>
            </a:r>
            <a:endParaRPr lang="ko-KR" altLang="en-US" sz="3536" b="1">
              <a:solidFill>
                <a:srgbClr val="3A72B8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EC2E4B20-17CC-9874-769C-B2F019DC226A}"/>
              </a:ext>
            </a:extLst>
          </p:cNvPr>
          <p:cNvSpPr txBox="1">
            <a:spLocks/>
          </p:cNvSpPr>
          <p:nvPr/>
        </p:nvSpPr>
        <p:spPr>
          <a:xfrm>
            <a:off x="8442234" y="6113639"/>
            <a:ext cx="5316812" cy="61136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3536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언어</a:t>
            </a:r>
            <a:r>
              <a:rPr lang="en-US" altLang="ko-KR" sz="3536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: CIL--</a:t>
            </a:r>
            <a:endParaRPr lang="ko-KR" altLang="en-US" sz="3536" b="1">
              <a:solidFill>
                <a:srgbClr val="00397F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37" name="사각형: 둥근 모서리 236">
            <a:extLst>
              <a:ext uri="{FF2B5EF4-FFF2-40B4-BE49-F238E27FC236}">
                <a16:creationId xmlns:a16="http://schemas.microsoft.com/office/drawing/2014/main" id="{5B9D41B2-0ED1-5E32-8CDA-CA63C1F37D54}"/>
              </a:ext>
            </a:extLst>
          </p:cNvPr>
          <p:cNvSpPr>
            <a:spLocks/>
          </p:cNvSpPr>
          <p:nvPr/>
        </p:nvSpPr>
        <p:spPr>
          <a:xfrm>
            <a:off x="7580049" y="7012704"/>
            <a:ext cx="6178997" cy="970990"/>
          </a:xfrm>
          <a:prstGeom prst="roundRect">
            <a:avLst>
              <a:gd name="adj" fmla="val 14815"/>
            </a:avLst>
          </a:prstGeom>
          <a:solidFill>
            <a:srgbClr val="D6DE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05FC18BD-C3F3-C2C8-9348-920D8E015305}"/>
              </a:ext>
            </a:extLst>
          </p:cNvPr>
          <p:cNvSpPr txBox="1">
            <a:spLocks/>
          </p:cNvSpPr>
          <p:nvPr/>
        </p:nvSpPr>
        <p:spPr>
          <a:xfrm>
            <a:off x="7831520" y="7012704"/>
            <a:ext cx="5676055" cy="97099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556" b="1" dirty="0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대상 분석기는 </a:t>
            </a:r>
            <a:r>
              <a:rPr lang="en-US" altLang="ko-KR" sz="1556" b="1" dirty="0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Sparrow. C</a:t>
            </a:r>
            <a:r>
              <a:rPr lang="ko-KR" altLang="en-US" sz="1556" b="1" dirty="0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를 </a:t>
            </a:r>
            <a:r>
              <a:rPr lang="en-US" altLang="ko-KR" sz="1556" b="1" dirty="0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CIL 1.7.3</a:t>
            </a:r>
            <a:r>
              <a:rPr lang="ko-KR" altLang="en-US" sz="1556" b="1" dirty="0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으로 낮춘 뒤 그 위에서 분석한다</a:t>
            </a:r>
            <a:r>
              <a:rPr lang="en-US" altLang="ko-KR" sz="1556" b="1" dirty="0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 CIL--</a:t>
            </a:r>
            <a:r>
              <a:rPr lang="ko-KR" altLang="en-US" sz="1556" b="1" dirty="0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는 그 </a:t>
            </a:r>
            <a:r>
              <a:rPr lang="en-US" altLang="ko-KR" sz="1556" b="1" dirty="0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CIL</a:t>
            </a:r>
            <a:r>
              <a:rPr lang="ko-KR" altLang="en-US" sz="1556" b="1" dirty="0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의 부분집합이자 합성 </a:t>
            </a:r>
            <a:r>
              <a:rPr lang="en-US" altLang="ko-KR" sz="1556" b="1" dirty="0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· </a:t>
            </a:r>
            <a:r>
              <a:rPr lang="ko-KR" altLang="en-US" sz="1556" b="1" dirty="0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실행 </a:t>
            </a:r>
            <a:r>
              <a:rPr lang="en-US" altLang="ko-KR" sz="1556" b="1" dirty="0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· </a:t>
            </a:r>
            <a:r>
              <a:rPr lang="ko-KR" altLang="en-US" sz="1556" b="1" dirty="0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증명의 기준 언어다</a:t>
            </a:r>
            <a:r>
              <a:rPr lang="en-US" altLang="ko-KR" sz="1556" b="1" dirty="0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556" b="1" dirty="0">
              <a:solidFill>
                <a:srgbClr val="00397F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246673C6-2171-63EF-35A3-8D27A89DFCCF}"/>
              </a:ext>
            </a:extLst>
          </p:cNvPr>
          <p:cNvSpPr txBox="1">
            <a:spLocks/>
          </p:cNvSpPr>
          <p:nvPr/>
        </p:nvSpPr>
        <p:spPr>
          <a:xfrm>
            <a:off x="7580049" y="8199469"/>
            <a:ext cx="1077732" cy="25173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344" b="1" spc="170">
                <a:solidFill>
                  <a:srgbClr val="3A72B8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포함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C2531A0E-F961-D5F7-56CD-DC4F26244C50}"/>
              </a:ext>
            </a:extLst>
          </p:cNvPr>
          <p:cNvSpPr txBox="1">
            <a:spLocks/>
          </p:cNvSpPr>
          <p:nvPr/>
        </p:nvSpPr>
        <p:spPr>
          <a:xfrm>
            <a:off x="7580049" y="8487170"/>
            <a:ext cx="6178997" cy="115080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707"/>
              </a:spcAft>
            </a:pPr>
            <a:r>
              <a:rPr lang="en-US" altLang="ko-KR" sz="1556" dirty="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•  int / unsigned int
•  </a:t>
            </a:r>
            <a:r>
              <a:rPr lang="ko-KR" altLang="en-US" sz="1556" dirty="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직접 함수 호출 </a:t>
            </a:r>
            <a:r>
              <a:rPr lang="en-US" altLang="ko-KR" sz="1556" dirty="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— </a:t>
            </a:r>
            <a:r>
              <a:rPr lang="ko-KR" altLang="en-US" sz="1556" dirty="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재귀와 상호재귀
</a:t>
            </a:r>
            <a:r>
              <a:rPr lang="en-US" altLang="ko-KR" sz="1556" dirty="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•  if · loop · break · continue · return
•  </a:t>
            </a:r>
            <a:r>
              <a:rPr lang="ko-KR" altLang="en-US" sz="1556" dirty="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포인터와 배열 문법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5FEB1C5B-B7DC-2A3F-6D25-A22AFB3B4E2D}"/>
              </a:ext>
            </a:extLst>
          </p:cNvPr>
          <p:cNvSpPr txBox="1">
            <a:spLocks/>
          </p:cNvSpPr>
          <p:nvPr/>
        </p:nvSpPr>
        <p:spPr>
          <a:xfrm>
            <a:off x="7580049" y="9781823"/>
            <a:ext cx="1077732" cy="25173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344" b="1" spc="170">
                <a:solidFill>
                  <a:srgbClr val="3A72B8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제외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831E675D-FAA3-D244-3DBD-D70119D1B921}"/>
              </a:ext>
            </a:extLst>
          </p:cNvPr>
          <p:cNvSpPr txBox="1">
            <a:spLocks/>
          </p:cNvSpPr>
          <p:nvPr/>
        </p:nvSpPr>
        <p:spPr>
          <a:xfrm>
            <a:off x="7580049" y="10069523"/>
            <a:ext cx="6178997" cy="61136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707"/>
              </a:spcAft>
            </a:pPr>
            <a:r>
              <a:rPr lang="en-US" altLang="ko-KR" sz="1556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•  cast · float · struct/union · </a:t>
            </a:r>
            <a:r>
              <a:rPr lang="ko-KR" altLang="en-US" sz="1556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문자열
</a:t>
            </a:r>
            <a:r>
              <a:rPr lang="en-US" altLang="ko-KR" sz="1556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•  switch · goto · varargs · typedef · enum</a:t>
            </a:r>
            <a:endParaRPr lang="ko-KR" altLang="en-US" sz="1556">
              <a:solidFill>
                <a:srgbClr val="3E4A57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43" name="사각형: 둥근 모서리 242">
            <a:extLst>
              <a:ext uri="{FF2B5EF4-FFF2-40B4-BE49-F238E27FC236}">
                <a16:creationId xmlns:a16="http://schemas.microsoft.com/office/drawing/2014/main" id="{AED14C14-6DBA-F5EC-0A97-13972FA75E97}"/>
              </a:ext>
            </a:extLst>
          </p:cNvPr>
          <p:cNvSpPr>
            <a:spLocks/>
          </p:cNvSpPr>
          <p:nvPr/>
        </p:nvSpPr>
        <p:spPr>
          <a:xfrm>
            <a:off x="7580049" y="10824738"/>
            <a:ext cx="6178997" cy="100695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7962">
            <a:solidFill>
              <a:srgbClr val="C3CF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4" name="직사각형 243">
            <a:extLst>
              <a:ext uri="{FF2B5EF4-FFF2-40B4-BE49-F238E27FC236}">
                <a16:creationId xmlns:a16="http://schemas.microsoft.com/office/drawing/2014/main" id="{B4A96D79-D8B7-68AB-F351-5A940A1B24CA}"/>
              </a:ext>
            </a:extLst>
          </p:cNvPr>
          <p:cNvSpPr>
            <a:spLocks/>
          </p:cNvSpPr>
          <p:nvPr/>
        </p:nvSpPr>
        <p:spPr>
          <a:xfrm>
            <a:off x="7580049" y="10968588"/>
            <a:ext cx="71849" cy="719252"/>
          </a:xfrm>
          <a:prstGeom prst="rect">
            <a:avLst/>
          </a:prstGeom>
          <a:solidFill>
            <a:srgbClr val="3A72B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46F86511-E981-00A3-084C-039D9DDE37D4}"/>
              </a:ext>
            </a:extLst>
          </p:cNvPr>
          <p:cNvSpPr txBox="1">
            <a:spLocks/>
          </p:cNvSpPr>
          <p:nvPr/>
        </p:nvSpPr>
        <p:spPr>
          <a:xfrm>
            <a:off x="7903368" y="10932626"/>
            <a:ext cx="3592440" cy="25173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414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cast-free</a:t>
            </a:r>
            <a:endParaRPr lang="ko-KR" altLang="en-US" sz="1414" b="1">
              <a:solidFill>
                <a:srgbClr val="00397F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77E0C6C0-F2E8-44D4-7BCF-403DF6FF018F}"/>
              </a:ext>
            </a:extLst>
          </p:cNvPr>
          <p:cNvSpPr txBox="1">
            <a:spLocks/>
          </p:cNvSpPr>
          <p:nvPr/>
        </p:nvSpPr>
        <p:spPr>
          <a:xfrm>
            <a:off x="7903368" y="11220326"/>
            <a:ext cx="5568282" cy="53943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485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명시적 </a:t>
            </a:r>
            <a:r>
              <a:rPr lang="en-US" altLang="ko-KR" sz="1485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cast</a:t>
            </a:r>
            <a:r>
              <a:rPr lang="ko-KR" altLang="en-US" sz="1485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와 프론트엔드가 몰래 넣는 암묵 변환을 구분할 필요가 없도록</a:t>
            </a:r>
            <a:r>
              <a:rPr lang="en-US" altLang="ko-KR" sz="1485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, CastE</a:t>
            </a:r>
            <a:r>
              <a:rPr lang="ko-KR" altLang="en-US" sz="1485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를 아예 두지 않는다</a:t>
            </a:r>
            <a:r>
              <a:rPr lang="en-US" altLang="ko-KR" sz="1485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485">
              <a:solidFill>
                <a:srgbClr val="1A222B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4A202307-25FF-9082-AB1E-D98C8BF1D261}"/>
              </a:ext>
            </a:extLst>
          </p:cNvPr>
          <p:cNvSpPr txBox="1">
            <a:spLocks/>
          </p:cNvSpPr>
          <p:nvPr/>
        </p:nvSpPr>
        <p:spPr>
          <a:xfrm>
            <a:off x="7580049" y="11975540"/>
            <a:ext cx="3951684" cy="25173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344" b="1" spc="170">
                <a:solidFill>
                  <a:srgbClr val="7C8A99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하나의 </a:t>
            </a:r>
            <a:r>
              <a:rPr lang="en-US" altLang="ko-KR" sz="1344" b="1" spc="170">
                <a:solidFill>
                  <a:srgbClr val="7C8A99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GADT, </a:t>
            </a:r>
            <a:r>
              <a:rPr lang="ko-KR" altLang="en-US" sz="1344" b="1" spc="170">
                <a:solidFill>
                  <a:srgbClr val="7C8A99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두 개의 </a:t>
            </a:r>
            <a:r>
              <a:rPr lang="en-US" altLang="ko-KR" sz="1344" b="1" spc="170">
                <a:solidFill>
                  <a:srgbClr val="7C8A99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mode</a:t>
            </a:r>
            <a:endParaRPr lang="ko-KR" altLang="en-US" sz="1344" b="1" spc="170">
              <a:solidFill>
                <a:srgbClr val="7C8A99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48" name="사각형: 둥근 모서리 247">
            <a:extLst>
              <a:ext uri="{FF2B5EF4-FFF2-40B4-BE49-F238E27FC236}">
                <a16:creationId xmlns:a16="http://schemas.microsoft.com/office/drawing/2014/main" id="{B3222104-7CB9-DFA1-FF66-5FCEC6FE9172}"/>
              </a:ext>
            </a:extLst>
          </p:cNvPr>
          <p:cNvSpPr>
            <a:spLocks/>
          </p:cNvSpPr>
          <p:nvPr/>
        </p:nvSpPr>
        <p:spPr>
          <a:xfrm>
            <a:off x="7580049" y="12263241"/>
            <a:ext cx="2981725" cy="791177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7962">
            <a:solidFill>
              <a:srgbClr val="C3CF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A68DF50A-DE5F-1109-9C36-186868AE54FC}"/>
              </a:ext>
            </a:extLst>
          </p:cNvPr>
          <p:cNvSpPr txBox="1">
            <a:spLocks/>
          </p:cNvSpPr>
          <p:nvPr/>
        </p:nvSpPr>
        <p:spPr>
          <a:xfrm>
            <a:off x="7687822" y="12407092"/>
            <a:ext cx="2766179" cy="32366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697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Syntax.ground</a:t>
            </a:r>
            <a:endParaRPr lang="ko-KR" altLang="en-US" sz="1697" b="1">
              <a:solidFill>
                <a:srgbClr val="00397F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844D9558-4215-7C06-BE67-5F3AC4948DF5}"/>
              </a:ext>
            </a:extLst>
          </p:cNvPr>
          <p:cNvSpPr txBox="1">
            <a:spLocks/>
          </p:cNvSpPr>
          <p:nvPr/>
        </p:nvSpPr>
        <p:spPr>
          <a:xfrm>
            <a:off x="7723746" y="12730755"/>
            <a:ext cx="2694330" cy="2337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344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hole </a:t>
            </a:r>
            <a:r>
              <a:rPr lang="ko-KR" altLang="en-US" sz="1344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불가 </a:t>
            </a:r>
            <a:r>
              <a:rPr lang="en-US" altLang="ko-KR" sz="1344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— </a:t>
            </a:r>
            <a:r>
              <a:rPr lang="ko-KR" altLang="en-US" sz="1344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실행 </a:t>
            </a:r>
            <a:r>
              <a:rPr lang="en-US" altLang="ko-KR" sz="1344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· </a:t>
            </a:r>
            <a:r>
              <a:rPr lang="ko-KR" altLang="en-US" sz="1344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검증</a:t>
            </a:r>
          </a:p>
        </p:txBody>
      </p:sp>
      <p:sp>
        <p:nvSpPr>
          <p:cNvPr id="251" name="사각형: 둥근 모서리 250">
            <a:extLst>
              <a:ext uri="{FF2B5EF4-FFF2-40B4-BE49-F238E27FC236}">
                <a16:creationId xmlns:a16="http://schemas.microsoft.com/office/drawing/2014/main" id="{7FD56006-4594-4738-02B1-E0D0BD6851E6}"/>
              </a:ext>
            </a:extLst>
          </p:cNvPr>
          <p:cNvSpPr>
            <a:spLocks/>
          </p:cNvSpPr>
          <p:nvPr/>
        </p:nvSpPr>
        <p:spPr>
          <a:xfrm>
            <a:off x="10777320" y="12263241"/>
            <a:ext cx="2981725" cy="791177"/>
          </a:xfrm>
          <a:prstGeom prst="roundRect">
            <a:avLst>
              <a:gd name="adj" fmla="val 18182"/>
            </a:avLst>
          </a:prstGeom>
          <a:solidFill>
            <a:srgbClr val="D6DEEB"/>
          </a:solidFill>
          <a:ln w="17962">
            <a:solidFill>
              <a:srgbClr val="D6DE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566FA200-E19B-3DDC-1581-FC18C5BFA36B}"/>
              </a:ext>
            </a:extLst>
          </p:cNvPr>
          <p:cNvSpPr txBox="1">
            <a:spLocks/>
          </p:cNvSpPr>
          <p:nvPr/>
        </p:nvSpPr>
        <p:spPr>
          <a:xfrm>
            <a:off x="10885094" y="12407092"/>
            <a:ext cx="2766179" cy="32366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697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Syntax.holed</a:t>
            </a:r>
            <a:endParaRPr lang="ko-KR" altLang="en-US" sz="1697" b="1">
              <a:solidFill>
                <a:srgbClr val="00397F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5927A698-8C48-E503-9485-8FD5818EB1EE}"/>
              </a:ext>
            </a:extLst>
          </p:cNvPr>
          <p:cNvSpPr txBox="1">
            <a:spLocks/>
          </p:cNvSpPr>
          <p:nvPr/>
        </p:nvSpPr>
        <p:spPr>
          <a:xfrm>
            <a:off x="10921018" y="12730755"/>
            <a:ext cx="2694330" cy="2337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344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ExpHole · StmtSeqHole</a:t>
            </a:r>
            <a:endParaRPr lang="ko-KR" altLang="en-US" sz="1344">
              <a:solidFill>
                <a:srgbClr val="3E4A57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2E14C92B-DBEB-850D-9E07-40DC1385A6DB}"/>
              </a:ext>
            </a:extLst>
          </p:cNvPr>
          <p:cNvSpPr txBox="1">
            <a:spLocks/>
          </p:cNvSpPr>
          <p:nvPr/>
        </p:nvSpPr>
        <p:spPr>
          <a:xfrm>
            <a:off x="14226063" y="6113639"/>
            <a:ext cx="790337" cy="61136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3536" b="1">
                <a:solidFill>
                  <a:srgbClr val="3A72B8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03</a:t>
            </a:r>
            <a:endParaRPr lang="ko-KR" altLang="en-US" sz="3536" b="1">
              <a:solidFill>
                <a:srgbClr val="3A72B8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7ECC2E01-203A-5C91-06D8-E56E5753A6E9}"/>
              </a:ext>
            </a:extLst>
          </p:cNvPr>
          <p:cNvSpPr txBox="1">
            <a:spLocks/>
          </p:cNvSpPr>
          <p:nvPr/>
        </p:nvSpPr>
        <p:spPr>
          <a:xfrm>
            <a:off x="15088248" y="6113639"/>
            <a:ext cx="5316812" cy="61136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3536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공격의 정의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0EFCE5E4-33C3-556D-ED3C-8BDCECBB08ED}"/>
              </a:ext>
            </a:extLst>
          </p:cNvPr>
          <p:cNvSpPr txBox="1">
            <a:spLocks/>
          </p:cNvSpPr>
          <p:nvPr/>
        </p:nvSpPr>
        <p:spPr>
          <a:xfrm>
            <a:off x="14226063" y="7012704"/>
            <a:ext cx="6178997" cy="97099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768" b="1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main</a:t>
            </a:r>
            <a:r>
              <a:rPr lang="ko-KR" altLang="en-US" sz="1768" b="1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이 </a:t>
            </a:r>
            <a:r>
              <a:rPr lang="en-US" altLang="ko-KR" sz="1768" b="1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0</a:t>
            </a:r>
            <a:r>
              <a:rPr lang="ko-KR" altLang="en-US" sz="1768" b="1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을 반환하며 정상 종료한 실행만 비교한다</a:t>
            </a:r>
            <a:r>
              <a:rPr lang="en-US" altLang="ko-KR" sz="1768" b="1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768" b="1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그 시점에 살아 있는 모든 지역 </a:t>
            </a:r>
            <a:r>
              <a:rPr lang="en-US" altLang="ko-KR" sz="1768" b="1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memory binding</a:t>
            </a:r>
            <a:r>
              <a:rPr lang="ko-KR" altLang="en-US" sz="1768" b="1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이 관찰 대상</a:t>
            </a:r>
            <a:r>
              <a:rPr lang="en-US" altLang="ko-KR" sz="1768" b="1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768" b="1">
              <a:solidFill>
                <a:srgbClr val="1A222B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57" name="사각형: 둥근 모서리 256">
            <a:extLst>
              <a:ext uri="{FF2B5EF4-FFF2-40B4-BE49-F238E27FC236}">
                <a16:creationId xmlns:a16="http://schemas.microsoft.com/office/drawing/2014/main" id="{2987D8B2-C1B4-CB00-6634-EF5222ACFAEB}"/>
              </a:ext>
            </a:extLst>
          </p:cNvPr>
          <p:cNvSpPr>
            <a:spLocks/>
          </p:cNvSpPr>
          <p:nvPr/>
        </p:nvSpPr>
        <p:spPr>
          <a:xfrm>
            <a:off x="14226063" y="8127544"/>
            <a:ext cx="6178997" cy="575401"/>
          </a:xfrm>
          <a:prstGeom prst="roundRect">
            <a:avLst>
              <a:gd name="adj" fmla="val 21875"/>
            </a:avLst>
          </a:prstGeom>
          <a:solidFill>
            <a:srgbClr val="00397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D6451F70-8F7D-7EAA-6272-2C6667D959F3}"/>
              </a:ext>
            </a:extLst>
          </p:cNvPr>
          <p:cNvSpPr txBox="1">
            <a:spLocks/>
          </p:cNvSpPr>
          <p:nvPr/>
        </p:nvSpPr>
        <p:spPr>
          <a:xfrm>
            <a:off x="14513458" y="8127544"/>
            <a:ext cx="1796220" cy="57540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556" b="1">
                <a:solidFill>
                  <a:srgbClr val="FFFFF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안전성 실패</a:t>
            </a: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41EF9D02-FB19-6D03-2124-DAAE3A4F7804}"/>
              </a:ext>
            </a:extLst>
          </p:cNvPr>
          <p:cNvSpPr txBox="1">
            <a:spLocks/>
          </p:cNvSpPr>
          <p:nvPr/>
        </p:nvSpPr>
        <p:spPr>
          <a:xfrm>
            <a:off x="16345602" y="8127544"/>
            <a:ext cx="3772062" cy="57540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>
              <a:lnSpc>
                <a:spcPct val="95000"/>
              </a:lnSpc>
            </a:pPr>
            <a:r>
              <a:rPr lang="ko-KR" altLang="en-US" sz="1556">
                <a:solidFill>
                  <a:srgbClr val="D6DEE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구체값 ∉ 분석 결과</a:t>
            </a:r>
          </a:p>
        </p:txBody>
      </p:sp>
      <p:sp>
        <p:nvSpPr>
          <p:cNvPr id="260" name="사각형: 둥근 모서리 259">
            <a:extLst>
              <a:ext uri="{FF2B5EF4-FFF2-40B4-BE49-F238E27FC236}">
                <a16:creationId xmlns:a16="http://schemas.microsoft.com/office/drawing/2014/main" id="{021C745F-F44B-5F68-A78D-BD1240015CD8}"/>
              </a:ext>
            </a:extLst>
          </p:cNvPr>
          <p:cNvSpPr>
            <a:spLocks/>
          </p:cNvSpPr>
          <p:nvPr/>
        </p:nvSpPr>
        <p:spPr>
          <a:xfrm>
            <a:off x="14226063" y="8774871"/>
            <a:ext cx="6178997" cy="575401"/>
          </a:xfrm>
          <a:prstGeom prst="roundRect">
            <a:avLst>
              <a:gd name="adj" fmla="val 21875"/>
            </a:avLst>
          </a:prstGeom>
          <a:solidFill>
            <a:srgbClr val="D6DE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5D1DFBBA-5267-19FC-10E3-18A84AE2C115}"/>
              </a:ext>
            </a:extLst>
          </p:cNvPr>
          <p:cNvSpPr txBox="1">
            <a:spLocks/>
          </p:cNvSpPr>
          <p:nvPr/>
        </p:nvSpPr>
        <p:spPr>
          <a:xfrm>
            <a:off x="14513458" y="8774871"/>
            <a:ext cx="1796220" cy="57540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556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정밀도 실패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1F87D47B-B4FF-A4B5-8B47-14083FB92A02}"/>
              </a:ext>
            </a:extLst>
          </p:cNvPr>
          <p:cNvSpPr txBox="1">
            <a:spLocks/>
          </p:cNvSpPr>
          <p:nvPr/>
        </p:nvSpPr>
        <p:spPr>
          <a:xfrm>
            <a:off x="16345602" y="8774871"/>
            <a:ext cx="3772062" cy="57540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>
              <a:lnSpc>
                <a:spcPct val="95000"/>
              </a:lnSpc>
            </a:pPr>
            <a:r>
              <a:rPr lang="ko-KR" altLang="en-US" sz="1556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분석 결과 ⊋ </a:t>
            </a:r>
            <a:r>
              <a:rPr lang="en-US" altLang="ko-KR" sz="1556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{</a:t>
            </a:r>
            <a:r>
              <a:rPr lang="ko-KR" altLang="en-US" sz="1556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구체값</a:t>
            </a:r>
            <a:r>
              <a:rPr lang="en-US" altLang="ko-KR" sz="1556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}</a:t>
            </a:r>
            <a:endParaRPr lang="ko-KR" altLang="en-US" sz="1556">
              <a:solidFill>
                <a:srgbClr val="00397F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9B033192-81F1-35A1-D6D6-5F381E454CC5}"/>
              </a:ext>
            </a:extLst>
          </p:cNvPr>
          <p:cNvSpPr txBox="1">
            <a:spLocks/>
          </p:cNvSpPr>
          <p:nvPr/>
        </p:nvSpPr>
        <p:spPr>
          <a:xfrm>
            <a:off x="14226063" y="9530085"/>
            <a:ext cx="3592440" cy="25173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344" b="1" spc="170">
                <a:solidFill>
                  <a:srgbClr val="7C8A99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찾아낸 공격 예시</a:t>
            </a:r>
          </a:p>
        </p:txBody>
      </p:sp>
      <p:sp>
        <p:nvSpPr>
          <p:cNvPr id="264" name="사각형: 둥근 모서리 263">
            <a:extLst>
              <a:ext uri="{FF2B5EF4-FFF2-40B4-BE49-F238E27FC236}">
                <a16:creationId xmlns:a16="http://schemas.microsoft.com/office/drawing/2014/main" id="{E7C839A4-CAAD-933E-1F6E-F9876708F186}"/>
              </a:ext>
            </a:extLst>
          </p:cNvPr>
          <p:cNvSpPr>
            <a:spLocks/>
          </p:cNvSpPr>
          <p:nvPr/>
        </p:nvSpPr>
        <p:spPr>
          <a:xfrm>
            <a:off x="14226063" y="9853748"/>
            <a:ext cx="6178997" cy="1222728"/>
          </a:xfrm>
          <a:prstGeom prst="roundRect">
            <a:avLst>
              <a:gd name="adj" fmla="val 10294"/>
            </a:avLst>
          </a:prstGeom>
          <a:solidFill>
            <a:srgbClr val="2E34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FE4407FF-0BF5-AEF1-4E8E-B962CF6CE24F}"/>
              </a:ext>
            </a:extLst>
          </p:cNvPr>
          <p:cNvSpPr txBox="1">
            <a:spLocks/>
          </p:cNvSpPr>
          <p:nvPr/>
        </p:nvSpPr>
        <p:spPr>
          <a:xfrm>
            <a:off x="14585307" y="10069523"/>
            <a:ext cx="5460509" cy="7911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ko-KR" sz="1556">
                <a:solidFill>
                  <a:srgbClr val="D8DEE9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x = </a:t>
            </a:r>
            <a:r>
              <a:rPr lang="en-US" altLang="ko-KR" sz="1556">
                <a:solidFill>
                  <a:srgbClr val="EBCB8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1</a:t>
            </a:r>
            <a:r>
              <a:rPr lang="en-US" altLang="ko-KR" sz="1556">
                <a:solidFill>
                  <a:srgbClr val="D8DEE9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;
</a:t>
            </a:r>
            <a:r>
              <a:rPr lang="en-US" altLang="ko-KR" sz="1556">
                <a:solidFill>
                  <a:srgbClr val="88C0D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while</a:t>
            </a:r>
            <a:r>
              <a:rPr lang="en-US" altLang="ko-KR" sz="1556">
                <a:solidFill>
                  <a:srgbClr val="D8DEE9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(-x) { x = </a:t>
            </a:r>
            <a:r>
              <a:rPr lang="en-US" altLang="ko-KR" sz="1556">
                <a:solidFill>
                  <a:srgbClr val="EBCB8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0</a:t>
            </a:r>
            <a:r>
              <a:rPr lang="en-US" altLang="ko-KR" sz="1556">
                <a:solidFill>
                  <a:srgbClr val="D8DEE9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; }
x = x * x;</a:t>
            </a:r>
            <a:endParaRPr lang="ko-KR" altLang="en-US" sz="1556">
              <a:solidFill>
                <a:srgbClr val="D8DEE9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28AA1FAB-B115-5E96-6DC6-4F7771431B7B}"/>
              </a:ext>
            </a:extLst>
          </p:cNvPr>
          <p:cNvSpPr txBox="1">
            <a:spLocks/>
          </p:cNvSpPr>
          <p:nvPr/>
        </p:nvSpPr>
        <p:spPr>
          <a:xfrm>
            <a:off x="14226063" y="11220326"/>
            <a:ext cx="2873952" cy="32366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485" b="1">
                <a:solidFill>
                  <a:srgbClr val="1A222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구체 실행  </a:t>
            </a:r>
            <a:r>
              <a:rPr lang="en-US" altLang="ko-KR" sz="1485" b="1">
                <a:solidFill>
                  <a:srgbClr val="1A222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x = 0</a:t>
            </a:r>
            <a:endParaRPr lang="ko-KR" altLang="en-US" sz="1485" b="1">
              <a:solidFill>
                <a:srgbClr val="1A222B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36459BD6-84CA-462A-158A-A9997DCB5A56}"/>
              </a:ext>
            </a:extLst>
          </p:cNvPr>
          <p:cNvSpPr txBox="1">
            <a:spLocks/>
          </p:cNvSpPr>
          <p:nvPr/>
        </p:nvSpPr>
        <p:spPr>
          <a:xfrm>
            <a:off x="17100015" y="11220326"/>
            <a:ext cx="3305045" cy="32366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95000"/>
              </a:lnSpc>
            </a:pPr>
            <a:r>
              <a:rPr lang="ko-KR" altLang="en-US" sz="1485" b="1">
                <a:solidFill>
                  <a:srgbClr val="3A72B8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분석 결과  </a:t>
            </a:r>
            <a:r>
              <a:rPr lang="en-US" altLang="ko-KR" sz="1485" b="1">
                <a:solidFill>
                  <a:srgbClr val="3A72B8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x |-&gt; [-inf, inf]</a:t>
            </a:r>
            <a:endParaRPr lang="ko-KR" altLang="en-US" sz="1485" b="1">
              <a:solidFill>
                <a:srgbClr val="3A72B8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ACF9EAC0-7E78-759E-0BBF-DFB757843131}"/>
              </a:ext>
            </a:extLst>
          </p:cNvPr>
          <p:cNvSpPr txBox="1">
            <a:spLocks/>
          </p:cNvSpPr>
          <p:nvPr/>
        </p:nvSpPr>
        <p:spPr>
          <a:xfrm>
            <a:off x="14226063" y="11651877"/>
            <a:ext cx="6178997" cy="6473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guard</a:t>
            </a:r>
            <a:r>
              <a:rPr lang="ko-KR" altLang="en-US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가 </a:t>
            </a:r>
            <a:r>
              <a:rPr lang="en-US" altLang="ko-KR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x</a:t>
            </a:r>
            <a:r>
              <a:rPr lang="ko-KR" altLang="en-US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가 아니라 </a:t>
            </a:r>
            <a:r>
              <a:rPr lang="en-US" altLang="ko-KR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-x</a:t>
            </a:r>
            <a:r>
              <a:rPr lang="ko-KR" altLang="en-US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라 종료 후 필터가 약하고</a:t>
            </a:r>
            <a:r>
              <a:rPr lang="en-US" altLang="ko-KR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, x * x</a:t>
            </a:r>
            <a:r>
              <a:rPr lang="ko-KR" altLang="en-US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는 두 피연산자가 같은 변수라는 상관관계를 잃는다</a:t>
            </a:r>
            <a:r>
              <a:rPr lang="en-US" altLang="ko-KR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485">
              <a:solidFill>
                <a:srgbClr val="3E4A57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2D37D962-DCE4-B671-3D05-D7072368A0F1}"/>
              </a:ext>
            </a:extLst>
          </p:cNvPr>
          <p:cNvSpPr txBox="1">
            <a:spLocks/>
          </p:cNvSpPr>
          <p:nvPr/>
        </p:nvSpPr>
        <p:spPr>
          <a:xfrm>
            <a:off x="14226063" y="12371129"/>
            <a:ext cx="6178997" cy="28770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273">
                <a:solidFill>
                  <a:srgbClr val="7C8A99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* 이전 자체 분석기 엔진에서 발견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878ACB5B-A06E-3FFF-834B-F547520D92F4}"/>
              </a:ext>
            </a:extLst>
          </p:cNvPr>
          <p:cNvSpPr txBox="1">
            <a:spLocks/>
          </p:cNvSpPr>
          <p:nvPr/>
        </p:nvSpPr>
        <p:spPr>
          <a:xfrm>
            <a:off x="934034" y="13378081"/>
            <a:ext cx="790337" cy="61136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3536" b="1">
                <a:solidFill>
                  <a:srgbClr val="3A72B8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04</a:t>
            </a:r>
            <a:endParaRPr lang="ko-KR" altLang="en-US" sz="3536" b="1">
              <a:solidFill>
                <a:srgbClr val="3A72B8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569B0574-E356-1B29-637B-E1CE0E6E7B77}"/>
              </a:ext>
            </a:extLst>
          </p:cNvPr>
          <p:cNvSpPr txBox="1">
            <a:spLocks/>
          </p:cNvSpPr>
          <p:nvPr/>
        </p:nvSpPr>
        <p:spPr>
          <a:xfrm>
            <a:off x="1796220" y="13378081"/>
            <a:ext cx="18644764" cy="61136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3536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잎에서 뿌리로</a:t>
            </a:r>
            <a:r>
              <a:rPr lang="en-US" altLang="ko-KR" sz="3536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3536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작은 조각부터 쌓아 올린다</a:t>
            </a:r>
          </a:p>
        </p:txBody>
      </p:sp>
      <p:sp>
        <p:nvSpPr>
          <p:cNvPr id="272" name="사각형: 둥근 모서리 271">
            <a:extLst>
              <a:ext uri="{FF2B5EF4-FFF2-40B4-BE49-F238E27FC236}">
                <a16:creationId xmlns:a16="http://schemas.microsoft.com/office/drawing/2014/main" id="{A59518B6-098E-D544-15AB-D7BB75CACA7B}"/>
              </a:ext>
            </a:extLst>
          </p:cNvPr>
          <p:cNvSpPr>
            <a:spLocks/>
          </p:cNvSpPr>
          <p:nvPr/>
        </p:nvSpPr>
        <p:spPr>
          <a:xfrm>
            <a:off x="646639" y="14097333"/>
            <a:ext cx="20090721" cy="3812034"/>
          </a:xfrm>
          <a:prstGeom prst="roundRect">
            <a:avLst>
              <a:gd name="adj" fmla="val 6604"/>
            </a:avLst>
          </a:prstGeom>
          <a:solidFill>
            <a:srgbClr val="EFF4F8"/>
          </a:solidFill>
          <a:ln w="17962">
            <a:solidFill>
              <a:srgbClr val="C3CF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3" name="사각형: 둥근 모서리 272">
            <a:extLst>
              <a:ext uri="{FF2B5EF4-FFF2-40B4-BE49-F238E27FC236}">
                <a16:creationId xmlns:a16="http://schemas.microsoft.com/office/drawing/2014/main" id="{A3CCBF9F-C8DF-3514-6F0F-0C5F8473C4EB}"/>
              </a:ext>
            </a:extLst>
          </p:cNvPr>
          <p:cNvSpPr>
            <a:spLocks/>
          </p:cNvSpPr>
          <p:nvPr/>
        </p:nvSpPr>
        <p:spPr>
          <a:xfrm>
            <a:off x="934034" y="14385034"/>
            <a:ext cx="3772062" cy="1906017"/>
          </a:xfrm>
          <a:prstGeom prst="roundRect">
            <a:avLst>
              <a:gd name="adj" fmla="val 6604"/>
            </a:avLst>
          </a:prstGeom>
          <a:solidFill>
            <a:srgbClr val="2E34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AC0C587A-47B8-84AE-A5A6-6E44DD29A518}"/>
              </a:ext>
            </a:extLst>
          </p:cNvPr>
          <p:cNvSpPr txBox="1">
            <a:spLocks/>
          </p:cNvSpPr>
          <p:nvPr/>
        </p:nvSpPr>
        <p:spPr>
          <a:xfrm>
            <a:off x="1293278" y="14600810"/>
            <a:ext cx="3053574" cy="14744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ko-KR" sz="1556">
                <a:solidFill>
                  <a:srgbClr val="88C0D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556">
                <a:solidFill>
                  <a:srgbClr val="D8DEE9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main() {
  </a:t>
            </a:r>
            <a:r>
              <a:rPr lang="en-US" altLang="ko-KR" sz="1556">
                <a:solidFill>
                  <a:srgbClr val="88C0D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556">
                <a:solidFill>
                  <a:srgbClr val="D8DEE9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x;
  x = </a:t>
            </a:r>
            <a:r>
              <a:rPr lang="en-US" altLang="ko-KR" sz="1556">
                <a:solidFill>
                  <a:srgbClr val="EBCB8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1</a:t>
            </a:r>
            <a:r>
              <a:rPr lang="en-US" altLang="ko-KR" sz="1556">
                <a:solidFill>
                  <a:srgbClr val="D8DEE9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;
  </a:t>
            </a:r>
            <a:r>
              <a:rPr lang="en-US" altLang="ko-KR" sz="1556">
                <a:solidFill>
                  <a:srgbClr val="88C0D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556">
                <a:solidFill>
                  <a:srgbClr val="D8DEE9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x;
}</a:t>
            </a:r>
            <a:endParaRPr lang="ko-KR" altLang="en-US" sz="1556">
              <a:solidFill>
                <a:srgbClr val="D8DEE9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5630338C-F1AF-42D3-A2D4-AA714159F6B2}"/>
              </a:ext>
            </a:extLst>
          </p:cNvPr>
          <p:cNvSpPr txBox="1">
            <a:spLocks/>
          </p:cNvSpPr>
          <p:nvPr/>
        </p:nvSpPr>
        <p:spPr>
          <a:xfrm>
            <a:off x="934034" y="16470863"/>
            <a:ext cx="4742021" cy="11148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556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EConst, LVar </a:t>
            </a:r>
            <a:r>
              <a:rPr lang="ko-KR" altLang="en-US" sz="1556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같은 가장 작은 조각에서 시작해 뿌리까지 올라간다</a:t>
            </a:r>
            <a:r>
              <a:rPr lang="en-US" altLang="ko-KR" sz="1556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556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그림의 위에서 아래가 합성 순서다</a:t>
            </a:r>
            <a:r>
              <a:rPr lang="en-US" altLang="ko-KR" sz="1556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556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프로그램은 뿌리의 결론으로 따라 나온다</a:t>
            </a:r>
            <a:r>
              <a:rPr lang="en-US" altLang="ko-KR" sz="1556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556">
              <a:solidFill>
                <a:srgbClr val="3E4A57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38B48411-F669-9431-022E-8C2086E7AAD5}"/>
              </a:ext>
            </a:extLst>
          </p:cNvPr>
          <p:cNvCxnSpPr>
            <a:cxnSpLocks/>
          </p:cNvCxnSpPr>
          <p:nvPr/>
        </p:nvCxnSpPr>
        <p:spPr>
          <a:xfrm>
            <a:off x="6286770" y="14385034"/>
            <a:ext cx="1580674" cy="0"/>
          </a:xfrm>
          <a:prstGeom prst="line">
            <a:avLst/>
          </a:prstGeom>
          <a:ln w="17962">
            <a:solidFill>
              <a:srgbClr val="C3C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6AD2BC1C-6531-C563-F7C3-7827D30D6AB2}"/>
              </a:ext>
            </a:extLst>
          </p:cNvPr>
          <p:cNvCxnSpPr>
            <a:cxnSpLocks/>
          </p:cNvCxnSpPr>
          <p:nvPr/>
        </p:nvCxnSpPr>
        <p:spPr>
          <a:xfrm>
            <a:off x="8047066" y="14385034"/>
            <a:ext cx="1580674" cy="0"/>
          </a:xfrm>
          <a:prstGeom prst="line">
            <a:avLst/>
          </a:prstGeom>
          <a:ln w="17962">
            <a:solidFill>
              <a:srgbClr val="C3C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2A6DC6C0-A7B4-7845-3C9E-09EC842FFD75}"/>
              </a:ext>
            </a:extLst>
          </p:cNvPr>
          <p:cNvCxnSpPr>
            <a:cxnSpLocks/>
          </p:cNvCxnSpPr>
          <p:nvPr/>
        </p:nvCxnSpPr>
        <p:spPr>
          <a:xfrm>
            <a:off x="11244338" y="14385034"/>
            <a:ext cx="1580674" cy="0"/>
          </a:xfrm>
          <a:prstGeom prst="line">
            <a:avLst/>
          </a:prstGeom>
          <a:ln w="17962">
            <a:solidFill>
              <a:srgbClr val="C3C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9" name="TextBox 278">
            <a:extLst>
              <a:ext uri="{FF2B5EF4-FFF2-40B4-BE49-F238E27FC236}">
                <a16:creationId xmlns:a16="http://schemas.microsoft.com/office/drawing/2014/main" id="{3B2C4873-405C-807C-7913-87CB4456D760}"/>
              </a:ext>
            </a:extLst>
          </p:cNvPr>
          <p:cNvSpPr txBox="1">
            <a:spLocks/>
          </p:cNvSpPr>
          <p:nvPr/>
        </p:nvSpPr>
        <p:spPr>
          <a:xfrm>
            <a:off x="6286770" y="14456958"/>
            <a:ext cx="1580674" cy="28770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414">
                <a:solidFill>
                  <a:srgbClr val="3E4A57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[LVar] x =&gt; s0+0</a:t>
            </a:r>
            <a:endParaRPr lang="ko-KR" altLang="en-US" sz="1414">
              <a:solidFill>
                <a:srgbClr val="3E4A57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01150310-DDE4-82B9-751F-BDADAEE14EDB}"/>
              </a:ext>
            </a:extLst>
          </p:cNvPr>
          <p:cNvSpPr txBox="1">
            <a:spLocks/>
          </p:cNvSpPr>
          <p:nvPr/>
        </p:nvSpPr>
        <p:spPr>
          <a:xfrm>
            <a:off x="8047066" y="14456958"/>
            <a:ext cx="1580674" cy="28770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414">
                <a:solidFill>
                  <a:srgbClr val="3E4A57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[EConst] 1 =&gt; 1</a:t>
            </a:r>
            <a:endParaRPr lang="ko-KR" altLang="en-US" sz="1414">
              <a:solidFill>
                <a:srgbClr val="3E4A57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FC176908-305F-79E7-ECE7-A43EE2522240}"/>
              </a:ext>
            </a:extLst>
          </p:cNvPr>
          <p:cNvSpPr txBox="1">
            <a:spLocks/>
          </p:cNvSpPr>
          <p:nvPr/>
        </p:nvSpPr>
        <p:spPr>
          <a:xfrm>
            <a:off x="11244338" y="14456958"/>
            <a:ext cx="1580674" cy="28770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414">
                <a:solidFill>
                  <a:srgbClr val="3E4A57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[LVar] x =&gt; s0+0</a:t>
            </a:r>
            <a:endParaRPr lang="ko-KR" altLang="en-US" sz="1414">
              <a:solidFill>
                <a:srgbClr val="3E4A57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282" name="직선 연결선 281">
            <a:extLst>
              <a:ext uri="{FF2B5EF4-FFF2-40B4-BE49-F238E27FC236}">
                <a16:creationId xmlns:a16="http://schemas.microsoft.com/office/drawing/2014/main" id="{46ABA2FA-7BE6-A3C1-63C9-7BAFF64B598B}"/>
              </a:ext>
            </a:extLst>
          </p:cNvPr>
          <p:cNvCxnSpPr>
            <a:cxnSpLocks/>
          </p:cNvCxnSpPr>
          <p:nvPr/>
        </p:nvCxnSpPr>
        <p:spPr>
          <a:xfrm>
            <a:off x="6268808" y="14834566"/>
            <a:ext cx="3340969" cy="0"/>
          </a:xfrm>
          <a:prstGeom prst="line">
            <a:avLst/>
          </a:prstGeom>
          <a:ln w="17962">
            <a:solidFill>
              <a:srgbClr val="C3C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TextBox 282">
            <a:extLst>
              <a:ext uri="{FF2B5EF4-FFF2-40B4-BE49-F238E27FC236}">
                <a16:creationId xmlns:a16="http://schemas.microsoft.com/office/drawing/2014/main" id="{C5B7FC7C-0708-2B27-5627-D2EF4A79C0BE}"/>
              </a:ext>
            </a:extLst>
          </p:cNvPr>
          <p:cNvSpPr txBox="1">
            <a:spLocks/>
          </p:cNvSpPr>
          <p:nvPr/>
        </p:nvSpPr>
        <p:spPr>
          <a:xfrm>
            <a:off x="5729942" y="14870528"/>
            <a:ext cx="4418701" cy="3056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fi-FI" altLang="ko-KR" sz="1414">
                <a:solidFill>
                  <a:srgbClr val="1A222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[ISet] x = 1; =&gt; {x |-&gt; 1}</a:t>
            </a:r>
            <a:endParaRPr lang="ko-KR" altLang="en-US" sz="1414">
              <a:solidFill>
                <a:srgbClr val="1A222B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284" name="직선 연결선 283">
            <a:extLst>
              <a:ext uri="{FF2B5EF4-FFF2-40B4-BE49-F238E27FC236}">
                <a16:creationId xmlns:a16="http://schemas.microsoft.com/office/drawing/2014/main" id="{80B3586D-4383-5F4D-692F-B305988B166E}"/>
              </a:ext>
            </a:extLst>
          </p:cNvPr>
          <p:cNvCxnSpPr>
            <a:cxnSpLocks/>
          </p:cNvCxnSpPr>
          <p:nvPr/>
        </p:nvCxnSpPr>
        <p:spPr>
          <a:xfrm>
            <a:off x="10274379" y="14834566"/>
            <a:ext cx="3592440" cy="0"/>
          </a:xfrm>
          <a:prstGeom prst="line">
            <a:avLst/>
          </a:prstGeom>
          <a:ln w="17962">
            <a:solidFill>
              <a:srgbClr val="C3C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5" name="TextBox 284">
            <a:extLst>
              <a:ext uri="{FF2B5EF4-FFF2-40B4-BE49-F238E27FC236}">
                <a16:creationId xmlns:a16="http://schemas.microsoft.com/office/drawing/2014/main" id="{8D79B73C-6C12-C23A-59FA-D6C8A3327D17}"/>
              </a:ext>
            </a:extLst>
          </p:cNvPr>
          <p:cNvSpPr txBox="1">
            <a:spLocks/>
          </p:cNvSpPr>
          <p:nvPr/>
        </p:nvSpPr>
        <p:spPr>
          <a:xfrm>
            <a:off x="9735513" y="14870528"/>
            <a:ext cx="4670172" cy="3056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414">
                <a:solidFill>
                  <a:srgbClr val="1A222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[ELval] x =&gt; 1</a:t>
            </a:r>
            <a:endParaRPr lang="ko-KR" altLang="en-US" sz="1414">
              <a:solidFill>
                <a:srgbClr val="1A222B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286" name="직선 연결선 285">
            <a:extLst>
              <a:ext uri="{FF2B5EF4-FFF2-40B4-BE49-F238E27FC236}">
                <a16:creationId xmlns:a16="http://schemas.microsoft.com/office/drawing/2014/main" id="{7163763E-047F-84DE-40ED-65E2160307DC}"/>
              </a:ext>
            </a:extLst>
          </p:cNvPr>
          <p:cNvCxnSpPr>
            <a:cxnSpLocks/>
          </p:cNvCxnSpPr>
          <p:nvPr/>
        </p:nvCxnSpPr>
        <p:spPr>
          <a:xfrm>
            <a:off x="6268808" y="15212172"/>
            <a:ext cx="3340969" cy="0"/>
          </a:xfrm>
          <a:prstGeom prst="line">
            <a:avLst/>
          </a:prstGeom>
          <a:ln w="17962">
            <a:solidFill>
              <a:srgbClr val="C3C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7" name="TextBox 286">
            <a:extLst>
              <a:ext uri="{FF2B5EF4-FFF2-40B4-BE49-F238E27FC236}">
                <a16:creationId xmlns:a16="http://schemas.microsoft.com/office/drawing/2014/main" id="{83E9C89E-1588-8AEB-8E33-2F5B68D6B9FC}"/>
              </a:ext>
            </a:extLst>
          </p:cNvPr>
          <p:cNvSpPr txBox="1">
            <a:spLocks/>
          </p:cNvSpPr>
          <p:nvPr/>
        </p:nvSpPr>
        <p:spPr>
          <a:xfrm>
            <a:off x="5729942" y="15248136"/>
            <a:ext cx="4418701" cy="3056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414">
                <a:solidFill>
                  <a:srgbClr val="1A222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[SInstr] instr[1] =&gt; Normal</a:t>
            </a:r>
            <a:endParaRPr lang="ko-KR" altLang="en-US" sz="1414">
              <a:solidFill>
                <a:srgbClr val="1A222B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288" name="직선 연결선 287">
            <a:extLst>
              <a:ext uri="{FF2B5EF4-FFF2-40B4-BE49-F238E27FC236}">
                <a16:creationId xmlns:a16="http://schemas.microsoft.com/office/drawing/2014/main" id="{0A6D866F-AD4F-AA8B-6300-57CCB879A748}"/>
              </a:ext>
            </a:extLst>
          </p:cNvPr>
          <p:cNvCxnSpPr>
            <a:cxnSpLocks/>
          </p:cNvCxnSpPr>
          <p:nvPr/>
        </p:nvCxnSpPr>
        <p:spPr>
          <a:xfrm>
            <a:off x="10274379" y="15212172"/>
            <a:ext cx="3592440" cy="0"/>
          </a:xfrm>
          <a:prstGeom prst="line">
            <a:avLst/>
          </a:prstGeom>
          <a:ln w="17962">
            <a:solidFill>
              <a:srgbClr val="C3C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9" name="TextBox 288">
            <a:extLst>
              <a:ext uri="{FF2B5EF4-FFF2-40B4-BE49-F238E27FC236}">
                <a16:creationId xmlns:a16="http://schemas.microsoft.com/office/drawing/2014/main" id="{839E80B6-0AE6-D80A-D8C0-06BEBCB775E3}"/>
              </a:ext>
            </a:extLst>
          </p:cNvPr>
          <p:cNvSpPr txBox="1">
            <a:spLocks/>
          </p:cNvSpPr>
          <p:nvPr/>
        </p:nvSpPr>
        <p:spPr>
          <a:xfrm>
            <a:off x="9735513" y="15248136"/>
            <a:ext cx="4670172" cy="3056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414">
                <a:solidFill>
                  <a:srgbClr val="1A222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[SReturnSome] return x; =&gt; Return(1)</a:t>
            </a:r>
            <a:endParaRPr lang="ko-KR" altLang="en-US" sz="1414">
              <a:solidFill>
                <a:srgbClr val="1A222B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290" name="직선 연결선 289">
            <a:extLst>
              <a:ext uri="{FF2B5EF4-FFF2-40B4-BE49-F238E27FC236}">
                <a16:creationId xmlns:a16="http://schemas.microsoft.com/office/drawing/2014/main" id="{C5C41D07-0060-6917-A513-54EC0E9337D0}"/>
              </a:ext>
            </a:extLst>
          </p:cNvPr>
          <p:cNvCxnSpPr>
            <a:cxnSpLocks/>
          </p:cNvCxnSpPr>
          <p:nvPr/>
        </p:nvCxnSpPr>
        <p:spPr>
          <a:xfrm>
            <a:off x="6286770" y="15589780"/>
            <a:ext cx="7723746" cy="0"/>
          </a:xfrm>
          <a:prstGeom prst="line">
            <a:avLst/>
          </a:prstGeom>
          <a:ln w="17962">
            <a:solidFill>
              <a:srgbClr val="C3C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1" name="TextBox 290">
            <a:extLst>
              <a:ext uri="{FF2B5EF4-FFF2-40B4-BE49-F238E27FC236}">
                <a16:creationId xmlns:a16="http://schemas.microsoft.com/office/drawing/2014/main" id="{AC8326E4-D755-730B-0A05-B14B3A6C3A30}"/>
              </a:ext>
            </a:extLst>
          </p:cNvPr>
          <p:cNvSpPr txBox="1">
            <a:spLocks/>
          </p:cNvSpPr>
          <p:nvPr/>
        </p:nvSpPr>
        <p:spPr>
          <a:xfrm>
            <a:off x="5747904" y="15625742"/>
            <a:ext cx="8801478" cy="3056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414">
                <a:solidFill>
                  <a:srgbClr val="1A222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[BSeq] block[2] =&gt; Return(1)</a:t>
            </a:r>
            <a:endParaRPr lang="ko-KR" altLang="en-US" sz="1414">
              <a:solidFill>
                <a:srgbClr val="1A222B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292" name="직선 연결선 291">
            <a:extLst>
              <a:ext uri="{FF2B5EF4-FFF2-40B4-BE49-F238E27FC236}">
                <a16:creationId xmlns:a16="http://schemas.microsoft.com/office/drawing/2014/main" id="{1611A9EE-450C-74A2-1520-D8F1C107A724}"/>
              </a:ext>
            </a:extLst>
          </p:cNvPr>
          <p:cNvCxnSpPr>
            <a:cxnSpLocks/>
          </p:cNvCxnSpPr>
          <p:nvPr/>
        </p:nvCxnSpPr>
        <p:spPr>
          <a:xfrm>
            <a:off x="6286770" y="15967387"/>
            <a:ext cx="7723746" cy="0"/>
          </a:xfrm>
          <a:prstGeom prst="line">
            <a:avLst/>
          </a:prstGeom>
          <a:ln w="17962">
            <a:solidFill>
              <a:srgbClr val="C3C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3" name="TextBox 292">
            <a:extLst>
              <a:ext uri="{FF2B5EF4-FFF2-40B4-BE49-F238E27FC236}">
                <a16:creationId xmlns:a16="http://schemas.microsoft.com/office/drawing/2014/main" id="{DA02B4E7-3DEB-CC96-E9ED-DE6FA7C60259}"/>
              </a:ext>
            </a:extLst>
          </p:cNvPr>
          <p:cNvSpPr txBox="1">
            <a:spLocks/>
          </p:cNvSpPr>
          <p:nvPr/>
        </p:nvSpPr>
        <p:spPr>
          <a:xfrm>
            <a:off x="5747904" y="16003350"/>
            <a:ext cx="8801478" cy="3056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414">
                <a:solidFill>
                  <a:srgbClr val="1A222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[FReturn] main() =&gt; Return(1)</a:t>
            </a:r>
            <a:endParaRPr lang="ko-KR" altLang="en-US" sz="1414">
              <a:solidFill>
                <a:srgbClr val="1A222B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294" name="직선 연결선 293">
            <a:extLst>
              <a:ext uri="{FF2B5EF4-FFF2-40B4-BE49-F238E27FC236}">
                <a16:creationId xmlns:a16="http://schemas.microsoft.com/office/drawing/2014/main" id="{A03C8954-54CD-7BEC-D302-B21B31B40D84}"/>
              </a:ext>
            </a:extLst>
          </p:cNvPr>
          <p:cNvCxnSpPr>
            <a:cxnSpLocks/>
          </p:cNvCxnSpPr>
          <p:nvPr/>
        </p:nvCxnSpPr>
        <p:spPr>
          <a:xfrm>
            <a:off x="6286770" y="16344995"/>
            <a:ext cx="7723746" cy="0"/>
          </a:xfrm>
          <a:prstGeom prst="line">
            <a:avLst/>
          </a:prstGeom>
          <a:ln w="35924">
            <a:solidFill>
              <a:srgbClr val="0039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5" name="TextBox 294">
            <a:extLst>
              <a:ext uri="{FF2B5EF4-FFF2-40B4-BE49-F238E27FC236}">
                <a16:creationId xmlns:a16="http://schemas.microsoft.com/office/drawing/2014/main" id="{A96E2548-E4BA-2A0A-A21A-C1DC86C67866}"/>
              </a:ext>
            </a:extLst>
          </p:cNvPr>
          <p:cNvSpPr txBox="1">
            <a:spLocks/>
          </p:cNvSpPr>
          <p:nvPr/>
        </p:nvSpPr>
        <p:spPr>
          <a:xfrm>
            <a:off x="5747904" y="16380957"/>
            <a:ext cx="8801478" cy="3056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556">
                <a:solidFill>
                  <a:srgbClr val="00397F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[PMainReturn] main() =&gt; 1</a:t>
            </a:r>
            <a:endParaRPr lang="ko-KR" altLang="en-US" sz="1556">
              <a:solidFill>
                <a:srgbClr val="00397F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296" name="직선 연결선 295">
            <a:extLst>
              <a:ext uri="{FF2B5EF4-FFF2-40B4-BE49-F238E27FC236}">
                <a16:creationId xmlns:a16="http://schemas.microsoft.com/office/drawing/2014/main" id="{46E3CA2D-1497-1EDD-AEF8-6A3F045EAB92}"/>
              </a:ext>
            </a:extLst>
          </p:cNvPr>
          <p:cNvCxnSpPr>
            <a:cxnSpLocks/>
          </p:cNvCxnSpPr>
          <p:nvPr/>
        </p:nvCxnSpPr>
        <p:spPr>
          <a:xfrm>
            <a:off x="6286770" y="16722601"/>
            <a:ext cx="7723746" cy="0"/>
          </a:xfrm>
          <a:prstGeom prst="line">
            <a:avLst/>
          </a:prstGeom>
          <a:ln w="35924">
            <a:solidFill>
              <a:srgbClr val="0039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7" name="TextBox 296">
            <a:extLst>
              <a:ext uri="{FF2B5EF4-FFF2-40B4-BE49-F238E27FC236}">
                <a16:creationId xmlns:a16="http://schemas.microsoft.com/office/drawing/2014/main" id="{B5E41EB7-D399-EF34-36DF-B5DFC4C4E04D}"/>
              </a:ext>
            </a:extLst>
          </p:cNvPr>
          <p:cNvSpPr txBox="1">
            <a:spLocks/>
          </p:cNvSpPr>
          <p:nvPr/>
        </p:nvSpPr>
        <p:spPr>
          <a:xfrm>
            <a:off x="6286770" y="16830489"/>
            <a:ext cx="7723746" cy="28770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344">
                <a:solidFill>
                  <a:srgbClr val="7C8A99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proof_size(t) = 1 + sum of premise sizes</a:t>
            </a:r>
            <a:endParaRPr lang="ko-KR" altLang="en-US" sz="1344">
              <a:solidFill>
                <a:srgbClr val="7C8A99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298" name="사각형: 둥근 모서리 297">
            <a:extLst>
              <a:ext uri="{FF2B5EF4-FFF2-40B4-BE49-F238E27FC236}">
                <a16:creationId xmlns:a16="http://schemas.microsoft.com/office/drawing/2014/main" id="{4EFC1D2B-07E1-10E7-6F48-5F76B677D3CA}"/>
              </a:ext>
            </a:extLst>
          </p:cNvPr>
          <p:cNvSpPr>
            <a:spLocks/>
          </p:cNvSpPr>
          <p:nvPr/>
        </p:nvSpPr>
        <p:spPr>
          <a:xfrm>
            <a:off x="14585307" y="14385034"/>
            <a:ext cx="5855677" cy="1366578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7962">
            <a:solidFill>
              <a:srgbClr val="C3CF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9" name="직사각형 298">
            <a:extLst>
              <a:ext uri="{FF2B5EF4-FFF2-40B4-BE49-F238E27FC236}">
                <a16:creationId xmlns:a16="http://schemas.microsoft.com/office/drawing/2014/main" id="{34C21410-B0CC-57AB-7FFB-25566E040B60}"/>
              </a:ext>
            </a:extLst>
          </p:cNvPr>
          <p:cNvSpPr>
            <a:spLocks/>
          </p:cNvSpPr>
          <p:nvPr/>
        </p:nvSpPr>
        <p:spPr>
          <a:xfrm>
            <a:off x="14585307" y="14600810"/>
            <a:ext cx="71849" cy="935027"/>
          </a:xfrm>
          <a:prstGeom prst="rect">
            <a:avLst/>
          </a:prstGeom>
          <a:solidFill>
            <a:srgbClr val="3A72B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90943B6D-D5AA-703F-E288-004A815BC985}"/>
              </a:ext>
            </a:extLst>
          </p:cNvPr>
          <p:cNvSpPr txBox="1">
            <a:spLocks/>
          </p:cNvSpPr>
          <p:nvPr/>
        </p:nvSpPr>
        <p:spPr>
          <a:xfrm>
            <a:off x="14944551" y="14528884"/>
            <a:ext cx="5209038" cy="32366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697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크기 순서대로 </a:t>
            </a:r>
            <a:r>
              <a:rPr lang="en-US" altLang="ko-KR" sz="1697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pool</a:t>
            </a:r>
            <a:r>
              <a:rPr lang="ko-KR" altLang="en-US" sz="1697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에 쌓는다</a:t>
            </a: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2D4ABA30-376B-1BB6-C248-5D5DA3C40403}"/>
              </a:ext>
            </a:extLst>
          </p:cNvPr>
          <p:cNvSpPr txBox="1">
            <a:spLocks/>
          </p:cNvSpPr>
          <p:nvPr/>
        </p:nvSpPr>
        <p:spPr>
          <a:xfrm>
            <a:off x="14944551" y="14888510"/>
            <a:ext cx="5209038" cy="75521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규칙마다 이미 만들어 둔 더 작은 조각만 꺼내 쓴다</a:t>
            </a:r>
            <a:r>
              <a:rPr lang="en-US" altLang="ko-KR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호출된 함수의 증명도 언제나 진부분나무이므로 재귀</a:t>
            </a:r>
            <a:r>
              <a:rPr lang="en-US" altLang="ko-KR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·</a:t>
            </a:r>
            <a:r>
              <a:rPr lang="ko-KR" altLang="en-US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상호재귀가 잘 정의된다</a:t>
            </a:r>
            <a:r>
              <a:rPr lang="en-US" altLang="ko-KR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485">
              <a:solidFill>
                <a:srgbClr val="3E4A57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02" name="사각형: 둥근 모서리 301">
            <a:extLst>
              <a:ext uri="{FF2B5EF4-FFF2-40B4-BE49-F238E27FC236}">
                <a16:creationId xmlns:a16="http://schemas.microsoft.com/office/drawing/2014/main" id="{2B53598F-ACC7-DE47-5DEA-1F665DA601B9}"/>
              </a:ext>
            </a:extLst>
          </p:cNvPr>
          <p:cNvSpPr>
            <a:spLocks/>
          </p:cNvSpPr>
          <p:nvPr/>
        </p:nvSpPr>
        <p:spPr>
          <a:xfrm>
            <a:off x="14585307" y="15967387"/>
            <a:ext cx="5855677" cy="1510429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7962">
            <a:solidFill>
              <a:srgbClr val="C3CF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3" name="직사각형 302">
            <a:extLst>
              <a:ext uri="{FF2B5EF4-FFF2-40B4-BE49-F238E27FC236}">
                <a16:creationId xmlns:a16="http://schemas.microsoft.com/office/drawing/2014/main" id="{07E82D7F-2AF2-DEE9-574F-718E013B7239}"/>
              </a:ext>
            </a:extLst>
          </p:cNvPr>
          <p:cNvSpPr>
            <a:spLocks/>
          </p:cNvSpPr>
          <p:nvPr/>
        </p:nvSpPr>
        <p:spPr>
          <a:xfrm>
            <a:off x="14585307" y="16219125"/>
            <a:ext cx="71849" cy="1006952"/>
          </a:xfrm>
          <a:prstGeom prst="rect">
            <a:avLst/>
          </a:prstGeom>
          <a:solidFill>
            <a:srgbClr val="3A72B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F496949C-9703-2991-29D8-EF6A5FBCE687}"/>
              </a:ext>
            </a:extLst>
          </p:cNvPr>
          <p:cNvSpPr txBox="1">
            <a:spLocks/>
          </p:cNvSpPr>
          <p:nvPr/>
        </p:nvSpPr>
        <p:spPr>
          <a:xfrm>
            <a:off x="14944551" y="16111237"/>
            <a:ext cx="5209038" cy="32366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697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메모리가 항상 따라 붙는다</a:t>
            </a: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58800739-8C19-3F8B-4435-D539D9E72A59}"/>
              </a:ext>
            </a:extLst>
          </p:cNvPr>
          <p:cNvSpPr txBox="1">
            <a:spLocks/>
          </p:cNvSpPr>
          <p:nvPr/>
        </p:nvSpPr>
        <p:spPr>
          <a:xfrm>
            <a:off x="14944551" y="16470863"/>
            <a:ext cx="5209038" cy="8990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완전한 프로그램은 스스로 메모리를 정하지만</a:t>
            </a:r>
            <a:r>
              <a:rPr lang="en-US" altLang="ko-KR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조각은 앞뒤 메모리의 관계만 안다</a:t>
            </a:r>
            <a:r>
              <a:rPr lang="en-US" altLang="ko-KR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메모리를 나중으로 미루면 정지 문제에 빠지므로</a:t>
            </a:r>
            <a:r>
              <a:rPr lang="en-US" altLang="ko-KR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조각을 만들 때 전후 메모리를 확정한다</a:t>
            </a:r>
            <a:r>
              <a:rPr lang="en-US" altLang="ko-KR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485">
              <a:solidFill>
                <a:srgbClr val="3E4A57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6A4713B3-5943-8841-93E4-D14CE3DBE81D}"/>
              </a:ext>
            </a:extLst>
          </p:cNvPr>
          <p:cNvSpPr txBox="1">
            <a:spLocks/>
          </p:cNvSpPr>
          <p:nvPr/>
        </p:nvSpPr>
        <p:spPr>
          <a:xfrm>
            <a:off x="934034" y="17837441"/>
            <a:ext cx="790337" cy="61136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3536" b="1">
                <a:solidFill>
                  <a:srgbClr val="3A72B8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05</a:t>
            </a:r>
            <a:endParaRPr lang="ko-KR" altLang="en-US" sz="3536" b="1">
              <a:solidFill>
                <a:srgbClr val="3A72B8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15137198-E579-2580-36A7-BAD5FD0EF2F9}"/>
              </a:ext>
            </a:extLst>
          </p:cNvPr>
          <p:cNvSpPr txBox="1">
            <a:spLocks/>
          </p:cNvSpPr>
          <p:nvPr/>
        </p:nvSpPr>
        <p:spPr>
          <a:xfrm>
            <a:off x="1796220" y="17837441"/>
            <a:ext cx="5316812" cy="61136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3536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실행 안 된 자리는 </a:t>
            </a:r>
            <a:r>
              <a:rPr lang="en-US" altLang="ko-KR" sz="3536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hole</a:t>
            </a:r>
            <a:r>
              <a:rPr lang="ko-KR" altLang="en-US" sz="3536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로</a:t>
            </a:r>
          </a:p>
        </p:txBody>
      </p:sp>
      <p:sp>
        <p:nvSpPr>
          <p:cNvPr id="308" name="사각형: 둥근 모서리 307">
            <a:extLst>
              <a:ext uri="{FF2B5EF4-FFF2-40B4-BE49-F238E27FC236}">
                <a16:creationId xmlns:a16="http://schemas.microsoft.com/office/drawing/2014/main" id="{9B821855-38AB-59C1-6666-FEDDC77B85AF}"/>
              </a:ext>
            </a:extLst>
          </p:cNvPr>
          <p:cNvSpPr>
            <a:spLocks/>
          </p:cNvSpPr>
          <p:nvPr/>
        </p:nvSpPr>
        <p:spPr>
          <a:xfrm>
            <a:off x="934034" y="18736506"/>
            <a:ext cx="4131306" cy="1798129"/>
          </a:xfrm>
          <a:prstGeom prst="roundRect">
            <a:avLst>
              <a:gd name="adj" fmla="val 7000"/>
            </a:avLst>
          </a:prstGeom>
          <a:solidFill>
            <a:srgbClr val="2E34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2023D0D0-34D8-2919-A2DD-CEF0BA817E0B}"/>
              </a:ext>
            </a:extLst>
          </p:cNvPr>
          <p:cNvSpPr txBox="1">
            <a:spLocks/>
          </p:cNvSpPr>
          <p:nvPr/>
        </p:nvSpPr>
        <p:spPr>
          <a:xfrm>
            <a:off x="1293278" y="18952282"/>
            <a:ext cx="3412818" cy="136657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ko-KR" sz="1556">
                <a:solidFill>
                  <a:srgbClr val="88C0D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556">
                <a:solidFill>
                  <a:srgbClr val="D8DEE9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(x || ?H1) {
  </a:t>
            </a:r>
            <a:r>
              <a:rPr lang="en-US" altLang="ko-KR" sz="1556">
                <a:solidFill>
                  <a:srgbClr val="88C0D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556">
                <a:solidFill>
                  <a:srgbClr val="D8DEE9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556">
                <a:solidFill>
                  <a:srgbClr val="EBCB8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0</a:t>
            </a:r>
            <a:r>
              <a:rPr lang="en-US" altLang="ko-KR" sz="1556">
                <a:solidFill>
                  <a:srgbClr val="D8DEE9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;
} </a:t>
            </a:r>
            <a:r>
              <a:rPr lang="en-US" altLang="ko-KR" sz="1556">
                <a:solidFill>
                  <a:srgbClr val="88C0D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else</a:t>
            </a:r>
            <a:r>
              <a:rPr lang="en-US" altLang="ko-KR" sz="1556">
                <a:solidFill>
                  <a:srgbClr val="D8DEE9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{
  ?H2
}</a:t>
            </a:r>
            <a:endParaRPr lang="ko-KR" altLang="en-US" sz="1556">
              <a:solidFill>
                <a:srgbClr val="D8DEE9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310" name="사각형: 둥근 모서리 309">
            <a:extLst>
              <a:ext uri="{FF2B5EF4-FFF2-40B4-BE49-F238E27FC236}">
                <a16:creationId xmlns:a16="http://schemas.microsoft.com/office/drawing/2014/main" id="{8CAD7415-E566-D3BF-ECA2-0FAB5210760B}"/>
              </a:ext>
            </a:extLst>
          </p:cNvPr>
          <p:cNvSpPr>
            <a:spLocks/>
          </p:cNvSpPr>
          <p:nvPr/>
        </p:nvSpPr>
        <p:spPr>
          <a:xfrm>
            <a:off x="934034" y="20642523"/>
            <a:ext cx="790337" cy="395588"/>
          </a:xfrm>
          <a:prstGeom prst="roundRect">
            <a:avLst>
              <a:gd name="adj" fmla="val 27273"/>
            </a:avLst>
          </a:prstGeom>
          <a:solidFill>
            <a:srgbClr val="00397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4AE309E6-DBDA-42DE-CCB8-DE2575DBC72D}"/>
              </a:ext>
            </a:extLst>
          </p:cNvPr>
          <p:cNvSpPr txBox="1">
            <a:spLocks/>
          </p:cNvSpPr>
          <p:nvPr/>
        </p:nvSpPr>
        <p:spPr>
          <a:xfrm>
            <a:off x="934034" y="20642523"/>
            <a:ext cx="790337" cy="3955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414" b="1">
                <a:solidFill>
                  <a:srgbClr val="FFFFFF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?H1</a:t>
            </a:r>
            <a:endParaRPr lang="ko-KR" altLang="en-US" sz="1414" b="1">
              <a:solidFill>
                <a:srgbClr val="FFFFFF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229DE234-41F6-4CDA-90A3-76DE8B609779}"/>
              </a:ext>
            </a:extLst>
          </p:cNvPr>
          <p:cNvSpPr txBox="1">
            <a:spLocks/>
          </p:cNvSpPr>
          <p:nvPr/>
        </p:nvSpPr>
        <p:spPr>
          <a:xfrm>
            <a:off x="1903993" y="20642523"/>
            <a:ext cx="5209038" cy="53943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485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short-circuit</a:t>
            </a:r>
            <a:r>
              <a:rPr lang="ko-KR" altLang="en-US" sz="1485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로 평가되지 않은 오른쪽 피연산자 </a:t>
            </a:r>
            <a:r>
              <a:rPr lang="en-US" altLang="ko-KR" sz="1485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— ExpHole</a:t>
            </a:r>
            <a:endParaRPr lang="ko-KR" altLang="en-US" sz="1485">
              <a:solidFill>
                <a:srgbClr val="1A222B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13" name="사각형: 둥근 모서리 312">
            <a:extLst>
              <a:ext uri="{FF2B5EF4-FFF2-40B4-BE49-F238E27FC236}">
                <a16:creationId xmlns:a16="http://schemas.microsoft.com/office/drawing/2014/main" id="{4644B75B-00C4-0795-E562-206A698CDAF3}"/>
              </a:ext>
            </a:extLst>
          </p:cNvPr>
          <p:cNvSpPr>
            <a:spLocks/>
          </p:cNvSpPr>
          <p:nvPr/>
        </p:nvSpPr>
        <p:spPr>
          <a:xfrm>
            <a:off x="934034" y="21253887"/>
            <a:ext cx="790337" cy="395588"/>
          </a:xfrm>
          <a:prstGeom prst="roundRect">
            <a:avLst>
              <a:gd name="adj" fmla="val 27273"/>
            </a:avLst>
          </a:prstGeom>
          <a:solidFill>
            <a:srgbClr val="3A72B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FC99A7BA-B255-A50F-02C9-85E389CA157B}"/>
              </a:ext>
            </a:extLst>
          </p:cNvPr>
          <p:cNvSpPr txBox="1">
            <a:spLocks/>
          </p:cNvSpPr>
          <p:nvPr/>
        </p:nvSpPr>
        <p:spPr>
          <a:xfrm>
            <a:off x="934034" y="21253887"/>
            <a:ext cx="790337" cy="3955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414" b="1">
                <a:solidFill>
                  <a:srgbClr val="FFFFFF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?H2</a:t>
            </a:r>
            <a:endParaRPr lang="ko-KR" altLang="en-US" sz="1414" b="1">
              <a:solidFill>
                <a:srgbClr val="FFFFFF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0B8E2B2E-AA05-B793-7669-CCCCAAFBEC12}"/>
              </a:ext>
            </a:extLst>
          </p:cNvPr>
          <p:cNvSpPr txBox="1">
            <a:spLocks/>
          </p:cNvSpPr>
          <p:nvPr/>
        </p:nvSpPr>
        <p:spPr>
          <a:xfrm>
            <a:off x="1903993" y="21253887"/>
            <a:ext cx="5209038" cy="75521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485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선택되지 않은 </a:t>
            </a:r>
            <a:r>
              <a:rPr lang="en-US" altLang="ko-KR" sz="1485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branch, </a:t>
            </a:r>
            <a:r>
              <a:rPr lang="ko-KR" altLang="en-US" sz="1485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또는 </a:t>
            </a:r>
            <a:r>
              <a:rPr lang="en-US" altLang="ko-KR" sz="1485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return · break · continue </a:t>
            </a:r>
            <a:r>
              <a:rPr lang="ko-KR" altLang="en-US" sz="1485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뒤에 잘린 </a:t>
            </a:r>
            <a:r>
              <a:rPr lang="en-US" altLang="ko-KR" sz="1485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block </a:t>
            </a:r>
            <a:r>
              <a:rPr lang="ko-KR" altLang="en-US" sz="1485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꼬리 </a:t>
            </a:r>
            <a:r>
              <a:rPr lang="en-US" altLang="ko-KR" sz="1485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— StmtSeqHole</a:t>
            </a:r>
            <a:endParaRPr lang="ko-KR" altLang="en-US" sz="1485">
              <a:solidFill>
                <a:srgbClr val="1A222B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16" name="사각형: 둥근 모서리 315">
            <a:extLst>
              <a:ext uri="{FF2B5EF4-FFF2-40B4-BE49-F238E27FC236}">
                <a16:creationId xmlns:a16="http://schemas.microsoft.com/office/drawing/2014/main" id="{A1036FAA-D3B9-BEF1-7EF3-43B3D7F92833}"/>
              </a:ext>
            </a:extLst>
          </p:cNvPr>
          <p:cNvSpPr>
            <a:spLocks/>
          </p:cNvSpPr>
          <p:nvPr/>
        </p:nvSpPr>
        <p:spPr>
          <a:xfrm>
            <a:off x="934034" y="22081026"/>
            <a:ext cx="6178997" cy="539439"/>
          </a:xfrm>
          <a:prstGeom prst="roundRect">
            <a:avLst>
              <a:gd name="adj" fmla="val 23333"/>
            </a:avLst>
          </a:prstGeom>
          <a:solidFill>
            <a:srgbClr val="00397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9F7C96D9-FD16-242C-4E41-B82478335448}"/>
              </a:ext>
            </a:extLst>
          </p:cNvPr>
          <p:cNvSpPr txBox="1">
            <a:spLocks/>
          </p:cNvSpPr>
          <p:nvPr/>
        </p:nvSpPr>
        <p:spPr>
          <a:xfrm>
            <a:off x="1221430" y="22081026"/>
            <a:ext cx="5604207" cy="53943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556" b="1">
                <a:solidFill>
                  <a:srgbClr val="FFFFF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실행된 자리에는 </a:t>
            </a:r>
            <a:r>
              <a:rPr lang="en-US" altLang="ko-KR" sz="1556" b="1">
                <a:solidFill>
                  <a:srgbClr val="FFFFF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hole</a:t>
            </a:r>
            <a:r>
              <a:rPr lang="ko-KR" altLang="en-US" sz="1556" b="1">
                <a:solidFill>
                  <a:srgbClr val="FFFFF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이 남을 수 없다</a:t>
            </a:r>
            <a:r>
              <a:rPr lang="en-US" altLang="ko-KR" sz="1556" b="1">
                <a:solidFill>
                  <a:srgbClr val="FFFFF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556" b="1">
              <a:solidFill>
                <a:srgbClr val="FFFFFF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FCA02126-99A4-AF85-A52C-F997A6A0CCC5}"/>
              </a:ext>
            </a:extLst>
          </p:cNvPr>
          <p:cNvSpPr txBox="1">
            <a:spLocks/>
          </p:cNvSpPr>
          <p:nvPr/>
        </p:nvSpPr>
        <p:spPr>
          <a:xfrm>
            <a:off x="934034" y="22764316"/>
            <a:ext cx="6178997" cy="82713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같은 정적 위치가 </a:t>
            </a:r>
            <a:r>
              <a:rPr lang="en-US" altLang="ko-KR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loop · </a:t>
            </a:r>
            <a:r>
              <a:rPr lang="ko-KR" altLang="en-US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재귀로 여러 번 실행되면 그 조각들이 서로 맞아야 한다</a:t>
            </a:r>
            <a:r>
              <a:rPr lang="en-US" altLang="ko-KR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타입 추론에서와 같은 </a:t>
            </a:r>
            <a:r>
              <a:rPr lang="en-US" altLang="ko-KR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unification</a:t>
            </a:r>
            <a:r>
              <a:rPr lang="ko-KR" altLang="en-US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으로 맞추고</a:t>
            </a:r>
            <a:r>
              <a:rPr lang="en-US" altLang="ko-KR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나무와 </a:t>
            </a:r>
            <a:r>
              <a:rPr lang="en-US" altLang="ko-KR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substitution</a:t>
            </a:r>
            <a:r>
              <a:rPr lang="ko-KR" altLang="en-US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을 따로 들고 다닌다</a:t>
            </a:r>
            <a:r>
              <a:rPr lang="en-US" altLang="ko-KR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485">
              <a:solidFill>
                <a:srgbClr val="3E4A57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9895EC3D-9112-1175-91C6-F395DD06667A}"/>
              </a:ext>
            </a:extLst>
          </p:cNvPr>
          <p:cNvSpPr txBox="1">
            <a:spLocks/>
          </p:cNvSpPr>
          <p:nvPr/>
        </p:nvSpPr>
        <p:spPr>
          <a:xfrm>
            <a:off x="7580049" y="17837441"/>
            <a:ext cx="790337" cy="61136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3536" b="1">
                <a:solidFill>
                  <a:srgbClr val="3A72B8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06</a:t>
            </a:r>
            <a:endParaRPr lang="ko-KR" altLang="en-US" sz="3536" b="1">
              <a:solidFill>
                <a:srgbClr val="3A72B8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75915BA7-2501-68E3-331B-640CB0560EE4}"/>
              </a:ext>
            </a:extLst>
          </p:cNvPr>
          <p:cNvSpPr txBox="1">
            <a:spLocks/>
          </p:cNvSpPr>
          <p:nvPr/>
        </p:nvSpPr>
        <p:spPr>
          <a:xfrm>
            <a:off x="8442234" y="17837441"/>
            <a:ext cx="11962826" cy="61136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3536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hole</a:t>
            </a:r>
            <a:r>
              <a:rPr lang="ko-KR" altLang="en-US" sz="3536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을 채워 분석기에 넣는다</a:t>
            </a:r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027557A0-95C6-4CB1-E25C-2C40373E588F}"/>
              </a:ext>
            </a:extLst>
          </p:cNvPr>
          <p:cNvSpPr txBox="1">
            <a:spLocks/>
          </p:cNvSpPr>
          <p:nvPr/>
        </p:nvSpPr>
        <p:spPr>
          <a:xfrm>
            <a:off x="7580049" y="18736506"/>
            <a:ext cx="12825011" cy="61136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626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hole </a:t>
            </a:r>
            <a:r>
              <a:rPr lang="ko-KR" altLang="en-US" sz="1626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자리는 어차피 실행되지 않았다</a:t>
            </a:r>
            <a:r>
              <a:rPr lang="en-US" altLang="ko-KR" sz="1626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626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그래서 아무 코드나 채워 넣어도 이 증명나무가 말하는 실행 의미는 바뀌지 않는다</a:t>
            </a:r>
            <a:r>
              <a:rPr lang="en-US" altLang="ko-KR" sz="1626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626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문맥이 맞을 필요도 없다</a:t>
            </a:r>
            <a:r>
              <a:rPr lang="en-US" altLang="ko-KR" sz="1626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626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새로운 실행이 생기지 않도록 함수 호출만 넣지 않는다</a:t>
            </a:r>
            <a:r>
              <a:rPr lang="en-US" altLang="ko-KR" sz="1626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626">
              <a:solidFill>
                <a:srgbClr val="1A222B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22" name="사각형: 둥근 모서리 321">
            <a:extLst>
              <a:ext uri="{FF2B5EF4-FFF2-40B4-BE49-F238E27FC236}">
                <a16:creationId xmlns:a16="http://schemas.microsoft.com/office/drawing/2014/main" id="{293F4F2E-1DEB-0CED-0329-1A2B8713027C}"/>
              </a:ext>
            </a:extLst>
          </p:cNvPr>
          <p:cNvSpPr>
            <a:spLocks/>
          </p:cNvSpPr>
          <p:nvPr/>
        </p:nvSpPr>
        <p:spPr>
          <a:xfrm>
            <a:off x="7364502" y="19419794"/>
            <a:ext cx="13292029" cy="2301605"/>
          </a:xfrm>
          <a:prstGeom prst="roundRect">
            <a:avLst>
              <a:gd name="adj" fmla="val 10938"/>
            </a:avLst>
          </a:prstGeom>
          <a:solidFill>
            <a:srgbClr val="EFF4F8"/>
          </a:solidFill>
          <a:ln w="17962">
            <a:solidFill>
              <a:srgbClr val="C3CF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3" name="사각형: 둥근 모서리 322">
            <a:extLst>
              <a:ext uri="{FF2B5EF4-FFF2-40B4-BE49-F238E27FC236}">
                <a16:creationId xmlns:a16="http://schemas.microsoft.com/office/drawing/2014/main" id="{580E5E70-7F57-F03F-3E01-3FE1FCB416FC}"/>
              </a:ext>
            </a:extLst>
          </p:cNvPr>
          <p:cNvSpPr>
            <a:spLocks/>
          </p:cNvSpPr>
          <p:nvPr/>
        </p:nvSpPr>
        <p:spPr>
          <a:xfrm>
            <a:off x="7580049" y="20085103"/>
            <a:ext cx="2730254" cy="97099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7962">
            <a:solidFill>
              <a:srgbClr val="C3CF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C793F7CB-CFAF-3F74-2097-76CC7FB770DC}"/>
              </a:ext>
            </a:extLst>
          </p:cNvPr>
          <p:cNvSpPr txBox="1">
            <a:spLocks/>
          </p:cNvSpPr>
          <p:nvPr/>
        </p:nvSpPr>
        <p:spPr>
          <a:xfrm>
            <a:off x="7687822" y="20228953"/>
            <a:ext cx="2514708" cy="32366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626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완성된 </a:t>
            </a:r>
            <a:r>
              <a:rPr lang="en-US" altLang="ko-KR" sz="1626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holed </a:t>
            </a:r>
            <a:r>
              <a:rPr lang="ko-KR" altLang="en-US" sz="1626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증명나무</a:t>
            </a: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92BE8805-0E98-CF6C-CB02-6C54B0FE6F3B}"/>
              </a:ext>
            </a:extLst>
          </p:cNvPr>
          <p:cNvSpPr txBox="1">
            <a:spLocks/>
          </p:cNvSpPr>
          <p:nvPr/>
        </p:nvSpPr>
        <p:spPr>
          <a:xfrm>
            <a:off x="7723746" y="20552617"/>
            <a:ext cx="2442859" cy="41357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344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미실행 자리는 아직 </a:t>
            </a:r>
            <a:r>
              <a:rPr lang="en-US" altLang="ko-KR" sz="1344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hole</a:t>
            </a:r>
            <a:endParaRPr lang="ko-KR" altLang="en-US" sz="1344">
              <a:solidFill>
                <a:srgbClr val="3E4A57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326" name="직선 연결선 325">
            <a:extLst>
              <a:ext uri="{FF2B5EF4-FFF2-40B4-BE49-F238E27FC236}">
                <a16:creationId xmlns:a16="http://schemas.microsoft.com/office/drawing/2014/main" id="{331226DC-9C8F-400D-43FA-580A13CFAE4A}"/>
              </a:ext>
            </a:extLst>
          </p:cNvPr>
          <p:cNvCxnSpPr>
            <a:cxnSpLocks/>
          </p:cNvCxnSpPr>
          <p:nvPr/>
        </p:nvCxnSpPr>
        <p:spPr>
          <a:xfrm>
            <a:off x="10382152" y="20570597"/>
            <a:ext cx="287395" cy="0"/>
          </a:xfrm>
          <a:prstGeom prst="line">
            <a:avLst/>
          </a:prstGeom>
          <a:ln w="25147">
            <a:solidFill>
              <a:srgbClr val="3A72B8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7" name="사각형: 둥근 모서리 326">
            <a:extLst>
              <a:ext uri="{FF2B5EF4-FFF2-40B4-BE49-F238E27FC236}">
                <a16:creationId xmlns:a16="http://schemas.microsoft.com/office/drawing/2014/main" id="{DC44F7E4-4F99-62AE-6ED2-1577B5CDA36A}"/>
              </a:ext>
            </a:extLst>
          </p:cNvPr>
          <p:cNvSpPr>
            <a:spLocks/>
          </p:cNvSpPr>
          <p:nvPr/>
        </p:nvSpPr>
        <p:spPr>
          <a:xfrm>
            <a:off x="10705471" y="20085103"/>
            <a:ext cx="2478784" cy="970990"/>
          </a:xfrm>
          <a:prstGeom prst="roundRect">
            <a:avLst>
              <a:gd name="adj" fmla="val 14815"/>
            </a:avLst>
          </a:prstGeom>
          <a:solidFill>
            <a:srgbClr val="D6DEEB"/>
          </a:solidFill>
          <a:ln w="17962">
            <a:solidFill>
              <a:srgbClr val="D6DE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A057695E-7977-B87E-4727-66ABE10828EB}"/>
              </a:ext>
            </a:extLst>
          </p:cNvPr>
          <p:cNvSpPr txBox="1">
            <a:spLocks/>
          </p:cNvSpPr>
          <p:nvPr/>
        </p:nvSpPr>
        <p:spPr>
          <a:xfrm>
            <a:off x="10813245" y="20228953"/>
            <a:ext cx="2263237" cy="32366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626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hole </a:t>
            </a:r>
            <a:r>
              <a:rPr lang="ko-KR" altLang="en-US" sz="1626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채우기</a:t>
            </a:r>
          </a:p>
        </p:txBody>
      </p:sp>
      <p:sp>
        <p:nvSpPr>
          <p:cNvPr id="329" name="TextBox 328">
            <a:extLst>
              <a:ext uri="{FF2B5EF4-FFF2-40B4-BE49-F238E27FC236}">
                <a16:creationId xmlns:a16="http://schemas.microsoft.com/office/drawing/2014/main" id="{ECB47A8B-3752-CD85-146E-1B26DEF8D46F}"/>
              </a:ext>
            </a:extLst>
          </p:cNvPr>
          <p:cNvSpPr txBox="1">
            <a:spLocks/>
          </p:cNvSpPr>
          <p:nvPr/>
        </p:nvSpPr>
        <p:spPr>
          <a:xfrm>
            <a:off x="10849170" y="20552617"/>
            <a:ext cx="2191389" cy="41357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344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아무 코드나 </a:t>
            </a:r>
            <a:r>
              <a:rPr lang="en-US" altLang="ko-KR" sz="1344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— </a:t>
            </a:r>
            <a:r>
              <a:rPr lang="ko-KR" altLang="en-US" sz="1344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호출만 제외</a:t>
            </a:r>
          </a:p>
        </p:txBody>
      </p:sp>
      <p:cxnSp>
        <p:nvCxnSpPr>
          <p:cNvPr id="330" name="직선 연결선 329">
            <a:extLst>
              <a:ext uri="{FF2B5EF4-FFF2-40B4-BE49-F238E27FC236}">
                <a16:creationId xmlns:a16="http://schemas.microsoft.com/office/drawing/2014/main" id="{0ADE4EB5-236D-1F70-BC44-ECAE478B1373}"/>
              </a:ext>
            </a:extLst>
          </p:cNvPr>
          <p:cNvCxnSpPr>
            <a:cxnSpLocks/>
          </p:cNvCxnSpPr>
          <p:nvPr/>
        </p:nvCxnSpPr>
        <p:spPr>
          <a:xfrm>
            <a:off x="13256104" y="20570597"/>
            <a:ext cx="287395" cy="0"/>
          </a:xfrm>
          <a:prstGeom prst="line">
            <a:avLst/>
          </a:prstGeom>
          <a:ln w="25147">
            <a:solidFill>
              <a:srgbClr val="3A72B8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1" name="사각형: 둥근 모서리 330">
            <a:extLst>
              <a:ext uri="{FF2B5EF4-FFF2-40B4-BE49-F238E27FC236}">
                <a16:creationId xmlns:a16="http://schemas.microsoft.com/office/drawing/2014/main" id="{B0F5F2D5-B0EA-6C8C-8DF7-8A6245D62AE4}"/>
              </a:ext>
            </a:extLst>
          </p:cNvPr>
          <p:cNvSpPr>
            <a:spLocks/>
          </p:cNvSpPr>
          <p:nvPr/>
        </p:nvSpPr>
        <p:spPr>
          <a:xfrm>
            <a:off x="13579424" y="20085103"/>
            <a:ext cx="2514708" cy="970990"/>
          </a:xfrm>
          <a:prstGeom prst="roundRect">
            <a:avLst>
              <a:gd name="adj" fmla="val 14815"/>
            </a:avLst>
          </a:prstGeom>
          <a:solidFill>
            <a:srgbClr val="00397F"/>
          </a:solidFill>
          <a:ln w="17962">
            <a:solidFill>
              <a:srgbClr val="0039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70962606-8184-64D1-CA75-9E75A671FA4E}"/>
              </a:ext>
            </a:extLst>
          </p:cNvPr>
          <p:cNvSpPr txBox="1">
            <a:spLocks/>
          </p:cNvSpPr>
          <p:nvPr/>
        </p:nvSpPr>
        <p:spPr>
          <a:xfrm>
            <a:off x="13687197" y="20228953"/>
            <a:ext cx="2299162" cy="32366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626" b="1">
                <a:solidFill>
                  <a:srgbClr val="FFFFF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구체 </a:t>
            </a:r>
            <a:r>
              <a:rPr lang="en-US" altLang="ko-KR" sz="1626" b="1">
                <a:solidFill>
                  <a:srgbClr val="FFFFF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CIL-- </a:t>
            </a:r>
            <a:r>
              <a:rPr lang="ko-KR" altLang="en-US" sz="1626" b="1">
                <a:solidFill>
                  <a:srgbClr val="FFFFF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프로그램</a:t>
            </a:r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4BDCEC09-C053-EE06-0130-4CF1D647EA2E}"/>
              </a:ext>
            </a:extLst>
          </p:cNvPr>
          <p:cNvSpPr txBox="1">
            <a:spLocks/>
          </p:cNvSpPr>
          <p:nvPr/>
        </p:nvSpPr>
        <p:spPr>
          <a:xfrm>
            <a:off x="13723122" y="20552617"/>
            <a:ext cx="2227313" cy="41357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344">
                <a:solidFill>
                  <a:srgbClr val="D6DEE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hole </a:t>
            </a:r>
            <a:r>
              <a:rPr lang="ko-KR" altLang="en-US" sz="1344">
                <a:solidFill>
                  <a:srgbClr val="D6DEE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없는 완성된 코드</a:t>
            </a:r>
          </a:p>
        </p:txBody>
      </p:sp>
      <p:cxnSp>
        <p:nvCxnSpPr>
          <p:cNvPr id="334" name="직선 연결선 333">
            <a:extLst>
              <a:ext uri="{FF2B5EF4-FFF2-40B4-BE49-F238E27FC236}">
                <a16:creationId xmlns:a16="http://schemas.microsoft.com/office/drawing/2014/main" id="{07E64547-4BA6-0A8A-64EA-BE92747486B5}"/>
              </a:ext>
            </a:extLst>
          </p:cNvPr>
          <p:cNvCxnSpPr>
            <a:cxnSpLocks/>
          </p:cNvCxnSpPr>
          <p:nvPr/>
        </p:nvCxnSpPr>
        <p:spPr>
          <a:xfrm flipV="1">
            <a:off x="16130056" y="20013178"/>
            <a:ext cx="323320" cy="431551"/>
          </a:xfrm>
          <a:prstGeom prst="line">
            <a:avLst/>
          </a:prstGeom>
          <a:ln w="25147">
            <a:solidFill>
              <a:srgbClr val="3A72B8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직선 연결선 334">
            <a:extLst>
              <a:ext uri="{FF2B5EF4-FFF2-40B4-BE49-F238E27FC236}">
                <a16:creationId xmlns:a16="http://schemas.microsoft.com/office/drawing/2014/main" id="{1BD70CEC-7F2A-EB5B-837B-172B2CFA2398}"/>
              </a:ext>
            </a:extLst>
          </p:cNvPr>
          <p:cNvCxnSpPr>
            <a:cxnSpLocks/>
          </p:cNvCxnSpPr>
          <p:nvPr/>
        </p:nvCxnSpPr>
        <p:spPr>
          <a:xfrm>
            <a:off x="16130056" y="20696467"/>
            <a:ext cx="323320" cy="431551"/>
          </a:xfrm>
          <a:prstGeom prst="line">
            <a:avLst/>
          </a:prstGeom>
          <a:ln w="25147">
            <a:solidFill>
              <a:srgbClr val="3A72B8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6" name="사각형: 둥근 모서리 335">
            <a:extLst>
              <a:ext uri="{FF2B5EF4-FFF2-40B4-BE49-F238E27FC236}">
                <a16:creationId xmlns:a16="http://schemas.microsoft.com/office/drawing/2014/main" id="{CE2AE535-5A2A-777B-860A-1E167DC3E886}"/>
              </a:ext>
            </a:extLst>
          </p:cNvPr>
          <p:cNvSpPr>
            <a:spLocks/>
          </p:cNvSpPr>
          <p:nvPr/>
        </p:nvSpPr>
        <p:spPr>
          <a:xfrm>
            <a:off x="16489300" y="19581626"/>
            <a:ext cx="2335086" cy="827139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7962">
            <a:solidFill>
              <a:srgbClr val="C3CF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7AFBFC31-A30D-9934-9DB3-A37445C1D3ED}"/>
              </a:ext>
            </a:extLst>
          </p:cNvPr>
          <p:cNvSpPr txBox="1">
            <a:spLocks/>
          </p:cNvSpPr>
          <p:nvPr/>
        </p:nvSpPr>
        <p:spPr>
          <a:xfrm>
            <a:off x="16597074" y="19725477"/>
            <a:ext cx="2119540" cy="32366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556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증명나무의 구체값</a:t>
            </a:r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AD296296-9A94-4E0C-A751-C2A46F281018}"/>
              </a:ext>
            </a:extLst>
          </p:cNvPr>
          <p:cNvSpPr txBox="1">
            <a:spLocks/>
          </p:cNvSpPr>
          <p:nvPr/>
        </p:nvSpPr>
        <p:spPr>
          <a:xfrm>
            <a:off x="16632997" y="20049141"/>
            <a:ext cx="2047691" cy="26971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344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실제 실행 의미</a:t>
            </a:r>
          </a:p>
        </p:txBody>
      </p:sp>
      <p:sp>
        <p:nvSpPr>
          <p:cNvPr id="339" name="사각형: 둥근 모서리 338">
            <a:extLst>
              <a:ext uri="{FF2B5EF4-FFF2-40B4-BE49-F238E27FC236}">
                <a16:creationId xmlns:a16="http://schemas.microsoft.com/office/drawing/2014/main" id="{6AA6FBBA-01A3-EE04-7C39-9DCE2C3BA163}"/>
              </a:ext>
            </a:extLst>
          </p:cNvPr>
          <p:cNvSpPr>
            <a:spLocks/>
          </p:cNvSpPr>
          <p:nvPr/>
        </p:nvSpPr>
        <p:spPr>
          <a:xfrm>
            <a:off x="16489300" y="20732429"/>
            <a:ext cx="2335086" cy="827139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7962">
            <a:solidFill>
              <a:srgbClr val="C3CF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7C6833B4-77A1-AA1F-EC04-EC56F64DFB96}"/>
              </a:ext>
            </a:extLst>
          </p:cNvPr>
          <p:cNvSpPr txBox="1">
            <a:spLocks/>
          </p:cNvSpPr>
          <p:nvPr/>
        </p:nvSpPr>
        <p:spPr>
          <a:xfrm>
            <a:off x="16597074" y="20876279"/>
            <a:ext cx="2119540" cy="32366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556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분석기의 분석 결과</a:t>
            </a:r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ABF1D656-EF09-8931-4B96-472D6B4C11BD}"/>
              </a:ext>
            </a:extLst>
          </p:cNvPr>
          <p:cNvSpPr txBox="1">
            <a:spLocks/>
          </p:cNvSpPr>
          <p:nvPr/>
        </p:nvSpPr>
        <p:spPr>
          <a:xfrm>
            <a:off x="16632997" y="21199943"/>
            <a:ext cx="2047691" cy="26971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344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어림잡은 값</a:t>
            </a:r>
          </a:p>
        </p:txBody>
      </p:sp>
      <p:cxnSp>
        <p:nvCxnSpPr>
          <p:cNvPr id="342" name="직선 연결선 341">
            <a:extLst>
              <a:ext uri="{FF2B5EF4-FFF2-40B4-BE49-F238E27FC236}">
                <a16:creationId xmlns:a16="http://schemas.microsoft.com/office/drawing/2014/main" id="{6277FA73-A06E-8C7F-7816-04AE0689753A}"/>
              </a:ext>
            </a:extLst>
          </p:cNvPr>
          <p:cNvCxnSpPr>
            <a:cxnSpLocks/>
          </p:cNvCxnSpPr>
          <p:nvPr/>
        </p:nvCxnSpPr>
        <p:spPr>
          <a:xfrm>
            <a:off x="18860311" y="20013178"/>
            <a:ext cx="323320" cy="431551"/>
          </a:xfrm>
          <a:prstGeom prst="line">
            <a:avLst/>
          </a:prstGeom>
          <a:ln w="25147">
            <a:solidFill>
              <a:srgbClr val="3A72B8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직선 연결선 342">
            <a:extLst>
              <a:ext uri="{FF2B5EF4-FFF2-40B4-BE49-F238E27FC236}">
                <a16:creationId xmlns:a16="http://schemas.microsoft.com/office/drawing/2014/main" id="{A4253464-EB38-FD44-8AE0-5512CB8EC43A}"/>
              </a:ext>
            </a:extLst>
          </p:cNvPr>
          <p:cNvCxnSpPr>
            <a:cxnSpLocks/>
          </p:cNvCxnSpPr>
          <p:nvPr/>
        </p:nvCxnSpPr>
        <p:spPr>
          <a:xfrm flipV="1">
            <a:off x="18860311" y="20696467"/>
            <a:ext cx="323320" cy="431551"/>
          </a:xfrm>
          <a:prstGeom prst="line">
            <a:avLst/>
          </a:prstGeom>
          <a:ln w="25147">
            <a:solidFill>
              <a:srgbClr val="3A72B8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4" name="사각형: 둥근 모서리 343">
            <a:extLst>
              <a:ext uri="{FF2B5EF4-FFF2-40B4-BE49-F238E27FC236}">
                <a16:creationId xmlns:a16="http://schemas.microsoft.com/office/drawing/2014/main" id="{A8373D89-2CD3-45D5-9EAE-F1ABB6CD650C}"/>
              </a:ext>
            </a:extLst>
          </p:cNvPr>
          <p:cNvSpPr>
            <a:spLocks/>
          </p:cNvSpPr>
          <p:nvPr/>
        </p:nvSpPr>
        <p:spPr>
          <a:xfrm>
            <a:off x="19183631" y="20085103"/>
            <a:ext cx="1221430" cy="970990"/>
          </a:xfrm>
          <a:prstGeom prst="roundRect">
            <a:avLst>
              <a:gd name="adj" fmla="val 14815"/>
            </a:avLst>
          </a:prstGeom>
          <a:solidFill>
            <a:srgbClr val="00397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5" name="TextBox 344">
            <a:extLst>
              <a:ext uri="{FF2B5EF4-FFF2-40B4-BE49-F238E27FC236}">
                <a16:creationId xmlns:a16="http://schemas.microsoft.com/office/drawing/2014/main" id="{BDB414B1-2184-409C-E921-C88274EE4BF7}"/>
              </a:ext>
            </a:extLst>
          </p:cNvPr>
          <p:cNvSpPr txBox="1">
            <a:spLocks/>
          </p:cNvSpPr>
          <p:nvPr/>
        </p:nvSpPr>
        <p:spPr>
          <a:xfrm>
            <a:off x="19183631" y="20085103"/>
            <a:ext cx="1221430" cy="97099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768" b="1">
                <a:solidFill>
                  <a:srgbClr val="FFFFF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비교</a:t>
            </a:r>
          </a:p>
        </p:txBody>
      </p:sp>
      <p:sp>
        <p:nvSpPr>
          <p:cNvPr id="346" name="사각형: 둥근 모서리 345">
            <a:extLst>
              <a:ext uri="{FF2B5EF4-FFF2-40B4-BE49-F238E27FC236}">
                <a16:creationId xmlns:a16="http://schemas.microsoft.com/office/drawing/2014/main" id="{3362238E-36EB-538D-5398-5ABD416B50D4}"/>
              </a:ext>
            </a:extLst>
          </p:cNvPr>
          <p:cNvSpPr>
            <a:spLocks/>
          </p:cNvSpPr>
          <p:nvPr/>
        </p:nvSpPr>
        <p:spPr>
          <a:xfrm>
            <a:off x="7580049" y="21937176"/>
            <a:ext cx="6286770" cy="539439"/>
          </a:xfrm>
          <a:prstGeom prst="roundRect">
            <a:avLst>
              <a:gd name="adj" fmla="val 23333"/>
            </a:avLst>
          </a:prstGeom>
          <a:solidFill>
            <a:srgbClr val="00397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07B89579-A22E-7C84-1754-4FB985126A1B}"/>
              </a:ext>
            </a:extLst>
          </p:cNvPr>
          <p:cNvSpPr txBox="1">
            <a:spLocks/>
          </p:cNvSpPr>
          <p:nvPr/>
        </p:nvSpPr>
        <p:spPr>
          <a:xfrm>
            <a:off x="7867444" y="21937176"/>
            <a:ext cx="5783829" cy="53943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556" b="1">
                <a:solidFill>
                  <a:srgbClr val="FFFFF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구체값 ∉ 분석 결과   →   안전성 공격</a:t>
            </a:r>
          </a:p>
        </p:txBody>
      </p:sp>
      <p:sp>
        <p:nvSpPr>
          <p:cNvPr id="348" name="사각형: 둥근 모서리 347">
            <a:extLst>
              <a:ext uri="{FF2B5EF4-FFF2-40B4-BE49-F238E27FC236}">
                <a16:creationId xmlns:a16="http://schemas.microsoft.com/office/drawing/2014/main" id="{731B37F2-E011-8361-A6D1-D53C06ABE6AB}"/>
              </a:ext>
            </a:extLst>
          </p:cNvPr>
          <p:cNvSpPr>
            <a:spLocks/>
          </p:cNvSpPr>
          <p:nvPr/>
        </p:nvSpPr>
        <p:spPr>
          <a:xfrm>
            <a:off x="14118290" y="21937176"/>
            <a:ext cx="6286770" cy="539439"/>
          </a:xfrm>
          <a:prstGeom prst="roundRect">
            <a:avLst>
              <a:gd name="adj" fmla="val 23333"/>
            </a:avLst>
          </a:prstGeom>
          <a:solidFill>
            <a:srgbClr val="D6DE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ADBE9DB3-9137-B2F3-3172-2750AFC89E40}"/>
              </a:ext>
            </a:extLst>
          </p:cNvPr>
          <p:cNvSpPr txBox="1">
            <a:spLocks/>
          </p:cNvSpPr>
          <p:nvPr/>
        </p:nvSpPr>
        <p:spPr>
          <a:xfrm>
            <a:off x="14405685" y="21937176"/>
            <a:ext cx="5783829" cy="53943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556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분석 결과 ⊋ </a:t>
            </a:r>
            <a:r>
              <a:rPr lang="en-US" altLang="ko-KR" sz="1556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{</a:t>
            </a:r>
            <a:r>
              <a:rPr lang="ko-KR" altLang="en-US" sz="1556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구체값</a:t>
            </a:r>
            <a:r>
              <a:rPr lang="en-US" altLang="ko-KR" sz="1556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}   →   </a:t>
            </a:r>
            <a:r>
              <a:rPr lang="ko-KR" altLang="en-US" sz="1556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정밀도 공격</a:t>
            </a:r>
          </a:p>
        </p:txBody>
      </p:sp>
      <p:sp>
        <p:nvSpPr>
          <p:cNvPr id="350" name="TextBox 349">
            <a:extLst>
              <a:ext uri="{FF2B5EF4-FFF2-40B4-BE49-F238E27FC236}">
                <a16:creationId xmlns:a16="http://schemas.microsoft.com/office/drawing/2014/main" id="{431FBA1B-7B86-B089-19AD-41A2BC2B8AEC}"/>
              </a:ext>
            </a:extLst>
          </p:cNvPr>
          <p:cNvSpPr txBox="1">
            <a:spLocks/>
          </p:cNvSpPr>
          <p:nvPr/>
        </p:nvSpPr>
        <p:spPr>
          <a:xfrm>
            <a:off x="7580049" y="22656428"/>
            <a:ext cx="12825011" cy="57540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정밀도 공격은 튜링 완전한 부분집합이기만 하면 반드시 존재한다 </a:t>
            </a:r>
            <a:r>
              <a:rPr lang="en-US" altLang="ko-KR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(Rice's Theorem). </a:t>
            </a:r>
            <a:r>
              <a:rPr lang="ko-KR" altLang="en-US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안전성 공격은 버그를 찾는 일이라</a:t>
            </a:r>
            <a:r>
              <a:rPr lang="en-US" altLang="ko-KR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언어 기능이 많을수록 유리하다</a:t>
            </a:r>
            <a:r>
              <a:rPr lang="en-US" altLang="ko-KR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485">
              <a:solidFill>
                <a:srgbClr val="3E4A57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51" name="TextBox 350">
            <a:extLst>
              <a:ext uri="{FF2B5EF4-FFF2-40B4-BE49-F238E27FC236}">
                <a16:creationId xmlns:a16="http://schemas.microsoft.com/office/drawing/2014/main" id="{7EDFD34A-3D9A-F6ED-7FE0-D26ED4190C3B}"/>
              </a:ext>
            </a:extLst>
          </p:cNvPr>
          <p:cNvSpPr txBox="1">
            <a:spLocks/>
          </p:cNvSpPr>
          <p:nvPr/>
        </p:nvSpPr>
        <p:spPr>
          <a:xfrm>
            <a:off x="934034" y="23915119"/>
            <a:ext cx="790337" cy="61136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3536" b="1">
                <a:solidFill>
                  <a:srgbClr val="3A72B8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07</a:t>
            </a:r>
            <a:endParaRPr lang="ko-KR" altLang="en-US" sz="3536" b="1">
              <a:solidFill>
                <a:srgbClr val="3A72B8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D5584405-24CF-E6B6-C473-609757C888E7}"/>
              </a:ext>
            </a:extLst>
          </p:cNvPr>
          <p:cNvSpPr txBox="1">
            <a:spLocks/>
          </p:cNvSpPr>
          <p:nvPr/>
        </p:nvSpPr>
        <p:spPr>
          <a:xfrm>
            <a:off x="1796220" y="23915119"/>
            <a:ext cx="18644764" cy="61136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3536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정말 올바른 공격인가</a:t>
            </a: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8E5043E4-1805-7E0F-3258-68C0C1A937D1}"/>
              </a:ext>
            </a:extLst>
          </p:cNvPr>
          <p:cNvSpPr txBox="1">
            <a:spLocks/>
          </p:cNvSpPr>
          <p:nvPr/>
        </p:nvSpPr>
        <p:spPr>
          <a:xfrm>
            <a:off x="934034" y="24742257"/>
            <a:ext cx="19506950" cy="3955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839" b="1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공격이 성공했다고 말하려면</a:t>
            </a:r>
            <a:r>
              <a:rPr lang="en-US" altLang="ko-KR" sz="1839" b="1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839" b="1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분석기가 전제하는 실행 의미와 우리가 </a:t>
            </a:r>
            <a:r>
              <a:rPr lang="en-US" altLang="ko-KR" sz="1839" b="1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CIL--</a:t>
            </a:r>
            <a:r>
              <a:rPr lang="ko-KR" altLang="en-US" sz="1839" b="1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에 준 실행 의미가 같아야 한다</a:t>
            </a:r>
            <a:r>
              <a:rPr lang="en-US" altLang="ko-KR" sz="1839" b="1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839" b="1">
              <a:solidFill>
                <a:srgbClr val="1A222B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54" name="사각형: 둥근 모서리 353">
            <a:extLst>
              <a:ext uri="{FF2B5EF4-FFF2-40B4-BE49-F238E27FC236}">
                <a16:creationId xmlns:a16="http://schemas.microsoft.com/office/drawing/2014/main" id="{937FEEE3-C4DD-93A2-CDBD-2BF5609D61C6}"/>
              </a:ext>
            </a:extLst>
          </p:cNvPr>
          <p:cNvSpPr>
            <a:spLocks/>
          </p:cNvSpPr>
          <p:nvPr/>
        </p:nvSpPr>
        <p:spPr>
          <a:xfrm>
            <a:off x="934034" y="25317659"/>
            <a:ext cx="6107148" cy="1510429"/>
          </a:xfrm>
          <a:prstGeom prst="roundRect">
            <a:avLst>
              <a:gd name="adj" fmla="val 11905"/>
            </a:avLst>
          </a:prstGeom>
          <a:solidFill>
            <a:srgbClr val="00397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id="{4B9BDBE7-A06C-8133-499C-99F6BFEA41E9}"/>
              </a:ext>
            </a:extLst>
          </p:cNvPr>
          <p:cNvSpPr txBox="1">
            <a:spLocks/>
          </p:cNvSpPr>
          <p:nvPr/>
        </p:nvSpPr>
        <p:spPr>
          <a:xfrm>
            <a:off x="1293278" y="25461509"/>
            <a:ext cx="5424585" cy="32366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626" b="1">
                <a:solidFill>
                  <a:srgbClr val="FFFFF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아무도 실행 의미를 엄밀히 적어두지 않았다</a:t>
            </a:r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7D0D5190-525C-A481-2FB9-748107587720}"/>
              </a:ext>
            </a:extLst>
          </p:cNvPr>
          <p:cNvSpPr txBox="1">
            <a:spLocks/>
          </p:cNvSpPr>
          <p:nvPr/>
        </p:nvSpPr>
        <p:spPr>
          <a:xfrm>
            <a:off x="1293278" y="25821136"/>
            <a:ext cx="5424585" cy="8990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414">
                <a:solidFill>
                  <a:srgbClr val="D6DEE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</a:t>
            </a:r>
            <a:r>
              <a:rPr lang="ko-KR" altLang="en-US" sz="1414">
                <a:solidFill>
                  <a:srgbClr val="D6DEE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의 </a:t>
            </a:r>
            <a:r>
              <a:rPr lang="en-US" altLang="ko-KR" sz="1414">
                <a:solidFill>
                  <a:srgbClr val="D6DEE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ISO </a:t>
            </a:r>
            <a:r>
              <a:rPr lang="ko-KR" altLang="en-US" sz="1414">
                <a:solidFill>
                  <a:srgbClr val="D6DEE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표준은 자연어로 되어 있고</a:t>
            </a:r>
            <a:r>
              <a:rPr lang="en-US" altLang="ko-KR" sz="1414">
                <a:solidFill>
                  <a:srgbClr val="D6DEE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, CIL</a:t>
            </a:r>
            <a:r>
              <a:rPr lang="ko-KR" altLang="en-US" sz="1414">
                <a:solidFill>
                  <a:srgbClr val="D6DEE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에도 엄밀한 실행 의미가 없다</a:t>
            </a:r>
            <a:r>
              <a:rPr lang="en-US" altLang="ko-KR" sz="1414">
                <a:solidFill>
                  <a:srgbClr val="D6DEE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414">
                <a:solidFill>
                  <a:srgbClr val="D6DEE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분석기 역시 </a:t>
            </a:r>
            <a:r>
              <a:rPr lang="en-US" altLang="ko-KR" sz="1414">
                <a:solidFill>
                  <a:srgbClr val="D6DEE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sound in design</a:t>
            </a:r>
            <a:r>
              <a:rPr lang="ko-KR" altLang="en-US" sz="1414">
                <a:solidFill>
                  <a:srgbClr val="D6DEE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이라고 말할 뿐 </a:t>
            </a:r>
            <a:r>
              <a:rPr lang="en-US" altLang="ko-KR" sz="1414">
                <a:solidFill>
                  <a:srgbClr val="D6DEE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concrete semantics</a:t>
            </a:r>
            <a:r>
              <a:rPr lang="ko-KR" altLang="en-US" sz="1414">
                <a:solidFill>
                  <a:srgbClr val="D6DEE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를 정의하지 않는다</a:t>
            </a:r>
            <a:r>
              <a:rPr lang="en-US" altLang="ko-KR" sz="1414">
                <a:solidFill>
                  <a:srgbClr val="D6DEE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414">
              <a:solidFill>
                <a:srgbClr val="D6DEEB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BFD9B1F6-0497-5B7A-813E-84E8E3664146}"/>
              </a:ext>
            </a:extLst>
          </p:cNvPr>
          <p:cNvSpPr txBox="1">
            <a:spLocks/>
          </p:cNvSpPr>
          <p:nvPr/>
        </p:nvSpPr>
        <p:spPr>
          <a:xfrm>
            <a:off x="934034" y="26971938"/>
            <a:ext cx="6107148" cy="6473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우리에게는 </a:t>
            </a:r>
            <a:r>
              <a:rPr lang="en-US" altLang="ko-KR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CIL--</a:t>
            </a:r>
            <a:r>
              <a:rPr lang="ko-KR" altLang="en-US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의 </a:t>
            </a:r>
            <a:r>
              <a:rPr lang="en-US" altLang="ko-KR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Big-Step </a:t>
            </a:r>
            <a:r>
              <a:rPr lang="ko-KR" altLang="en-US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실행 의미가 있다</a:t>
            </a:r>
            <a:r>
              <a:rPr lang="en-US" altLang="ko-KR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비결정성이 남아 있으면 공격에 성공한 것처럼 보여도 사실은 비결정성 탓일 수 있으므로</a:t>
            </a:r>
            <a:r>
              <a:rPr lang="en-US" altLang="ko-KR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하나씩 없앤다</a:t>
            </a:r>
            <a:r>
              <a:rPr lang="en-US" altLang="ko-KR" sz="1485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485">
              <a:solidFill>
                <a:srgbClr val="3E4A57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58" name="사각형: 둥근 모서리 357">
            <a:extLst>
              <a:ext uri="{FF2B5EF4-FFF2-40B4-BE49-F238E27FC236}">
                <a16:creationId xmlns:a16="http://schemas.microsoft.com/office/drawing/2014/main" id="{20586836-B95C-7986-838F-1D8AF7C7DB99}"/>
              </a:ext>
            </a:extLst>
          </p:cNvPr>
          <p:cNvSpPr>
            <a:spLocks/>
          </p:cNvSpPr>
          <p:nvPr/>
        </p:nvSpPr>
        <p:spPr>
          <a:xfrm>
            <a:off x="7400427" y="25317659"/>
            <a:ext cx="13040558" cy="395588"/>
          </a:xfrm>
          <a:prstGeom prst="roundRect">
            <a:avLst>
              <a:gd name="adj" fmla="val 27273"/>
            </a:avLst>
          </a:prstGeom>
          <a:solidFill>
            <a:srgbClr val="D6DE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9" name="TextBox 358">
            <a:extLst>
              <a:ext uri="{FF2B5EF4-FFF2-40B4-BE49-F238E27FC236}">
                <a16:creationId xmlns:a16="http://schemas.microsoft.com/office/drawing/2014/main" id="{3631D14F-B12C-C45F-BB99-4C57F7610D5A}"/>
              </a:ext>
            </a:extLst>
          </p:cNvPr>
          <p:cNvSpPr txBox="1">
            <a:spLocks/>
          </p:cNvSpPr>
          <p:nvPr/>
        </p:nvSpPr>
        <p:spPr>
          <a:xfrm>
            <a:off x="7580049" y="25317659"/>
            <a:ext cx="2802103" cy="3955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273" b="1" spc="14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예</a:t>
            </a:r>
          </a:p>
        </p:txBody>
      </p:sp>
      <p:sp>
        <p:nvSpPr>
          <p:cNvPr id="360" name="TextBox 359">
            <a:extLst>
              <a:ext uri="{FF2B5EF4-FFF2-40B4-BE49-F238E27FC236}">
                <a16:creationId xmlns:a16="http://schemas.microsoft.com/office/drawing/2014/main" id="{6756CBD2-AFB1-BDEA-A6D5-94084E406291}"/>
              </a:ext>
            </a:extLst>
          </p:cNvPr>
          <p:cNvSpPr txBox="1">
            <a:spLocks/>
          </p:cNvSpPr>
          <p:nvPr/>
        </p:nvSpPr>
        <p:spPr>
          <a:xfrm>
            <a:off x="10274379" y="25317659"/>
            <a:ext cx="3340969" cy="3955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273" b="1" spc="14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</a:t>
            </a:r>
            <a:endParaRPr lang="ko-KR" altLang="en-US" sz="1273" b="1" spc="141">
              <a:solidFill>
                <a:srgbClr val="00397F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61" name="TextBox 360">
            <a:extLst>
              <a:ext uri="{FF2B5EF4-FFF2-40B4-BE49-F238E27FC236}">
                <a16:creationId xmlns:a16="http://schemas.microsoft.com/office/drawing/2014/main" id="{32966385-247B-343C-0D63-75456D6E3505}"/>
              </a:ext>
            </a:extLst>
          </p:cNvPr>
          <p:cNvSpPr txBox="1">
            <a:spLocks/>
          </p:cNvSpPr>
          <p:nvPr/>
        </p:nvSpPr>
        <p:spPr>
          <a:xfrm>
            <a:off x="13615349" y="25317659"/>
            <a:ext cx="3197272" cy="3955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273" b="1" spc="14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CIL</a:t>
            </a:r>
            <a:endParaRPr lang="ko-KR" altLang="en-US" sz="1273" b="1" spc="141">
              <a:solidFill>
                <a:srgbClr val="00397F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62" name="TextBox 361">
            <a:extLst>
              <a:ext uri="{FF2B5EF4-FFF2-40B4-BE49-F238E27FC236}">
                <a16:creationId xmlns:a16="http://schemas.microsoft.com/office/drawing/2014/main" id="{97831044-962E-12DE-EC0E-89F419DFAFA8}"/>
              </a:ext>
            </a:extLst>
          </p:cNvPr>
          <p:cNvSpPr txBox="1">
            <a:spLocks/>
          </p:cNvSpPr>
          <p:nvPr/>
        </p:nvSpPr>
        <p:spPr>
          <a:xfrm>
            <a:off x="16812620" y="25317659"/>
            <a:ext cx="3700213" cy="3955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273" b="1" spc="14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CIL--</a:t>
            </a:r>
            <a:endParaRPr lang="ko-KR" altLang="en-US" sz="1273" b="1" spc="141">
              <a:solidFill>
                <a:srgbClr val="00397F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5BEF4011-BAEF-A1AF-909A-76EE4B3396A6}"/>
              </a:ext>
            </a:extLst>
          </p:cNvPr>
          <p:cNvSpPr txBox="1">
            <a:spLocks/>
          </p:cNvSpPr>
          <p:nvPr/>
        </p:nvSpPr>
        <p:spPr>
          <a:xfrm>
            <a:off x="7580049" y="25749210"/>
            <a:ext cx="2802103" cy="25173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273" b="1">
                <a:solidFill>
                  <a:srgbClr val="1A222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f() + g()</a:t>
            </a:r>
            <a:endParaRPr lang="ko-KR" altLang="en-US" sz="1273" b="1">
              <a:solidFill>
                <a:srgbClr val="1A222B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364" name="TextBox 363">
            <a:extLst>
              <a:ext uri="{FF2B5EF4-FFF2-40B4-BE49-F238E27FC236}">
                <a16:creationId xmlns:a16="http://schemas.microsoft.com/office/drawing/2014/main" id="{4D1D6601-7E43-096A-4E07-4E62D3A4681A}"/>
              </a:ext>
            </a:extLst>
          </p:cNvPr>
          <p:cNvSpPr txBox="1">
            <a:spLocks/>
          </p:cNvSpPr>
          <p:nvPr/>
        </p:nvSpPr>
        <p:spPr>
          <a:xfrm>
            <a:off x="10274379" y="25749210"/>
            <a:ext cx="3340969" cy="25173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273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계산 순서가 정해지지 않음</a:t>
            </a:r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A8AF878D-002A-1035-6161-7AEC18B2BB5C}"/>
              </a:ext>
            </a:extLst>
          </p:cNvPr>
          <p:cNvSpPr txBox="1">
            <a:spLocks/>
          </p:cNvSpPr>
          <p:nvPr/>
        </p:nvSpPr>
        <p:spPr>
          <a:xfrm>
            <a:off x="13615349" y="25749210"/>
            <a:ext cx="3197272" cy="25173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273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호출이 식에 들어가지 않음</a:t>
            </a:r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26F01AA9-8BB0-78B6-D78D-AB52D515FCDB}"/>
              </a:ext>
            </a:extLst>
          </p:cNvPr>
          <p:cNvSpPr txBox="1">
            <a:spLocks/>
          </p:cNvSpPr>
          <p:nvPr/>
        </p:nvSpPr>
        <p:spPr>
          <a:xfrm>
            <a:off x="16812620" y="25749210"/>
            <a:ext cx="3700213" cy="25173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273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없앰</a:t>
            </a:r>
          </a:p>
        </p:txBody>
      </p:sp>
      <p:cxnSp>
        <p:nvCxnSpPr>
          <p:cNvPr id="367" name="직선 연결선 366">
            <a:extLst>
              <a:ext uri="{FF2B5EF4-FFF2-40B4-BE49-F238E27FC236}">
                <a16:creationId xmlns:a16="http://schemas.microsoft.com/office/drawing/2014/main" id="{F4A12DD7-89BB-7468-20AA-4B3089C45C43}"/>
              </a:ext>
            </a:extLst>
          </p:cNvPr>
          <p:cNvCxnSpPr>
            <a:cxnSpLocks/>
          </p:cNvCxnSpPr>
          <p:nvPr/>
        </p:nvCxnSpPr>
        <p:spPr>
          <a:xfrm>
            <a:off x="7400427" y="26018930"/>
            <a:ext cx="13040558" cy="0"/>
          </a:xfrm>
          <a:prstGeom prst="line">
            <a:avLst/>
          </a:prstGeom>
          <a:ln w="13472">
            <a:solidFill>
              <a:srgbClr val="C3C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8" name="TextBox 367">
            <a:extLst>
              <a:ext uri="{FF2B5EF4-FFF2-40B4-BE49-F238E27FC236}">
                <a16:creationId xmlns:a16="http://schemas.microsoft.com/office/drawing/2014/main" id="{48027D6B-E1D8-8114-4EA9-65ABA1874D3B}"/>
              </a:ext>
            </a:extLst>
          </p:cNvPr>
          <p:cNvSpPr txBox="1">
            <a:spLocks/>
          </p:cNvSpPr>
          <p:nvPr/>
        </p:nvSpPr>
        <p:spPr>
          <a:xfrm>
            <a:off x="7580049" y="26036910"/>
            <a:ext cx="2802103" cy="25173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273" b="1">
                <a:solidFill>
                  <a:srgbClr val="1A222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i = i++ + 1;</a:t>
            </a:r>
            <a:endParaRPr lang="ko-KR" altLang="en-US" sz="1273" b="1">
              <a:solidFill>
                <a:srgbClr val="1A222B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7CC03606-2112-F110-F7E0-AA3A1E4310B4}"/>
              </a:ext>
            </a:extLst>
          </p:cNvPr>
          <p:cNvSpPr txBox="1">
            <a:spLocks/>
          </p:cNvSpPr>
          <p:nvPr/>
        </p:nvSpPr>
        <p:spPr>
          <a:xfrm>
            <a:off x="10274379" y="26036910"/>
            <a:ext cx="3340969" cy="25173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273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undefined behavior</a:t>
            </a:r>
            <a:endParaRPr lang="ko-KR" altLang="en-US" sz="1273">
              <a:solidFill>
                <a:srgbClr val="3E4A57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70" name="TextBox 369">
            <a:extLst>
              <a:ext uri="{FF2B5EF4-FFF2-40B4-BE49-F238E27FC236}">
                <a16:creationId xmlns:a16="http://schemas.microsoft.com/office/drawing/2014/main" id="{692F70D5-04CB-D1EB-69A1-73220A839D2C}"/>
              </a:ext>
            </a:extLst>
          </p:cNvPr>
          <p:cNvSpPr txBox="1">
            <a:spLocks/>
          </p:cNvSpPr>
          <p:nvPr/>
        </p:nvSpPr>
        <p:spPr>
          <a:xfrm>
            <a:off x="13615349" y="26036910"/>
            <a:ext cx="3197272" cy="25173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273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i++ </a:t>
            </a:r>
            <a:r>
              <a:rPr lang="ko-KR" altLang="en-US" sz="1273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문법이 없음</a:t>
            </a:r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6D8747FA-7594-5949-A066-E4A3751FDFEA}"/>
              </a:ext>
            </a:extLst>
          </p:cNvPr>
          <p:cNvSpPr txBox="1">
            <a:spLocks/>
          </p:cNvSpPr>
          <p:nvPr/>
        </p:nvSpPr>
        <p:spPr>
          <a:xfrm>
            <a:off x="16812620" y="26036910"/>
            <a:ext cx="3700213" cy="25173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273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없앰</a:t>
            </a:r>
          </a:p>
        </p:txBody>
      </p: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3C4C6441-5D6F-CE73-8095-5DD531DE6F46}"/>
              </a:ext>
            </a:extLst>
          </p:cNvPr>
          <p:cNvCxnSpPr>
            <a:cxnSpLocks/>
          </p:cNvCxnSpPr>
          <p:nvPr/>
        </p:nvCxnSpPr>
        <p:spPr>
          <a:xfrm>
            <a:off x="7400427" y="26306630"/>
            <a:ext cx="13040558" cy="0"/>
          </a:xfrm>
          <a:prstGeom prst="line">
            <a:avLst/>
          </a:prstGeom>
          <a:ln w="13472">
            <a:solidFill>
              <a:srgbClr val="C3C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3" name="TextBox 372">
            <a:extLst>
              <a:ext uri="{FF2B5EF4-FFF2-40B4-BE49-F238E27FC236}">
                <a16:creationId xmlns:a16="http://schemas.microsoft.com/office/drawing/2014/main" id="{04D4B222-15C7-986D-10CC-F96904E2CE55}"/>
              </a:ext>
            </a:extLst>
          </p:cNvPr>
          <p:cNvSpPr txBox="1">
            <a:spLocks/>
          </p:cNvSpPr>
          <p:nvPr/>
        </p:nvSpPr>
        <p:spPr>
          <a:xfrm>
            <a:off x="7580049" y="26324610"/>
            <a:ext cx="2802103" cy="25173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273" b="1">
                <a:solidFill>
                  <a:srgbClr val="1A222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int x; use(x);</a:t>
            </a:r>
            <a:endParaRPr lang="ko-KR" altLang="en-US" sz="1273" b="1">
              <a:solidFill>
                <a:srgbClr val="1A222B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374" name="TextBox 373">
            <a:extLst>
              <a:ext uri="{FF2B5EF4-FFF2-40B4-BE49-F238E27FC236}">
                <a16:creationId xmlns:a16="http://schemas.microsoft.com/office/drawing/2014/main" id="{E841BA0A-CAD5-B7DD-5F18-0ED60840BC4F}"/>
              </a:ext>
            </a:extLst>
          </p:cNvPr>
          <p:cNvSpPr txBox="1">
            <a:spLocks/>
          </p:cNvSpPr>
          <p:nvPr/>
        </p:nvSpPr>
        <p:spPr>
          <a:xfrm>
            <a:off x="10274379" y="26324610"/>
            <a:ext cx="3340969" cy="25173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273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indeterminate value</a:t>
            </a:r>
            <a:endParaRPr lang="ko-KR" altLang="en-US" sz="1273">
              <a:solidFill>
                <a:srgbClr val="3E4A57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45E11A2A-5737-E9E2-B632-71E2AE9BB90A}"/>
              </a:ext>
            </a:extLst>
          </p:cNvPr>
          <p:cNvSpPr txBox="1">
            <a:spLocks/>
          </p:cNvSpPr>
          <p:nvPr/>
        </p:nvSpPr>
        <p:spPr>
          <a:xfrm>
            <a:off x="13615349" y="26324610"/>
            <a:ext cx="3197272" cy="25173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273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indeterminate value</a:t>
            </a:r>
            <a:endParaRPr lang="ko-KR" altLang="en-US" sz="1273">
              <a:solidFill>
                <a:srgbClr val="3E4A57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8E43B0C6-D7CD-A989-8480-FB3E169FA0F3}"/>
              </a:ext>
            </a:extLst>
          </p:cNvPr>
          <p:cNvSpPr txBox="1">
            <a:spLocks/>
          </p:cNvSpPr>
          <p:nvPr/>
        </p:nvSpPr>
        <p:spPr>
          <a:xfrm>
            <a:off x="16812620" y="26324610"/>
            <a:ext cx="3700213" cy="25173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273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합성 시 만들지 않음</a:t>
            </a:r>
          </a:p>
        </p:txBody>
      </p: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AC2EB91E-17BC-C2FD-7368-A40AE55581B6}"/>
              </a:ext>
            </a:extLst>
          </p:cNvPr>
          <p:cNvCxnSpPr>
            <a:cxnSpLocks/>
          </p:cNvCxnSpPr>
          <p:nvPr/>
        </p:nvCxnSpPr>
        <p:spPr>
          <a:xfrm>
            <a:off x="7400427" y="26594330"/>
            <a:ext cx="13040558" cy="0"/>
          </a:xfrm>
          <a:prstGeom prst="line">
            <a:avLst/>
          </a:prstGeom>
          <a:ln w="13472">
            <a:solidFill>
              <a:srgbClr val="C3C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8" name="TextBox 377">
            <a:extLst>
              <a:ext uri="{FF2B5EF4-FFF2-40B4-BE49-F238E27FC236}">
                <a16:creationId xmlns:a16="http://schemas.microsoft.com/office/drawing/2014/main" id="{1BA56A85-C651-E8DA-1D9A-8782E88BAE50}"/>
              </a:ext>
            </a:extLst>
          </p:cNvPr>
          <p:cNvSpPr txBox="1">
            <a:spLocks/>
          </p:cNvSpPr>
          <p:nvPr/>
        </p:nvSpPr>
        <p:spPr>
          <a:xfrm>
            <a:off x="7580049" y="26612310"/>
            <a:ext cx="2802103" cy="25173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273" b="1">
                <a:solidFill>
                  <a:srgbClr val="1A222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"a" == "a"</a:t>
            </a:r>
            <a:endParaRPr lang="ko-KR" altLang="en-US" sz="1273" b="1">
              <a:solidFill>
                <a:srgbClr val="1A222B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380B365C-BED4-D6BF-F7B2-927E7511C3F7}"/>
              </a:ext>
            </a:extLst>
          </p:cNvPr>
          <p:cNvSpPr txBox="1">
            <a:spLocks/>
          </p:cNvSpPr>
          <p:nvPr/>
        </p:nvSpPr>
        <p:spPr>
          <a:xfrm>
            <a:off x="10274379" y="26612310"/>
            <a:ext cx="3340969" cy="25173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273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true / false </a:t>
            </a:r>
            <a:r>
              <a:rPr lang="ko-KR" altLang="en-US" sz="1273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모두 가능</a:t>
            </a:r>
          </a:p>
        </p:txBody>
      </p:sp>
      <p:sp>
        <p:nvSpPr>
          <p:cNvPr id="380" name="TextBox 379">
            <a:extLst>
              <a:ext uri="{FF2B5EF4-FFF2-40B4-BE49-F238E27FC236}">
                <a16:creationId xmlns:a16="http://schemas.microsoft.com/office/drawing/2014/main" id="{729910F8-B9B3-4268-4E86-DE8FCE0516E8}"/>
              </a:ext>
            </a:extLst>
          </p:cNvPr>
          <p:cNvSpPr txBox="1">
            <a:spLocks/>
          </p:cNvSpPr>
          <p:nvPr/>
        </p:nvSpPr>
        <p:spPr>
          <a:xfrm>
            <a:off x="13615349" y="26612310"/>
            <a:ext cx="3197272" cy="25173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273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여전히 비결정적</a:t>
            </a:r>
          </a:p>
        </p:txBody>
      </p:sp>
      <p:sp>
        <p:nvSpPr>
          <p:cNvPr id="381" name="TextBox 380">
            <a:extLst>
              <a:ext uri="{FF2B5EF4-FFF2-40B4-BE49-F238E27FC236}">
                <a16:creationId xmlns:a16="http://schemas.microsoft.com/office/drawing/2014/main" id="{CEBA7D54-DF29-4FF4-DF76-C30184F69412}"/>
              </a:ext>
            </a:extLst>
          </p:cNvPr>
          <p:cNvSpPr txBox="1">
            <a:spLocks/>
          </p:cNvSpPr>
          <p:nvPr/>
        </p:nvSpPr>
        <p:spPr>
          <a:xfrm>
            <a:off x="16812620" y="26612310"/>
            <a:ext cx="3700213" cy="25173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273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문자열이 없음</a:t>
            </a:r>
          </a:p>
        </p:txBody>
      </p: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A374E24A-1F0D-5051-CA64-BF4F0D939201}"/>
              </a:ext>
            </a:extLst>
          </p:cNvPr>
          <p:cNvCxnSpPr>
            <a:cxnSpLocks/>
          </p:cNvCxnSpPr>
          <p:nvPr/>
        </p:nvCxnSpPr>
        <p:spPr>
          <a:xfrm>
            <a:off x="7400427" y="26882030"/>
            <a:ext cx="13040558" cy="0"/>
          </a:xfrm>
          <a:prstGeom prst="line">
            <a:avLst/>
          </a:prstGeom>
          <a:ln w="13472">
            <a:solidFill>
              <a:srgbClr val="C3C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3" name="TextBox 382">
            <a:extLst>
              <a:ext uri="{FF2B5EF4-FFF2-40B4-BE49-F238E27FC236}">
                <a16:creationId xmlns:a16="http://schemas.microsoft.com/office/drawing/2014/main" id="{608F4C9F-C71B-B9D2-C5B0-6CADB59D3736}"/>
              </a:ext>
            </a:extLst>
          </p:cNvPr>
          <p:cNvSpPr txBox="1">
            <a:spLocks/>
          </p:cNvSpPr>
          <p:nvPr/>
        </p:nvSpPr>
        <p:spPr>
          <a:xfrm>
            <a:off x="7580049" y="26900014"/>
            <a:ext cx="2802103" cy="25173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273" b="1">
                <a:solidFill>
                  <a:srgbClr val="1A222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char c = -1;</a:t>
            </a:r>
            <a:endParaRPr lang="ko-KR" altLang="en-US" sz="1273" b="1">
              <a:solidFill>
                <a:srgbClr val="1A222B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384" name="TextBox 383">
            <a:extLst>
              <a:ext uri="{FF2B5EF4-FFF2-40B4-BE49-F238E27FC236}">
                <a16:creationId xmlns:a16="http://schemas.microsoft.com/office/drawing/2014/main" id="{893D142C-143A-34A7-4193-FA65D883FDDC}"/>
              </a:ext>
            </a:extLst>
          </p:cNvPr>
          <p:cNvSpPr txBox="1">
            <a:spLocks/>
          </p:cNvSpPr>
          <p:nvPr/>
        </p:nvSpPr>
        <p:spPr>
          <a:xfrm>
            <a:off x="10274379" y="26900014"/>
            <a:ext cx="3340969" cy="25173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273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-1 </a:t>
            </a:r>
            <a:r>
              <a:rPr lang="ko-KR" altLang="en-US" sz="1273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또는 </a:t>
            </a:r>
            <a:r>
              <a:rPr lang="en-US" altLang="ko-KR" sz="1273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255</a:t>
            </a:r>
            <a:endParaRPr lang="ko-KR" altLang="en-US" sz="1273">
              <a:solidFill>
                <a:srgbClr val="3E4A57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7F73F58B-C979-1E3A-EDF9-DAA8FEC99A18}"/>
              </a:ext>
            </a:extLst>
          </p:cNvPr>
          <p:cNvSpPr txBox="1">
            <a:spLocks/>
          </p:cNvSpPr>
          <p:nvPr/>
        </p:nvSpPr>
        <p:spPr>
          <a:xfrm>
            <a:off x="13615349" y="26900014"/>
            <a:ext cx="3197272" cy="25173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273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여전히 비결정적</a:t>
            </a:r>
          </a:p>
        </p:txBody>
      </p:sp>
      <p:sp>
        <p:nvSpPr>
          <p:cNvPr id="386" name="TextBox 385">
            <a:extLst>
              <a:ext uri="{FF2B5EF4-FFF2-40B4-BE49-F238E27FC236}">
                <a16:creationId xmlns:a16="http://schemas.microsoft.com/office/drawing/2014/main" id="{0311AD18-6B14-E46F-EA5A-CAF2FB610FE7}"/>
              </a:ext>
            </a:extLst>
          </p:cNvPr>
          <p:cNvSpPr txBox="1">
            <a:spLocks/>
          </p:cNvSpPr>
          <p:nvPr/>
        </p:nvSpPr>
        <p:spPr>
          <a:xfrm>
            <a:off x="16812620" y="26900014"/>
            <a:ext cx="3700213" cy="25173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273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char</a:t>
            </a:r>
            <a:r>
              <a:rPr lang="ko-KR" altLang="en-US" sz="1273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가 없음</a:t>
            </a:r>
          </a:p>
        </p:txBody>
      </p: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2B7B73E0-474D-796F-CC78-4F43DC927B22}"/>
              </a:ext>
            </a:extLst>
          </p:cNvPr>
          <p:cNvCxnSpPr>
            <a:cxnSpLocks/>
          </p:cNvCxnSpPr>
          <p:nvPr/>
        </p:nvCxnSpPr>
        <p:spPr>
          <a:xfrm>
            <a:off x="7400427" y="27169731"/>
            <a:ext cx="13040558" cy="0"/>
          </a:xfrm>
          <a:prstGeom prst="line">
            <a:avLst/>
          </a:prstGeom>
          <a:ln w="13472">
            <a:solidFill>
              <a:srgbClr val="C3C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8" name="TextBox 387">
            <a:extLst>
              <a:ext uri="{FF2B5EF4-FFF2-40B4-BE49-F238E27FC236}">
                <a16:creationId xmlns:a16="http://schemas.microsoft.com/office/drawing/2014/main" id="{9F5C777C-8DAA-75EA-78E9-EE8FE452DECB}"/>
              </a:ext>
            </a:extLst>
          </p:cNvPr>
          <p:cNvSpPr txBox="1">
            <a:spLocks/>
          </p:cNvSpPr>
          <p:nvPr/>
        </p:nvSpPr>
        <p:spPr>
          <a:xfrm>
            <a:off x="7580049" y="27187714"/>
            <a:ext cx="2802103" cy="25173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273" b="1">
                <a:solidFill>
                  <a:srgbClr val="1A222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malloc(n)</a:t>
            </a:r>
            <a:endParaRPr lang="ko-KR" altLang="en-US" sz="1273" b="1">
              <a:solidFill>
                <a:srgbClr val="1A222B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389" name="TextBox 388">
            <a:extLst>
              <a:ext uri="{FF2B5EF4-FFF2-40B4-BE49-F238E27FC236}">
                <a16:creationId xmlns:a16="http://schemas.microsoft.com/office/drawing/2014/main" id="{28B12E9C-6C67-7A71-DF10-32A954B8568A}"/>
              </a:ext>
            </a:extLst>
          </p:cNvPr>
          <p:cNvSpPr txBox="1">
            <a:spLocks/>
          </p:cNvSpPr>
          <p:nvPr/>
        </p:nvSpPr>
        <p:spPr>
          <a:xfrm>
            <a:off x="10274379" y="27187714"/>
            <a:ext cx="3340969" cy="25173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273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주소가 비결정적</a:t>
            </a:r>
          </a:p>
        </p:txBody>
      </p:sp>
      <p:sp>
        <p:nvSpPr>
          <p:cNvPr id="390" name="TextBox 389">
            <a:extLst>
              <a:ext uri="{FF2B5EF4-FFF2-40B4-BE49-F238E27FC236}">
                <a16:creationId xmlns:a16="http://schemas.microsoft.com/office/drawing/2014/main" id="{D79F3C7C-9234-64D4-70CB-BAD7D8ED2FD3}"/>
              </a:ext>
            </a:extLst>
          </p:cNvPr>
          <p:cNvSpPr txBox="1">
            <a:spLocks/>
          </p:cNvSpPr>
          <p:nvPr/>
        </p:nvSpPr>
        <p:spPr>
          <a:xfrm>
            <a:off x="13615349" y="27187714"/>
            <a:ext cx="3197272" cy="25173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273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fresh object</a:t>
            </a:r>
            <a:endParaRPr lang="ko-KR" altLang="en-US" sz="1273">
              <a:solidFill>
                <a:srgbClr val="3E4A57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BB8660F9-F2B2-AB6D-DC88-EB944778550A}"/>
              </a:ext>
            </a:extLst>
          </p:cNvPr>
          <p:cNvSpPr txBox="1">
            <a:spLocks/>
          </p:cNvSpPr>
          <p:nvPr/>
        </p:nvSpPr>
        <p:spPr>
          <a:xfrm>
            <a:off x="16812620" y="27187714"/>
            <a:ext cx="3700213" cy="25173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273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포인터가 없음</a:t>
            </a:r>
          </a:p>
        </p:txBody>
      </p: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C853F11A-2A02-D333-E654-64C7E295B1D6}"/>
              </a:ext>
            </a:extLst>
          </p:cNvPr>
          <p:cNvCxnSpPr>
            <a:cxnSpLocks/>
          </p:cNvCxnSpPr>
          <p:nvPr/>
        </p:nvCxnSpPr>
        <p:spPr>
          <a:xfrm>
            <a:off x="7400427" y="27457431"/>
            <a:ext cx="13040558" cy="0"/>
          </a:xfrm>
          <a:prstGeom prst="line">
            <a:avLst/>
          </a:prstGeom>
          <a:ln w="13472">
            <a:solidFill>
              <a:srgbClr val="C3C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2" name="그림 401">
            <a:extLst>
              <a:ext uri="{FF2B5EF4-FFF2-40B4-BE49-F238E27FC236}">
                <a16:creationId xmlns:a16="http://schemas.microsoft.com/office/drawing/2014/main" id="{51BB0DBC-35EB-9E06-C78C-7171F22E885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069" y="28050815"/>
            <a:ext cx="1113656" cy="1150803"/>
          </a:xfrm>
          <a:prstGeom prst="rect">
            <a:avLst/>
          </a:prstGeom>
        </p:spPr>
      </p:pic>
      <p:sp>
        <p:nvSpPr>
          <p:cNvPr id="403" name="TextBox 402">
            <a:extLst>
              <a:ext uri="{FF2B5EF4-FFF2-40B4-BE49-F238E27FC236}">
                <a16:creationId xmlns:a16="http://schemas.microsoft.com/office/drawing/2014/main" id="{23C342E0-45CC-BC02-837E-CD8FDCA25CA4}"/>
              </a:ext>
            </a:extLst>
          </p:cNvPr>
          <p:cNvSpPr txBox="1">
            <a:spLocks/>
          </p:cNvSpPr>
          <p:nvPr/>
        </p:nvSpPr>
        <p:spPr>
          <a:xfrm>
            <a:off x="3197272" y="28086779"/>
            <a:ext cx="3592440" cy="3955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2404" b="1" spc="424">
                <a:solidFill>
                  <a:srgbClr val="00397F"/>
                </a:solidFill>
                <a:latin typeface="Times New Roman" panose="02020603050405020304" pitchFamily="18" charset="0"/>
                <a:ea typeface="맑은 고딕" panose="020B0503020000020004" pitchFamily="50" charset="-127"/>
              </a:rPr>
              <a:t>SEOUL</a:t>
            </a:r>
            <a:endParaRPr lang="ko-KR" altLang="en-US" sz="2404" b="1" spc="424">
              <a:solidFill>
                <a:srgbClr val="00397F"/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29161D58-DE33-7546-2513-A02E3B0D01F8}"/>
              </a:ext>
            </a:extLst>
          </p:cNvPr>
          <p:cNvSpPr txBox="1">
            <a:spLocks/>
          </p:cNvSpPr>
          <p:nvPr/>
        </p:nvSpPr>
        <p:spPr>
          <a:xfrm>
            <a:off x="3197272" y="28518327"/>
            <a:ext cx="3592440" cy="26971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485" spc="339">
                <a:solidFill>
                  <a:srgbClr val="00397F"/>
                </a:solidFill>
                <a:latin typeface="Times New Roman" panose="02020603050405020304" pitchFamily="18" charset="0"/>
                <a:ea typeface="맑은 고딕" panose="020B0503020000020004" pitchFamily="50" charset="-127"/>
              </a:rPr>
              <a:t>NATIONAL</a:t>
            </a:r>
            <a:endParaRPr lang="ko-KR" altLang="en-US" sz="1485" spc="339">
              <a:solidFill>
                <a:srgbClr val="00397F"/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405" name="TextBox 404">
            <a:extLst>
              <a:ext uri="{FF2B5EF4-FFF2-40B4-BE49-F238E27FC236}">
                <a16:creationId xmlns:a16="http://schemas.microsoft.com/office/drawing/2014/main" id="{3B766AA2-B385-EAA9-F739-CF4E4E06FB7F}"/>
              </a:ext>
            </a:extLst>
          </p:cNvPr>
          <p:cNvSpPr txBox="1">
            <a:spLocks/>
          </p:cNvSpPr>
          <p:nvPr/>
        </p:nvSpPr>
        <p:spPr>
          <a:xfrm>
            <a:off x="3197272" y="28806031"/>
            <a:ext cx="3592440" cy="26971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485" spc="339">
                <a:solidFill>
                  <a:srgbClr val="00397F"/>
                </a:solidFill>
                <a:latin typeface="Times New Roman" panose="02020603050405020304" pitchFamily="18" charset="0"/>
                <a:ea typeface="맑은 고딕" panose="020B0503020000020004" pitchFamily="50" charset="-127"/>
              </a:rPr>
              <a:t>UNIVERSITY</a:t>
            </a:r>
            <a:endParaRPr lang="ko-KR" altLang="en-US" sz="1485" spc="339">
              <a:solidFill>
                <a:srgbClr val="00397F"/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407" name="그림 406">
            <a:extLst>
              <a:ext uri="{FF2B5EF4-FFF2-40B4-BE49-F238E27FC236}">
                <a16:creationId xmlns:a16="http://schemas.microsoft.com/office/drawing/2014/main" id="{3B453273-3204-9336-920E-203456C4CC7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2419" y="27978891"/>
            <a:ext cx="1149581" cy="1168784"/>
          </a:xfrm>
          <a:prstGeom prst="rect">
            <a:avLst/>
          </a:prstGeom>
        </p:spPr>
      </p:pic>
      <p:sp>
        <p:nvSpPr>
          <p:cNvPr id="408" name="TextBox 407">
            <a:extLst>
              <a:ext uri="{FF2B5EF4-FFF2-40B4-BE49-F238E27FC236}">
                <a16:creationId xmlns:a16="http://schemas.microsoft.com/office/drawing/2014/main" id="{77911B3E-09BA-5EC5-B16F-9376BB02E13B}"/>
              </a:ext>
            </a:extLst>
          </p:cNvPr>
          <p:cNvSpPr txBox="1">
            <a:spLocks/>
          </p:cNvSpPr>
          <p:nvPr/>
        </p:nvSpPr>
        <p:spPr>
          <a:xfrm>
            <a:off x="7422879" y="29237580"/>
            <a:ext cx="5388660" cy="25173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202">
                <a:solidFill>
                  <a:srgbClr val="7C8A99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한국정보과학회 프로그래밍언어연구회</a:t>
            </a:r>
          </a:p>
        </p:txBody>
      </p:sp>
      <p:pic>
        <p:nvPicPr>
          <p:cNvPr id="410" name="그림 409">
            <a:extLst>
              <a:ext uri="{FF2B5EF4-FFF2-40B4-BE49-F238E27FC236}">
                <a16:creationId xmlns:a16="http://schemas.microsoft.com/office/drawing/2014/main" id="{B4FEA6C0-BDDF-B2DC-685F-0A2798A3C09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8586" y="28050815"/>
            <a:ext cx="1113656" cy="1114840"/>
          </a:xfrm>
          <a:prstGeom prst="rect">
            <a:avLst/>
          </a:prstGeom>
        </p:spPr>
      </p:pic>
      <p:sp>
        <p:nvSpPr>
          <p:cNvPr id="411" name="TextBox 410">
            <a:extLst>
              <a:ext uri="{FF2B5EF4-FFF2-40B4-BE49-F238E27FC236}">
                <a16:creationId xmlns:a16="http://schemas.microsoft.com/office/drawing/2014/main" id="{E18A5D3A-130B-4E63-804A-32DCFCA0756B}"/>
              </a:ext>
            </a:extLst>
          </p:cNvPr>
          <p:cNvSpPr txBox="1">
            <a:spLocks/>
          </p:cNvSpPr>
          <p:nvPr/>
        </p:nvSpPr>
        <p:spPr>
          <a:xfrm>
            <a:off x="17207788" y="28050815"/>
            <a:ext cx="3592440" cy="3955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2192" b="1">
                <a:solidFill>
                  <a:srgbClr val="791680"/>
                </a:solidFill>
                <a:latin typeface="Times New Roman" panose="02020603050405020304" pitchFamily="18" charset="0"/>
                <a:ea typeface="맑은 고딕" panose="020B0503020000020004" pitchFamily="50" charset="-127"/>
              </a:rPr>
              <a:t>Programming</a:t>
            </a:r>
            <a:endParaRPr lang="ko-KR" altLang="en-US" sz="2192" b="1">
              <a:solidFill>
                <a:srgbClr val="791680"/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412" name="TextBox 411">
            <a:extLst>
              <a:ext uri="{FF2B5EF4-FFF2-40B4-BE49-F238E27FC236}">
                <a16:creationId xmlns:a16="http://schemas.microsoft.com/office/drawing/2014/main" id="{781FB70D-076D-A01F-FE77-6644BF116DAF}"/>
              </a:ext>
            </a:extLst>
          </p:cNvPr>
          <p:cNvSpPr txBox="1">
            <a:spLocks/>
          </p:cNvSpPr>
          <p:nvPr/>
        </p:nvSpPr>
        <p:spPr>
          <a:xfrm>
            <a:off x="17207788" y="28482367"/>
            <a:ext cx="3592440" cy="3955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2192" b="1">
                <a:solidFill>
                  <a:srgbClr val="791680"/>
                </a:solidFill>
                <a:latin typeface="Times New Roman" panose="02020603050405020304" pitchFamily="18" charset="0"/>
                <a:ea typeface="맑은 고딕" panose="020B0503020000020004" pitchFamily="50" charset="-127"/>
              </a:rPr>
              <a:t>Research Laboratory</a:t>
            </a:r>
            <a:endParaRPr lang="ko-KR" altLang="en-US" sz="2192" b="1">
              <a:solidFill>
                <a:srgbClr val="791680"/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413" name="직사각형 412">
            <a:extLst>
              <a:ext uri="{FF2B5EF4-FFF2-40B4-BE49-F238E27FC236}">
                <a16:creationId xmlns:a16="http://schemas.microsoft.com/office/drawing/2014/main" id="{4271A4B3-7B2E-0F08-A0E9-66CD925801B0}"/>
              </a:ext>
            </a:extLst>
          </p:cNvPr>
          <p:cNvSpPr>
            <a:spLocks/>
          </p:cNvSpPr>
          <p:nvPr/>
        </p:nvSpPr>
        <p:spPr>
          <a:xfrm>
            <a:off x="0" y="29615187"/>
            <a:ext cx="21384000" cy="660812"/>
          </a:xfrm>
          <a:prstGeom prst="rect">
            <a:avLst/>
          </a:prstGeom>
          <a:solidFill>
            <a:srgbClr val="00397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23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14</TotalTime>
  <Words>956</Words>
  <Application>Microsoft Office PowerPoint</Application>
  <PresentationFormat>사용자 지정</PresentationFormat>
  <Paragraphs>129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Consolas</vt:lpstr>
      <vt:lpstr>Times New Roman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JungWonJun</dc:creator>
  <cp:lastModifiedBy>JungWonJun</cp:lastModifiedBy>
  <cp:revision>6</cp:revision>
  <dcterms:created xsi:type="dcterms:W3CDTF">2026-08-20T07:14:27Z</dcterms:created>
  <dcterms:modified xsi:type="dcterms:W3CDTF">2026-08-23T08:08:07Z</dcterms:modified>
</cp:coreProperties>
</file>