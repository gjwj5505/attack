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8" d="100"/>
          <a:sy n="18" d="100"/>
        </p:scale>
        <p:origin x="2592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7"/>
            <a:ext cx="18176082" cy="1054025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5" y="15901498"/>
            <a:ext cx="16037719" cy="7309500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2326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0858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90" y="7547788"/>
            <a:ext cx="18443376" cy="12593645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90" y="20260573"/>
            <a:ext cx="18443376" cy="6622700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7615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5" y="8059374"/>
            <a:ext cx="9088041" cy="192093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1" y="8059374"/>
            <a:ext cx="9088041" cy="192093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316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11" y="1611883"/>
            <a:ext cx="18443376" cy="585180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3" y="7421637"/>
            <a:ext cx="9046275" cy="3637228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3" y="11058862"/>
            <a:ext cx="9046275" cy="16265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2" y="7421637"/>
            <a:ext cx="9090826" cy="3637228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2" y="11058862"/>
            <a:ext cx="9090826" cy="16265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663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5858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6048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10" y="2018350"/>
            <a:ext cx="6896776" cy="7064217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7" y="4359076"/>
            <a:ext cx="10825460" cy="21515025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10" y="9082567"/>
            <a:ext cx="6896776" cy="1682657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7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10" y="2018350"/>
            <a:ext cx="6896776" cy="7064217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7" y="4359076"/>
            <a:ext cx="10825460" cy="21515025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10" y="9082567"/>
            <a:ext cx="6896776" cy="1682657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010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0834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8" cy="256568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2101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6" y="1611883"/>
            <a:ext cx="18443376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6" y="8059374"/>
            <a:ext cx="18443376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65E9ED-F255-485F-A6F0-6D5D0758477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7" y="28060644"/>
            <a:ext cx="7216974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E1E5A9-6931-47B6-AA3A-0BC992307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580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1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1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1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1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1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1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1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1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1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1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1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1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1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1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1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1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1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1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1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B33061B-0D4A-89E1-4CFC-74FA313D6FE0}"/>
              </a:ext>
            </a:extLst>
          </p:cNvPr>
          <p:cNvSpPr>
            <a:spLocks/>
          </p:cNvSpPr>
          <p:nvPr/>
        </p:nvSpPr>
        <p:spPr>
          <a:xfrm>
            <a:off x="0" y="0"/>
            <a:ext cx="21384000" cy="30275997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5297DD-2AF7-23A0-CD3C-54DCECCE79B2}"/>
              </a:ext>
            </a:extLst>
          </p:cNvPr>
          <p:cNvSpPr>
            <a:spLocks/>
          </p:cNvSpPr>
          <p:nvPr/>
        </p:nvSpPr>
        <p:spPr>
          <a:xfrm>
            <a:off x="0" y="0"/>
            <a:ext cx="21384000" cy="3524333"/>
          </a:xfrm>
          <a:prstGeom prst="rect">
            <a:avLst/>
          </a:prstGeom>
          <a:solidFill>
            <a:srgbClr val="0039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CB84A9C9-0AE1-EFD7-6D7A-4717E12E9F8A}"/>
              </a:ext>
            </a:extLst>
          </p:cNvPr>
          <p:cNvSpPr txBox="1">
            <a:spLocks/>
          </p:cNvSpPr>
          <p:nvPr/>
        </p:nvSpPr>
        <p:spPr>
          <a:xfrm>
            <a:off x="934034" y="467514"/>
            <a:ext cx="19506950" cy="2877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626" b="1" spc="424" dirty="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SIGPL </a:t>
            </a:r>
            <a:r>
              <a:rPr lang="ko-KR" altLang="en-US" sz="1626" b="1" spc="424" dirty="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여름학교 </a:t>
            </a:r>
            <a:r>
              <a:rPr lang="en-US" altLang="ko-KR" sz="1626" b="1" spc="424" dirty="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2026   ·   </a:t>
            </a:r>
            <a:r>
              <a:rPr lang="ko-KR" altLang="en-US" sz="1626" b="1" spc="424" dirty="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포스터 세션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F1D16C82-1BA7-B2A5-C6F6-8A4C92430B06}"/>
              </a:ext>
            </a:extLst>
          </p:cNvPr>
          <p:cNvSpPr txBox="1">
            <a:spLocks/>
          </p:cNvSpPr>
          <p:nvPr/>
        </p:nvSpPr>
        <p:spPr>
          <a:xfrm>
            <a:off x="1796220" y="995392"/>
            <a:ext cx="17782578" cy="161831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2000"/>
              </a:lnSpc>
            </a:pPr>
            <a:r>
              <a:rPr lang="en-US" altLang="ko-KR" sz="5375" b="1" dirty="0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Big-Step </a:t>
            </a:r>
            <a:r>
              <a:rPr lang="ko-KR" altLang="en-US" sz="5375" b="1" dirty="0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증명나무 합성을 통한 정적 분석기 공격</a:t>
            </a:r>
          </a:p>
        </p:txBody>
      </p:sp>
      <p:cxnSp>
        <p:nvCxnSpPr>
          <p:cNvPr id="209" name="직선 연결선 208">
            <a:extLst>
              <a:ext uri="{FF2B5EF4-FFF2-40B4-BE49-F238E27FC236}">
                <a16:creationId xmlns:a16="http://schemas.microsoft.com/office/drawing/2014/main" id="{E6A308BA-FC33-4A8E-7513-181506A1050C}"/>
              </a:ext>
            </a:extLst>
          </p:cNvPr>
          <p:cNvCxnSpPr>
            <a:cxnSpLocks/>
          </p:cNvCxnSpPr>
          <p:nvPr/>
        </p:nvCxnSpPr>
        <p:spPr>
          <a:xfrm>
            <a:off x="7423418" y="2823782"/>
            <a:ext cx="6526745" cy="0"/>
          </a:xfrm>
          <a:prstGeom prst="line">
            <a:avLst/>
          </a:prstGeom>
          <a:ln w="17962">
            <a:solidFill>
              <a:srgbClr val="A9C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262BDD8A-64ED-FF24-0B62-2897C0A88038}"/>
              </a:ext>
            </a:extLst>
          </p:cNvPr>
          <p:cNvSpPr txBox="1">
            <a:spLocks/>
          </p:cNvSpPr>
          <p:nvPr/>
        </p:nvSpPr>
        <p:spPr>
          <a:xfrm>
            <a:off x="945530" y="2942408"/>
            <a:ext cx="19506950" cy="35962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768" dirty="0">
                <a:solidFill>
                  <a:srgbClr val="D6DEE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정원준     지도교수  이광근     서울대학교 프로그래밍 연구실 </a:t>
            </a:r>
            <a:r>
              <a:rPr lang="en-US" altLang="ko-KR" sz="1768" dirty="0">
                <a:solidFill>
                  <a:srgbClr val="D6DEE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ROPAS</a:t>
            </a:r>
            <a:endParaRPr lang="ko-KR" altLang="en-US" sz="1768" dirty="0">
              <a:solidFill>
                <a:srgbClr val="D6DEE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CB698670-33F3-8B93-8E3E-0D66EC5A83E1}"/>
              </a:ext>
            </a:extLst>
          </p:cNvPr>
          <p:cNvSpPr txBox="1">
            <a:spLocks/>
          </p:cNvSpPr>
          <p:nvPr/>
        </p:nvSpPr>
        <p:spPr>
          <a:xfrm>
            <a:off x="934034" y="4207622"/>
            <a:ext cx="19506950" cy="79117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3536" b="1" dirty="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“프로그램을 먼저 합성하면</a:t>
            </a:r>
            <a:r>
              <a:rPr lang="en-US" altLang="ko-KR" sz="3536" b="1" dirty="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3536" b="1" dirty="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그 프로그램에 실행 의미가</a:t>
            </a:r>
            <a:r>
              <a:rPr lang="en-US" altLang="ko-KR" sz="3536" b="1" dirty="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3536" b="1" dirty="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무엇인지 알 수 없다</a:t>
            </a:r>
            <a:r>
              <a:rPr lang="en-US" altLang="ko-KR" sz="3536" b="1" dirty="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.”</a:t>
            </a:r>
            <a:endParaRPr lang="ko-KR" altLang="en-US" sz="3536" b="1" dirty="0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7AE4F518-777E-5EA5-6D52-AA4DDD9A20A9}"/>
              </a:ext>
            </a:extLst>
          </p:cNvPr>
          <p:cNvSpPr txBox="1">
            <a:spLocks/>
          </p:cNvSpPr>
          <p:nvPr/>
        </p:nvSpPr>
        <p:spPr>
          <a:xfrm>
            <a:off x="934034" y="4984414"/>
            <a:ext cx="19506950" cy="39558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909" dirty="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Rice’s Theorem</a:t>
            </a:r>
            <a:endParaRPr lang="ko-KR" altLang="en-US" sz="1909" dirty="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pic>
        <p:nvPicPr>
          <p:cNvPr id="402" name="그림 401">
            <a:extLst>
              <a:ext uri="{FF2B5EF4-FFF2-40B4-BE49-F238E27FC236}">
                <a16:creationId xmlns:a16="http://schemas.microsoft.com/office/drawing/2014/main" id="{51BB0DBC-35EB-9E06-C78C-7171F22E885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069" y="28050815"/>
            <a:ext cx="1113656" cy="1150803"/>
          </a:xfrm>
          <a:prstGeom prst="rect">
            <a:avLst/>
          </a:prstGeom>
        </p:spPr>
      </p:pic>
      <p:sp>
        <p:nvSpPr>
          <p:cNvPr id="403" name="TextBox 402">
            <a:extLst>
              <a:ext uri="{FF2B5EF4-FFF2-40B4-BE49-F238E27FC236}">
                <a16:creationId xmlns:a16="http://schemas.microsoft.com/office/drawing/2014/main" id="{23C342E0-45CC-BC02-837E-CD8FDCA25CA4}"/>
              </a:ext>
            </a:extLst>
          </p:cNvPr>
          <p:cNvSpPr txBox="1">
            <a:spLocks/>
          </p:cNvSpPr>
          <p:nvPr/>
        </p:nvSpPr>
        <p:spPr>
          <a:xfrm>
            <a:off x="3197272" y="28086779"/>
            <a:ext cx="3592440" cy="3955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2404" b="1" spc="424">
                <a:solidFill>
                  <a:srgbClr val="00397F"/>
                </a:solidFill>
                <a:latin typeface="Times New Roman" panose="02020603050405020304" pitchFamily="18" charset="0"/>
                <a:ea typeface="맑은 고딕" panose="020B0503020000020004" pitchFamily="50" charset="-127"/>
              </a:rPr>
              <a:t>SEOUL</a:t>
            </a:r>
            <a:endParaRPr lang="ko-KR" altLang="en-US" sz="2404" b="1" spc="424">
              <a:solidFill>
                <a:srgbClr val="00397F"/>
              </a:solidFill>
              <a:latin typeface="Times New Roman" panose="02020603050405020304" pitchFamily="18" charset="0"/>
              <a:ea typeface="맑은 고딕" panose="020B0503020000020004" pitchFamily="50" charset="-127"/>
            </a:endParaRPr>
          </a:p>
        </p:txBody>
      </p:sp>
      <p:sp>
        <p:nvSpPr>
          <p:cNvPr id="404" name="TextBox 403">
            <a:extLst>
              <a:ext uri="{FF2B5EF4-FFF2-40B4-BE49-F238E27FC236}">
                <a16:creationId xmlns:a16="http://schemas.microsoft.com/office/drawing/2014/main" id="{29161D58-DE33-7546-2513-A02E3B0D01F8}"/>
              </a:ext>
            </a:extLst>
          </p:cNvPr>
          <p:cNvSpPr txBox="1">
            <a:spLocks/>
          </p:cNvSpPr>
          <p:nvPr/>
        </p:nvSpPr>
        <p:spPr>
          <a:xfrm>
            <a:off x="3197272" y="28518327"/>
            <a:ext cx="3592440" cy="26971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1485" spc="339">
                <a:solidFill>
                  <a:srgbClr val="00397F"/>
                </a:solidFill>
                <a:latin typeface="Times New Roman" panose="02020603050405020304" pitchFamily="18" charset="0"/>
                <a:ea typeface="맑은 고딕" panose="020B0503020000020004" pitchFamily="50" charset="-127"/>
              </a:rPr>
              <a:t>NATIONAL</a:t>
            </a:r>
            <a:endParaRPr lang="ko-KR" altLang="en-US" sz="1485" spc="339">
              <a:solidFill>
                <a:srgbClr val="00397F"/>
              </a:solidFill>
              <a:latin typeface="Times New Roman" panose="02020603050405020304" pitchFamily="18" charset="0"/>
              <a:ea typeface="맑은 고딕" panose="020B0503020000020004" pitchFamily="50" charset="-127"/>
            </a:endParaRPr>
          </a:p>
        </p:txBody>
      </p:sp>
      <p:sp>
        <p:nvSpPr>
          <p:cNvPr id="405" name="TextBox 404">
            <a:extLst>
              <a:ext uri="{FF2B5EF4-FFF2-40B4-BE49-F238E27FC236}">
                <a16:creationId xmlns:a16="http://schemas.microsoft.com/office/drawing/2014/main" id="{3B766AA2-B385-EAA9-F739-CF4E4E06FB7F}"/>
              </a:ext>
            </a:extLst>
          </p:cNvPr>
          <p:cNvSpPr txBox="1">
            <a:spLocks/>
          </p:cNvSpPr>
          <p:nvPr/>
        </p:nvSpPr>
        <p:spPr>
          <a:xfrm>
            <a:off x="3197272" y="28806031"/>
            <a:ext cx="3592440" cy="26971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1485" spc="339">
                <a:solidFill>
                  <a:srgbClr val="00397F"/>
                </a:solidFill>
                <a:latin typeface="Times New Roman" panose="02020603050405020304" pitchFamily="18" charset="0"/>
                <a:ea typeface="맑은 고딕" panose="020B0503020000020004" pitchFamily="50" charset="-127"/>
              </a:rPr>
              <a:t>UNIVERSITY</a:t>
            </a:r>
            <a:endParaRPr lang="ko-KR" altLang="en-US" sz="1485" spc="339">
              <a:solidFill>
                <a:srgbClr val="00397F"/>
              </a:solidFill>
              <a:latin typeface="Times New Roman" panose="02020603050405020304" pitchFamily="18" charset="0"/>
              <a:ea typeface="맑은 고딕" panose="020B0503020000020004" pitchFamily="50" charset="-127"/>
            </a:endParaRPr>
          </a:p>
        </p:txBody>
      </p:sp>
      <p:pic>
        <p:nvPicPr>
          <p:cNvPr id="407" name="그림 406">
            <a:extLst>
              <a:ext uri="{FF2B5EF4-FFF2-40B4-BE49-F238E27FC236}">
                <a16:creationId xmlns:a16="http://schemas.microsoft.com/office/drawing/2014/main" id="{3B453273-3204-9336-920E-203456C4CC7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2419" y="27978891"/>
            <a:ext cx="1149581" cy="1168784"/>
          </a:xfrm>
          <a:prstGeom prst="rect">
            <a:avLst/>
          </a:prstGeom>
        </p:spPr>
      </p:pic>
      <p:sp>
        <p:nvSpPr>
          <p:cNvPr id="408" name="TextBox 407">
            <a:extLst>
              <a:ext uri="{FF2B5EF4-FFF2-40B4-BE49-F238E27FC236}">
                <a16:creationId xmlns:a16="http://schemas.microsoft.com/office/drawing/2014/main" id="{77911B3E-09BA-5EC5-B16F-9376BB02E13B}"/>
              </a:ext>
            </a:extLst>
          </p:cNvPr>
          <p:cNvSpPr txBox="1">
            <a:spLocks/>
          </p:cNvSpPr>
          <p:nvPr/>
        </p:nvSpPr>
        <p:spPr>
          <a:xfrm>
            <a:off x="7422879" y="29237580"/>
            <a:ext cx="5388660" cy="25173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20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한국정보과학회 프로그래밍언어연구회</a:t>
            </a:r>
          </a:p>
        </p:txBody>
      </p:sp>
      <p:pic>
        <p:nvPicPr>
          <p:cNvPr id="410" name="그림 409">
            <a:extLst>
              <a:ext uri="{FF2B5EF4-FFF2-40B4-BE49-F238E27FC236}">
                <a16:creationId xmlns:a16="http://schemas.microsoft.com/office/drawing/2014/main" id="{B4FEA6C0-BDDF-B2DC-685F-0A2798A3C09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8586" y="28050815"/>
            <a:ext cx="1113656" cy="1114840"/>
          </a:xfrm>
          <a:prstGeom prst="rect">
            <a:avLst/>
          </a:prstGeom>
        </p:spPr>
      </p:pic>
      <p:sp>
        <p:nvSpPr>
          <p:cNvPr id="411" name="TextBox 410">
            <a:extLst>
              <a:ext uri="{FF2B5EF4-FFF2-40B4-BE49-F238E27FC236}">
                <a16:creationId xmlns:a16="http://schemas.microsoft.com/office/drawing/2014/main" id="{E18A5D3A-130B-4E63-804A-32DCFCA0756B}"/>
              </a:ext>
            </a:extLst>
          </p:cNvPr>
          <p:cNvSpPr txBox="1">
            <a:spLocks/>
          </p:cNvSpPr>
          <p:nvPr/>
        </p:nvSpPr>
        <p:spPr>
          <a:xfrm>
            <a:off x="17207788" y="28050815"/>
            <a:ext cx="3592440" cy="3955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2192" b="1">
                <a:solidFill>
                  <a:srgbClr val="791680"/>
                </a:solidFill>
                <a:latin typeface="Times New Roman" panose="02020603050405020304" pitchFamily="18" charset="0"/>
                <a:ea typeface="맑은 고딕" panose="020B0503020000020004" pitchFamily="50" charset="-127"/>
              </a:rPr>
              <a:t>Programming</a:t>
            </a:r>
            <a:endParaRPr lang="ko-KR" altLang="en-US" sz="2192" b="1">
              <a:solidFill>
                <a:srgbClr val="791680"/>
              </a:solidFill>
              <a:latin typeface="Times New Roman" panose="02020603050405020304" pitchFamily="18" charset="0"/>
              <a:ea typeface="맑은 고딕" panose="020B0503020000020004" pitchFamily="50" charset="-127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81FB70D-076D-A01F-FE77-6644BF116DAF}"/>
              </a:ext>
            </a:extLst>
          </p:cNvPr>
          <p:cNvSpPr txBox="1">
            <a:spLocks/>
          </p:cNvSpPr>
          <p:nvPr/>
        </p:nvSpPr>
        <p:spPr>
          <a:xfrm>
            <a:off x="17207788" y="28482367"/>
            <a:ext cx="3592440" cy="3955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2192" b="1">
                <a:solidFill>
                  <a:srgbClr val="791680"/>
                </a:solidFill>
                <a:latin typeface="Times New Roman" panose="02020603050405020304" pitchFamily="18" charset="0"/>
                <a:ea typeface="맑은 고딕" panose="020B0503020000020004" pitchFamily="50" charset="-127"/>
              </a:rPr>
              <a:t>Research Laboratory</a:t>
            </a:r>
            <a:endParaRPr lang="ko-KR" altLang="en-US" sz="2192" b="1">
              <a:solidFill>
                <a:srgbClr val="791680"/>
              </a:solidFill>
              <a:latin typeface="Times New Roman" panose="02020603050405020304" pitchFamily="18" charset="0"/>
              <a:ea typeface="맑은 고딕" panose="020B0503020000020004" pitchFamily="50" charset="-127"/>
            </a:endParaRPr>
          </a:p>
        </p:txBody>
      </p:sp>
      <p:sp>
        <p:nvSpPr>
          <p:cNvPr id="413" name="직사각형 412">
            <a:extLst>
              <a:ext uri="{FF2B5EF4-FFF2-40B4-BE49-F238E27FC236}">
                <a16:creationId xmlns:a16="http://schemas.microsoft.com/office/drawing/2014/main" id="{4271A4B3-7B2E-0F08-A0E9-66CD925801B0}"/>
              </a:ext>
            </a:extLst>
          </p:cNvPr>
          <p:cNvSpPr>
            <a:spLocks/>
          </p:cNvSpPr>
          <p:nvPr/>
        </p:nvSpPr>
        <p:spPr>
          <a:xfrm>
            <a:off x="0" y="29615187"/>
            <a:ext cx="21384000" cy="660812"/>
          </a:xfrm>
          <a:prstGeom prst="rect">
            <a:avLst/>
          </a:prstGeom>
          <a:solidFill>
            <a:srgbClr val="00397F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118BFF4C-CE8D-E40C-AF2D-10DA3EDD4644}"/>
              </a:ext>
            </a:extLst>
          </p:cNvPr>
          <p:cNvSpPr txBox="1"/>
          <p:nvPr/>
        </p:nvSpPr>
        <p:spPr>
          <a:xfrm>
            <a:off x="939800" y="5740400"/>
            <a:ext cx="787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3500" b="1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01</a:t>
            </a:r>
            <a:endParaRPr lang="ko-KR" altLang="en-US" sz="3500" b="1">
              <a:solidFill>
                <a:srgbClr val="3A72B8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567AED64-3B35-6655-2031-1183587DCA16}"/>
              </a:ext>
            </a:extLst>
          </p:cNvPr>
          <p:cNvSpPr txBox="1"/>
          <p:nvPr/>
        </p:nvSpPr>
        <p:spPr>
          <a:xfrm>
            <a:off x="1828800" y="5740400"/>
            <a:ext cx="85217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35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분석기 공격이란</a:t>
            </a:r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AA2D3640-54A6-C524-A4D8-5AF3AB2CC977}"/>
              </a:ext>
            </a:extLst>
          </p:cNvPr>
          <p:cNvSpPr txBox="1"/>
          <p:nvPr/>
        </p:nvSpPr>
        <p:spPr>
          <a:xfrm>
            <a:off x="939800" y="6502400"/>
            <a:ext cx="94107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라이스 정리 </a:t>
            </a:r>
            <a:r>
              <a:rPr lang="en-US" altLang="ko-KR" sz="129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Rice's Theorem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때문에 분석기는 안전성 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· 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유한성 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· 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정밀도 셋 중 하나는 반드시 포기한다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900" b="1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472" name="사각형: 둥근 모서리 471">
            <a:extLst>
              <a:ext uri="{FF2B5EF4-FFF2-40B4-BE49-F238E27FC236}">
                <a16:creationId xmlns:a16="http://schemas.microsoft.com/office/drawing/2014/main" id="{381C7665-265C-7DE4-9054-86087EAA79C9}"/>
              </a:ext>
            </a:extLst>
          </p:cNvPr>
          <p:cNvSpPr/>
          <p:nvPr/>
        </p:nvSpPr>
        <p:spPr>
          <a:xfrm>
            <a:off x="939800" y="7366000"/>
            <a:ext cx="3001433" cy="889000"/>
          </a:xfrm>
          <a:prstGeom prst="roundRect">
            <a:avLst>
              <a:gd name="adj" fmla="val 15714"/>
            </a:avLst>
          </a:prstGeom>
          <a:solidFill>
            <a:srgbClr val="00397F"/>
          </a:solidFill>
          <a:ln w="15240">
            <a:solidFill>
              <a:srgbClr val="0039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28AD5DC0-90CD-FA4D-5D85-5E11F505E697}"/>
              </a:ext>
            </a:extLst>
          </p:cNvPr>
          <p:cNvSpPr txBox="1"/>
          <p:nvPr/>
        </p:nvSpPr>
        <p:spPr>
          <a:xfrm>
            <a:off x="1041400" y="7505700"/>
            <a:ext cx="2798233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7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안전성</a:t>
            </a:r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743F2EEB-949A-2C61-FD6A-6FFD04A501D4}"/>
              </a:ext>
            </a:extLst>
          </p:cNvPr>
          <p:cNvSpPr txBox="1"/>
          <p:nvPr/>
        </p:nvSpPr>
        <p:spPr>
          <a:xfrm>
            <a:off x="1066800" y="7823200"/>
            <a:ext cx="2747433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soundness · </a:t>
            </a:r>
            <a:r>
              <a:rPr lang="ko-KR" altLang="en-US" sz="130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실제 값을 빠뜨리지 않음</a:t>
            </a:r>
          </a:p>
        </p:txBody>
      </p:sp>
      <p:sp>
        <p:nvSpPr>
          <p:cNvPr id="475" name="사각형: 둥근 모서리 474">
            <a:extLst>
              <a:ext uri="{FF2B5EF4-FFF2-40B4-BE49-F238E27FC236}">
                <a16:creationId xmlns:a16="http://schemas.microsoft.com/office/drawing/2014/main" id="{4CF2BC20-F055-320F-72D1-122C1E2784C2}"/>
              </a:ext>
            </a:extLst>
          </p:cNvPr>
          <p:cNvSpPr/>
          <p:nvPr/>
        </p:nvSpPr>
        <p:spPr>
          <a:xfrm>
            <a:off x="4144433" y="7366000"/>
            <a:ext cx="3001434" cy="889000"/>
          </a:xfrm>
          <a:prstGeom prst="roundRect">
            <a:avLst>
              <a:gd name="adj" fmla="val 15714"/>
            </a:avLst>
          </a:prstGeom>
          <a:solidFill>
            <a:srgbClr val="00397F"/>
          </a:solidFill>
          <a:ln w="15240">
            <a:solidFill>
              <a:srgbClr val="0039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CBB3D7C6-BF85-4273-8933-3296BCB06D1A}"/>
              </a:ext>
            </a:extLst>
          </p:cNvPr>
          <p:cNvSpPr txBox="1"/>
          <p:nvPr/>
        </p:nvSpPr>
        <p:spPr>
          <a:xfrm>
            <a:off x="4246033" y="7505700"/>
            <a:ext cx="2798233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7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유한성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A8E341C0-38A4-2AFF-29CF-B59FA019224A}"/>
              </a:ext>
            </a:extLst>
          </p:cNvPr>
          <p:cNvSpPr txBox="1"/>
          <p:nvPr/>
        </p:nvSpPr>
        <p:spPr>
          <a:xfrm>
            <a:off x="4271433" y="7823200"/>
            <a:ext cx="2747433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termination · </a:t>
            </a:r>
            <a:r>
              <a:rPr lang="ko-KR" altLang="en-US" sz="130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언젠가 멈춤</a:t>
            </a:r>
          </a:p>
        </p:txBody>
      </p:sp>
      <p:sp>
        <p:nvSpPr>
          <p:cNvPr id="478" name="사각형: 둥근 모서리 477">
            <a:extLst>
              <a:ext uri="{FF2B5EF4-FFF2-40B4-BE49-F238E27FC236}">
                <a16:creationId xmlns:a16="http://schemas.microsoft.com/office/drawing/2014/main" id="{13E10BC3-1D64-ED7A-ABF9-856B0448087F}"/>
              </a:ext>
            </a:extLst>
          </p:cNvPr>
          <p:cNvSpPr/>
          <p:nvPr/>
        </p:nvSpPr>
        <p:spPr>
          <a:xfrm>
            <a:off x="7349067" y="7366000"/>
            <a:ext cx="3001433" cy="889000"/>
          </a:xfrm>
          <a:prstGeom prst="roundRect">
            <a:avLst>
              <a:gd name="adj" fmla="val 15714"/>
            </a:avLst>
          </a:prstGeom>
          <a:solidFill>
            <a:srgbClr val="FFFFFF"/>
          </a:solidFill>
          <a:ln w="15240">
            <a:solidFill>
              <a:srgbClr val="3A72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204297F3-1AFB-AA7B-FB4C-D3B2FD4477D4}"/>
              </a:ext>
            </a:extLst>
          </p:cNvPr>
          <p:cNvSpPr txBox="1"/>
          <p:nvPr/>
        </p:nvSpPr>
        <p:spPr>
          <a:xfrm>
            <a:off x="7450667" y="7505700"/>
            <a:ext cx="2798233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700" b="1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정밀도</a:t>
            </a: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9D1D568B-6156-1E1A-992E-61789C3805B6}"/>
              </a:ext>
            </a:extLst>
          </p:cNvPr>
          <p:cNvSpPr txBox="1"/>
          <p:nvPr/>
        </p:nvSpPr>
        <p:spPr>
          <a:xfrm>
            <a:off x="7476067" y="7823200"/>
            <a:ext cx="2747433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completeness · </a:t>
            </a:r>
            <a:r>
              <a:rPr lang="ko-KR" altLang="en-US" sz="1300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쓸데없이 넓힘</a:t>
            </a:r>
          </a:p>
        </p:txBody>
      </p:sp>
      <p:sp>
        <p:nvSpPr>
          <p:cNvPr id="481" name="TextBox 480">
            <a:extLst>
              <a:ext uri="{FF2B5EF4-FFF2-40B4-BE49-F238E27FC236}">
                <a16:creationId xmlns:a16="http://schemas.microsoft.com/office/drawing/2014/main" id="{7F19BBF7-B7FF-63F6-7F3D-86145A32664F}"/>
              </a:ext>
            </a:extLst>
          </p:cNvPr>
          <p:cNvSpPr txBox="1"/>
          <p:nvPr/>
        </p:nvSpPr>
        <p:spPr>
          <a:xfrm>
            <a:off x="939800" y="8382000"/>
            <a:ext cx="94107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40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셋 다 만족하는 분석기는 없다</a:t>
            </a:r>
            <a:r>
              <a:rPr lang="en-US" altLang="ko-KR" sz="140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40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우리는 앞의 둘을 지키는 분석기를 공격한다</a:t>
            </a:r>
            <a:r>
              <a:rPr lang="en-US" altLang="ko-KR" sz="140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400">
              <a:solidFill>
                <a:srgbClr val="7C8A99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482" name="TextBox 481">
            <a:extLst>
              <a:ext uri="{FF2B5EF4-FFF2-40B4-BE49-F238E27FC236}">
                <a16:creationId xmlns:a16="http://schemas.microsoft.com/office/drawing/2014/main" id="{E7DAA140-E52B-91BF-F7B2-5C1B4761B28D}"/>
              </a:ext>
            </a:extLst>
          </p:cNvPr>
          <p:cNvSpPr txBox="1"/>
          <p:nvPr/>
        </p:nvSpPr>
        <p:spPr>
          <a:xfrm>
            <a:off x="939800" y="8813800"/>
            <a:ext cx="9410700" cy="660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그러면 남는 것은 정밀도 하나다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그것이 어느 지점에서 깨지는지를 사람 없이 자동으로 찾아내는 일이 곧 공격이다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50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483" name="사각형: 둥근 모서리 482">
            <a:extLst>
              <a:ext uri="{FF2B5EF4-FFF2-40B4-BE49-F238E27FC236}">
                <a16:creationId xmlns:a16="http://schemas.microsoft.com/office/drawing/2014/main" id="{5F249D3D-F641-985D-CC45-F109E29E2075}"/>
              </a:ext>
            </a:extLst>
          </p:cNvPr>
          <p:cNvSpPr/>
          <p:nvPr/>
        </p:nvSpPr>
        <p:spPr>
          <a:xfrm>
            <a:off x="939800" y="9575800"/>
            <a:ext cx="9410700" cy="584200"/>
          </a:xfrm>
          <a:prstGeom prst="roundRect">
            <a:avLst>
              <a:gd name="adj" fmla="val 21739"/>
            </a:avLst>
          </a:prstGeom>
          <a:solidFill>
            <a:srgbClr val="0039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4" name="TextBox 483">
            <a:extLst>
              <a:ext uri="{FF2B5EF4-FFF2-40B4-BE49-F238E27FC236}">
                <a16:creationId xmlns:a16="http://schemas.microsoft.com/office/drawing/2014/main" id="{DE7067E8-42CA-3811-0994-EE831328B404}"/>
              </a:ext>
            </a:extLst>
          </p:cNvPr>
          <p:cNvSpPr txBox="1"/>
          <p:nvPr/>
        </p:nvSpPr>
        <p:spPr>
          <a:xfrm>
            <a:off x="1244600" y="9575800"/>
            <a:ext cx="88011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6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요약 결과가 모든 값 </a:t>
            </a:r>
            <a:r>
              <a:rPr lang="en-US" altLang="ko-KR" sz="1088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top = (-inf, +inf)</a:t>
            </a:r>
            <a:r>
              <a:rPr lang="ko-KR" altLang="en-US" sz="16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으로 무너지는 지점이 가장 좋은 공격</a:t>
            </a:r>
          </a:p>
        </p:txBody>
      </p:sp>
      <p:sp>
        <p:nvSpPr>
          <p:cNvPr id="485" name="사각형: 둥근 모서리 484">
            <a:extLst>
              <a:ext uri="{FF2B5EF4-FFF2-40B4-BE49-F238E27FC236}">
                <a16:creationId xmlns:a16="http://schemas.microsoft.com/office/drawing/2014/main" id="{6CA28103-F676-389D-19CF-006CEC6D749A}"/>
              </a:ext>
            </a:extLst>
          </p:cNvPr>
          <p:cNvSpPr/>
          <p:nvPr/>
        </p:nvSpPr>
        <p:spPr>
          <a:xfrm>
            <a:off x="939800" y="10363200"/>
            <a:ext cx="9410700" cy="1219200"/>
          </a:xfrm>
          <a:prstGeom prst="roundRect">
            <a:avLst>
              <a:gd name="adj" fmla="val 10417"/>
            </a:avLst>
          </a:prstGeom>
          <a:solidFill>
            <a:srgbClr val="2E34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474A0DD6-280C-A0C9-1B52-E123D7F885EA}"/>
              </a:ext>
            </a:extLst>
          </p:cNvPr>
          <p:cNvSpPr txBox="1"/>
          <p:nvPr/>
        </p:nvSpPr>
        <p:spPr>
          <a:xfrm>
            <a:off x="1295400" y="10591800"/>
            <a:ext cx="86995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5000"/>
              </a:lnSpc>
            </a:pP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x = </a:t>
            </a:r>
            <a:r>
              <a:rPr lang="en-US" altLang="ko-KR" sz="1500">
                <a:solidFill>
                  <a:srgbClr val="EBCB8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1</a:t>
            </a: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;
</a:t>
            </a:r>
            <a:r>
              <a:rPr lang="en-US" altLang="ko-KR" sz="1500">
                <a:solidFill>
                  <a:srgbClr val="88C0D0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while</a:t>
            </a: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 (-x) { x = </a:t>
            </a:r>
            <a:r>
              <a:rPr lang="en-US" altLang="ko-KR" sz="1500">
                <a:solidFill>
                  <a:srgbClr val="EBCB8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0</a:t>
            </a: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; }
x = x * x;</a:t>
            </a:r>
            <a:endParaRPr lang="ko-KR" altLang="en-US" sz="1500">
              <a:solidFill>
                <a:srgbClr val="D8DEE9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DF16501B-C333-7B6F-7E54-5D63563D71B4}"/>
              </a:ext>
            </a:extLst>
          </p:cNvPr>
          <p:cNvSpPr txBox="1"/>
          <p:nvPr/>
        </p:nvSpPr>
        <p:spPr>
          <a:xfrm>
            <a:off x="939800" y="11709400"/>
            <a:ext cx="4318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500" b="1">
                <a:solidFill>
                  <a:srgbClr val="1A222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구체 실행  </a:t>
            </a:r>
            <a:r>
              <a:rPr lang="en-US" altLang="ko-KR" sz="1500" b="1">
                <a:solidFill>
                  <a:srgbClr val="1A222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x = 0</a:t>
            </a:r>
            <a:endParaRPr lang="ko-KR" altLang="en-US" sz="1500" b="1">
              <a:solidFill>
                <a:srgbClr val="1A222B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F0A08EF3-87F6-5F50-0BE9-0FD8081506F4}"/>
              </a:ext>
            </a:extLst>
          </p:cNvPr>
          <p:cNvSpPr txBox="1"/>
          <p:nvPr/>
        </p:nvSpPr>
        <p:spPr>
          <a:xfrm>
            <a:off x="5257800" y="11709400"/>
            <a:ext cx="50927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95000"/>
              </a:lnSpc>
            </a:pPr>
            <a:r>
              <a:rPr lang="ko-KR" altLang="en-US" sz="1500" b="1">
                <a:solidFill>
                  <a:srgbClr val="3A72B8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분석 결과  </a:t>
            </a:r>
            <a:r>
              <a:rPr lang="en-US" altLang="ko-KR" sz="1500" b="1">
                <a:solidFill>
                  <a:srgbClr val="3A72B8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x |-&gt; [-inf, inf] = top</a:t>
            </a:r>
            <a:endParaRPr lang="ko-KR" altLang="en-US" sz="1500" b="1">
              <a:solidFill>
                <a:srgbClr val="3A72B8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sp>
        <p:nvSpPr>
          <p:cNvPr id="489" name="TextBox 488">
            <a:extLst>
              <a:ext uri="{FF2B5EF4-FFF2-40B4-BE49-F238E27FC236}">
                <a16:creationId xmlns:a16="http://schemas.microsoft.com/office/drawing/2014/main" id="{D9A3C9A8-E11A-5099-5D46-4A85D525954F}"/>
              </a:ext>
            </a:extLst>
          </p:cNvPr>
          <p:cNvSpPr txBox="1"/>
          <p:nvPr/>
        </p:nvSpPr>
        <p:spPr>
          <a:xfrm>
            <a:off x="939800" y="12141200"/>
            <a:ext cx="94107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조건식 </a:t>
            </a:r>
            <a:r>
              <a:rPr lang="en-US" altLang="ko-KR" sz="918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guard</a:t>
            </a: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이 </a:t>
            </a:r>
            <a:r>
              <a:rPr lang="en-US" altLang="ko-KR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x</a:t>
            </a: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가 아니라 </a:t>
            </a:r>
            <a:r>
              <a:rPr lang="en-US" altLang="ko-KR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-x</a:t>
            </a: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라 끝난 뒤 걸러내기가 약하고</a:t>
            </a:r>
            <a:r>
              <a:rPr lang="en-US" altLang="ko-KR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x * x</a:t>
            </a: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는 두 항 </a:t>
            </a:r>
            <a:r>
              <a:rPr lang="en-US" altLang="ko-KR" sz="918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operand</a:t>
            </a: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이 같은 변수라는 관계를 잃는다</a:t>
            </a:r>
            <a:r>
              <a:rPr lang="en-US" altLang="ko-KR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이전 자체 분석기 엔진에서 찾은 예다</a:t>
            </a:r>
            <a:r>
              <a:rPr lang="en-US" altLang="ko-KR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35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652D84AD-AE39-86F8-D862-17D54955896F}"/>
              </a:ext>
            </a:extLst>
          </p:cNvPr>
          <p:cNvSpPr txBox="1"/>
          <p:nvPr/>
        </p:nvSpPr>
        <p:spPr>
          <a:xfrm>
            <a:off x="11036300" y="5740400"/>
            <a:ext cx="787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3500" b="1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02</a:t>
            </a:r>
            <a:endParaRPr lang="ko-KR" altLang="en-US" sz="3500" b="1">
              <a:solidFill>
                <a:srgbClr val="3A72B8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935F2DE-5010-73D7-F044-B17E19ECA4EE}"/>
              </a:ext>
            </a:extLst>
          </p:cNvPr>
          <p:cNvSpPr txBox="1"/>
          <p:nvPr/>
        </p:nvSpPr>
        <p:spPr>
          <a:xfrm>
            <a:off x="11925300" y="5740400"/>
            <a:ext cx="85217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35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분석기 개발 사이클</a:t>
            </a:r>
          </a:p>
        </p:txBody>
      </p:sp>
      <p:sp>
        <p:nvSpPr>
          <p:cNvPr id="492" name="TextBox 491">
            <a:extLst>
              <a:ext uri="{FF2B5EF4-FFF2-40B4-BE49-F238E27FC236}">
                <a16:creationId xmlns:a16="http://schemas.microsoft.com/office/drawing/2014/main" id="{8DE4538C-6B85-D33F-35E1-6503B8D2A32C}"/>
              </a:ext>
            </a:extLst>
          </p:cNvPr>
          <p:cNvSpPr txBox="1"/>
          <p:nvPr/>
        </p:nvSpPr>
        <p:spPr>
          <a:xfrm>
            <a:off x="11036300" y="6502400"/>
            <a:ext cx="94107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공격은 개발 사이클의 한 단계다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찾아낸 공격이 다음 분석기의 설계로 되먹임된다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900" b="1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493" name="사각형: 둥근 모서리 492">
            <a:extLst>
              <a:ext uri="{FF2B5EF4-FFF2-40B4-BE49-F238E27FC236}">
                <a16:creationId xmlns:a16="http://schemas.microsoft.com/office/drawing/2014/main" id="{9F58FD62-E5D7-2668-70D6-7CB2D5BA36A3}"/>
              </a:ext>
            </a:extLst>
          </p:cNvPr>
          <p:cNvSpPr/>
          <p:nvPr/>
        </p:nvSpPr>
        <p:spPr>
          <a:xfrm>
            <a:off x="11036300" y="7416800"/>
            <a:ext cx="9410700" cy="2489200"/>
          </a:xfrm>
          <a:prstGeom prst="roundRect">
            <a:avLst>
              <a:gd name="adj" fmla="val 8163"/>
            </a:avLst>
          </a:prstGeom>
          <a:solidFill>
            <a:srgbClr val="EFF4F8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4" name="사각형: 둥근 모서리 493">
            <a:extLst>
              <a:ext uri="{FF2B5EF4-FFF2-40B4-BE49-F238E27FC236}">
                <a16:creationId xmlns:a16="http://schemas.microsoft.com/office/drawing/2014/main" id="{94F23207-510C-EC26-8DE1-4A944ECE2BD7}"/>
              </a:ext>
            </a:extLst>
          </p:cNvPr>
          <p:cNvSpPr/>
          <p:nvPr/>
        </p:nvSpPr>
        <p:spPr>
          <a:xfrm>
            <a:off x="11239500" y="7772400"/>
            <a:ext cx="1905000" cy="838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5" name="TextBox 494">
            <a:extLst>
              <a:ext uri="{FF2B5EF4-FFF2-40B4-BE49-F238E27FC236}">
                <a16:creationId xmlns:a16="http://schemas.microsoft.com/office/drawing/2014/main" id="{9BDD386B-6F5C-5277-856D-FF843B208C59}"/>
              </a:ext>
            </a:extLst>
          </p:cNvPr>
          <p:cNvSpPr txBox="1"/>
          <p:nvPr/>
        </p:nvSpPr>
        <p:spPr>
          <a:xfrm>
            <a:off x="11341100" y="7912100"/>
            <a:ext cx="1701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6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디자인</a:t>
            </a:r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3EF9270F-ED03-49DA-456B-F816714C9085}"/>
              </a:ext>
            </a:extLst>
          </p:cNvPr>
          <p:cNvSpPr txBox="1"/>
          <p:nvPr/>
        </p:nvSpPr>
        <p:spPr>
          <a:xfrm>
            <a:off x="11366500" y="8229600"/>
            <a:ext cx="1651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무엇을 어떻게 어림잡을지</a:t>
            </a:r>
          </a:p>
        </p:txBody>
      </p:sp>
      <p:sp>
        <p:nvSpPr>
          <p:cNvPr id="497" name="사각형: 둥근 모서리 496">
            <a:extLst>
              <a:ext uri="{FF2B5EF4-FFF2-40B4-BE49-F238E27FC236}">
                <a16:creationId xmlns:a16="http://schemas.microsoft.com/office/drawing/2014/main" id="{5F3EA486-A3D4-285D-54B5-316FA7299D40}"/>
              </a:ext>
            </a:extLst>
          </p:cNvPr>
          <p:cNvSpPr/>
          <p:nvPr/>
        </p:nvSpPr>
        <p:spPr>
          <a:xfrm>
            <a:off x="13601700" y="7772400"/>
            <a:ext cx="1905000" cy="838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8" name="TextBox 497">
            <a:extLst>
              <a:ext uri="{FF2B5EF4-FFF2-40B4-BE49-F238E27FC236}">
                <a16:creationId xmlns:a16="http://schemas.microsoft.com/office/drawing/2014/main" id="{5E36629C-FEB8-DDCA-96C4-EFC3873C4A38}"/>
              </a:ext>
            </a:extLst>
          </p:cNvPr>
          <p:cNvSpPr txBox="1"/>
          <p:nvPr/>
        </p:nvSpPr>
        <p:spPr>
          <a:xfrm>
            <a:off x="13703300" y="7912100"/>
            <a:ext cx="1701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6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개발</a:t>
            </a:r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3D904D2F-D364-CE31-A77F-AB37FA0AFAEE}"/>
              </a:ext>
            </a:extLst>
          </p:cNvPr>
          <p:cNvSpPr txBox="1"/>
          <p:nvPr/>
        </p:nvSpPr>
        <p:spPr>
          <a:xfrm>
            <a:off x="13728700" y="8229600"/>
            <a:ext cx="1651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실제로 구현</a:t>
            </a:r>
          </a:p>
        </p:txBody>
      </p:sp>
      <p:sp>
        <p:nvSpPr>
          <p:cNvPr id="500" name="사각형: 둥근 모서리 499">
            <a:extLst>
              <a:ext uri="{FF2B5EF4-FFF2-40B4-BE49-F238E27FC236}">
                <a16:creationId xmlns:a16="http://schemas.microsoft.com/office/drawing/2014/main" id="{B59027B5-5150-D40A-38D0-76FDBCA69D0E}"/>
              </a:ext>
            </a:extLst>
          </p:cNvPr>
          <p:cNvSpPr/>
          <p:nvPr/>
        </p:nvSpPr>
        <p:spPr>
          <a:xfrm>
            <a:off x="15963900" y="7772400"/>
            <a:ext cx="1905000" cy="838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D8C29522-10DD-37A1-EEF7-89A1BBB793F5}"/>
              </a:ext>
            </a:extLst>
          </p:cNvPr>
          <p:cNvSpPr txBox="1"/>
          <p:nvPr/>
        </p:nvSpPr>
        <p:spPr>
          <a:xfrm>
            <a:off x="16065500" y="7912100"/>
            <a:ext cx="1701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6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증명</a:t>
            </a:r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2130ABA7-2225-99F1-8529-AE8FCA8E7D7F}"/>
              </a:ext>
            </a:extLst>
          </p:cNvPr>
          <p:cNvSpPr txBox="1"/>
          <p:nvPr/>
        </p:nvSpPr>
        <p:spPr>
          <a:xfrm>
            <a:off x="16090900" y="8229600"/>
            <a:ext cx="1651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안전함 </a:t>
            </a:r>
            <a:r>
              <a:rPr lang="en-US" altLang="ko-KR" sz="884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sound</a:t>
            </a:r>
            <a:r>
              <a:rPr lang="ko-KR" altLang="en-US" sz="13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을 보임</a:t>
            </a:r>
          </a:p>
        </p:txBody>
      </p:sp>
      <p:sp>
        <p:nvSpPr>
          <p:cNvPr id="503" name="사각형: 둥근 모서리 502">
            <a:extLst>
              <a:ext uri="{FF2B5EF4-FFF2-40B4-BE49-F238E27FC236}">
                <a16:creationId xmlns:a16="http://schemas.microsoft.com/office/drawing/2014/main" id="{B7AAAED5-A7AE-1C2A-4DD5-528A9443FBF7}"/>
              </a:ext>
            </a:extLst>
          </p:cNvPr>
          <p:cNvSpPr/>
          <p:nvPr/>
        </p:nvSpPr>
        <p:spPr>
          <a:xfrm>
            <a:off x="18326100" y="7772400"/>
            <a:ext cx="1905000" cy="838200"/>
          </a:xfrm>
          <a:prstGeom prst="roundRect">
            <a:avLst/>
          </a:prstGeom>
          <a:solidFill>
            <a:srgbClr val="00397F"/>
          </a:solidFill>
          <a:ln w="15240">
            <a:solidFill>
              <a:srgbClr val="0039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76FF8900-D5AB-C5BA-4BEC-3D73139563EF}"/>
              </a:ext>
            </a:extLst>
          </p:cNvPr>
          <p:cNvSpPr txBox="1"/>
          <p:nvPr/>
        </p:nvSpPr>
        <p:spPr>
          <a:xfrm>
            <a:off x="18427700" y="7912100"/>
            <a:ext cx="1701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6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공격</a:t>
            </a: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FCA1077-5974-3A7D-CDF2-63F36F4DD88E}"/>
              </a:ext>
            </a:extLst>
          </p:cNvPr>
          <p:cNvSpPr txBox="1"/>
          <p:nvPr/>
        </p:nvSpPr>
        <p:spPr>
          <a:xfrm>
            <a:off x="18453100" y="8229600"/>
            <a:ext cx="1651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정밀도가 깨지는 곳</a:t>
            </a:r>
          </a:p>
        </p:txBody>
      </p:sp>
      <p:cxnSp>
        <p:nvCxnSpPr>
          <p:cNvPr id="506" name="직선 연결선 505">
            <a:extLst>
              <a:ext uri="{FF2B5EF4-FFF2-40B4-BE49-F238E27FC236}">
                <a16:creationId xmlns:a16="http://schemas.microsoft.com/office/drawing/2014/main" id="{A495477B-F50D-CF17-E684-C153E611C439}"/>
              </a:ext>
            </a:extLst>
          </p:cNvPr>
          <p:cNvCxnSpPr/>
          <p:nvPr/>
        </p:nvCxnSpPr>
        <p:spPr>
          <a:xfrm>
            <a:off x="13246100" y="8191500"/>
            <a:ext cx="254000" cy="0"/>
          </a:xfrm>
          <a:prstGeom prst="line">
            <a:avLst/>
          </a:prstGeom>
          <a:ln w="22860">
            <a:solidFill>
              <a:srgbClr val="3A72B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직선 연결선 506">
            <a:extLst>
              <a:ext uri="{FF2B5EF4-FFF2-40B4-BE49-F238E27FC236}">
                <a16:creationId xmlns:a16="http://schemas.microsoft.com/office/drawing/2014/main" id="{D7A1EF9C-72BE-8F0A-8ECB-26FA3CAC515E}"/>
              </a:ext>
            </a:extLst>
          </p:cNvPr>
          <p:cNvCxnSpPr/>
          <p:nvPr/>
        </p:nvCxnSpPr>
        <p:spPr>
          <a:xfrm>
            <a:off x="15608300" y="8191500"/>
            <a:ext cx="254000" cy="0"/>
          </a:xfrm>
          <a:prstGeom prst="line">
            <a:avLst/>
          </a:prstGeom>
          <a:ln w="22860">
            <a:solidFill>
              <a:srgbClr val="3A72B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직선 연결선 507">
            <a:extLst>
              <a:ext uri="{FF2B5EF4-FFF2-40B4-BE49-F238E27FC236}">
                <a16:creationId xmlns:a16="http://schemas.microsoft.com/office/drawing/2014/main" id="{8C1F8626-3868-409D-0B64-9C95E39C7CD6}"/>
              </a:ext>
            </a:extLst>
          </p:cNvPr>
          <p:cNvCxnSpPr/>
          <p:nvPr/>
        </p:nvCxnSpPr>
        <p:spPr>
          <a:xfrm>
            <a:off x="17970500" y="8191500"/>
            <a:ext cx="254000" cy="0"/>
          </a:xfrm>
          <a:prstGeom prst="line">
            <a:avLst/>
          </a:prstGeom>
          <a:ln w="22860">
            <a:solidFill>
              <a:srgbClr val="3A72B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직선 연결선 508">
            <a:extLst>
              <a:ext uri="{FF2B5EF4-FFF2-40B4-BE49-F238E27FC236}">
                <a16:creationId xmlns:a16="http://schemas.microsoft.com/office/drawing/2014/main" id="{DEE15419-5F2D-C920-A2C7-A189EFE3B3B6}"/>
              </a:ext>
            </a:extLst>
          </p:cNvPr>
          <p:cNvCxnSpPr/>
          <p:nvPr/>
        </p:nvCxnSpPr>
        <p:spPr>
          <a:xfrm>
            <a:off x="19278600" y="8610600"/>
            <a:ext cx="0" cy="482600"/>
          </a:xfrm>
          <a:prstGeom prst="line">
            <a:avLst/>
          </a:prstGeom>
          <a:ln w="22860">
            <a:solidFill>
              <a:srgbClr val="3A7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직선 연결선 509">
            <a:extLst>
              <a:ext uri="{FF2B5EF4-FFF2-40B4-BE49-F238E27FC236}">
                <a16:creationId xmlns:a16="http://schemas.microsoft.com/office/drawing/2014/main" id="{EC9945DC-EB4C-CDDA-74CF-2362AC08B12A}"/>
              </a:ext>
            </a:extLst>
          </p:cNvPr>
          <p:cNvCxnSpPr/>
          <p:nvPr/>
        </p:nvCxnSpPr>
        <p:spPr>
          <a:xfrm flipH="1">
            <a:off x="12192000" y="9093200"/>
            <a:ext cx="7086600" cy="0"/>
          </a:xfrm>
          <a:prstGeom prst="line">
            <a:avLst/>
          </a:prstGeom>
          <a:ln w="22860">
            <a:solidFill>
              <a:srgbClr val="3A7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직선 연결선 510">
            <a:extLst>
              <a:ext uri="{FF2B5EF4-FFF2-40B4-BE49-F238E27FC236}">
                <a16:creationId xmlns:a16="http://schemas.microsoft.com/office/drawing/2014/main" id="{B4EE0310-C459-8C33-A699-66FC40A95BCC}"/>
              </a:ext>
            </a:extLst>
          </p:cNvPr>
          <p:cNvCxnSpPr/>
          <p:nvPr/>
        </p:nvCxnSpPr>
        <p:spPr>
          <a:xfrm flipV="1">
            <a:off x="12192000" y="8610600"/>
            <a:ext cx="0" cy="482600"/>
          </a:xfrm>
          <a:prstGeom prst="line">
            <a:avLst/>
          </a:prstGeom>
          <a:ln w="22860">
            <a:solidFill>
              <a:srgbClr val="3A72B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2" name="TextBox 511">
            <a:extLst>
              <a:ext uri="{FF2B5EF4-FFF2-40B4-BE49-F238E27FC236}">
                <a16:creationId xmlns:a16="http://schemas.microsoft.com/office/drawing/2014/main" id="{98DC3828-651E-CEDA-186D-2FBC3C54C041}"/>
              </a:ext>
            </a:extLst>
          </p:cNvPr>
          <p:cNvSpPr txBox="1"/>
          <p:nvPr/>
        </p:nvSpPr>
        <p:spPr>
          <a:xfrm>
            <a:off x="11036300" y="9220200"/>
            <a:ext cx="94107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400" b="1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찾아낸 공격을 다시 설계로</a:t>
            </a:r>
          </a:p>
        </p:txBody>
      </p:sp>
      <p:sp>
        <p:nvSpPr>
          <p:cNvPr id="513" name="TextBox 512">
            <a:extLst>
              <a:ext uri="{FF2B5EF4-FFF2-40B4-BE49-F238E27FC236}">
                <a16:creationId xmlns:a16="http://schemas.microsoft.com/office/drawing/2014/main" id="{D6AD21DF-B370-D828-EB71-416B9E210BAB}"/>
              </a:ext>
            </a:extLst>
          </p:cNvPr>
          <p:cNvSpPr txBox="1"/>
          <p:nvPr/>
        </p:nvSpPr>
        <p:spPr>
          <a:xfrm>
            <a:off x="11036300" y="10185400"/>
            <a:ext cx="9410700" cy="660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사람들이 실제로 많이 쓰는 코드 패턴에서 공격이 나오면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그 공격은 더 좋은 분석기를 디자인하는 데 곧바로 기여한다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50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14" name="사각형: 둥근 모서리 513">
            <a:extLst>
              <a:ext uri="{FF2B5EF4-FFF2-40B4-BE49-F238E27FC236}">
                <a16:creationId xmlns:a16="http://schemas.microsoft.com/office/drawing/2014/main" id="{A2B9782C-4413-FA55-B209-3C82BB82228E}"/>
              </a:ext>
            </a:extLst>
          </p:cNvPr>
          <p:cNvSpPr/>
          <p:nvPr/>
        </p:nvSpPr>
        <p:spPr>
          <a:xfrm>
            <a:off x="11036300" y="10998200"/>
            <a:ext cx="9410700" cy="584200"/>
          </a:xfrm>
          <a:prstGeom prst="roundRect">
            <a:avLst>
              <a:gd name="adj" fmla="val 21739"/>
            </a:avLst>
          </a:prstGeom>
          <a:solidFill>
            <a:srgbClr val="D6DE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5" name="TextBox 514">
            <a:extLst>
              <a:ext uri="{FF2B5EF4-FFF2-40B4-BE49-F238E27FC236}">
                <a16:creationId xmlns:a16="http://schemas.microsoft.com/office/drawing/2014/main" id="{74E50E05-F6AA-9F80-9D79-F1DB68AD0357}"/>
              </a:ext>
            </a:extLst>
          </p:cNvPr>
          <p:cNvSpPr txBox="1"/>
          <p:nvPr/>
        </p:nvSpPr>
        <p:spPr>
          <a:xfrm>
            <a:off x="11341100" y="10998200"/>
            <a:ext cx="88011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6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억지스러운 코드보다</a:t>
            </a:r>
            <a:r>
              <a:rPr lang="en-US" altLang="ko-KR" sz="16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6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흔한 코드 패턴에서 나온 공격이 값지다</a:t>
            </a:r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4D96B41E-CE7B-4906-1E94-A81EDFDFD0B6}"/>
              </a:ext>
            </a:extLst>
          </p:cNvPr>
          <p:cNvSpPr txBox="1"/>
          <p:nvPr/>
        </p:nvSpPr>
        <p:spPr>
          <a:xfrm>
            <a:off x="11036300" y="11785600"/>
            <a:ext cx="94107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35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공격에서 디자인으로 돌아오는 고리가 닫혀야</a:t>
            </a:r>
            <a:r>
              <a:rPr lang="en-US" altLang="ko-KR" sz="135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35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분석기가 실제로 좋아진다</a:t>
            </a:r>
            <a:r>
              <a:rPr lang="en-US" altLang="ko-KR" sz="135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350">
              <a:solidFill>
                <a:srgbClr val="7C8A99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17" name="TextBox 516">
            <a:extLst>
              <a:ext uri="{FF2B5EF4-FFF2-40B4-BE49-F238E27FC236}">
                <a16:creationId xmlns:a16="http://schemas.microsoft.com/office/drawing/2014/main" id="{3202228A-9EDF-BCDF-1AD9-F3D680CC11FF}"/>
              </a:ext>
            </a:extLst>
          </p:cNvPr>
          <p:cNvSpPr txBox="1"/>
          <p:nvPr/>
        </p:nvSpPr>
        <p:spPr>
          <a:xfrm>
            <a:off x="939800" y="12903200"/>
            <a:ext cx="787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3500" b="1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03</a:t>
            </a:r>
            <a:endParaRPr lang="ko-KR" altLang="en-US" sz="3500" b="1">
              <a:solidFill>
                <a:srgbClr val="3A72B8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18" name="TextBox 517">
            <a:extLst>
              <a:ext uri="{FF2B5EF4-FFF2-40B4-BE49-F238E27FC236}">
                <a16:creationId xmlns:a16="http://schemas.microsoft.com/office/drawing/2014/main" id="{FEB5B35A-E29D-FEB0-A5B8-5491D54314DA}"/>
              </a:ext>
            </a:extLst>
          </p:cNvPr>
          <p:cNvSpPr txBox="1"/>
          <p:nvPr/>
        </p:nvSpPr>
        <p:spPr>
          <a:xfrm>
            <a:off x="1828800" y="12903200"/>
            <a:ext cx="85217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35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공격의 정의</a:t>
            </a:r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69461206-B03F-76CF-6ED8-F74342E64220}"/>
              </a:ext>
            </a:extLst>
          </p:cNvPr>
          <p:cNvSpPr txBox="1"/>
          <p:nvPr/>
        </p:nvSpPr>
        <p:spPr>
          <a:xfrm>
            <a:off x="939800" y="13665200"/>
            <a:ext cx="94107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프로그램 하나에 실행이 여러 갈래로 갈리는 성질 </a:t>
            </a:r>
            <a:r>
              <a:rPr lang="en-US" altLang="ko-KR" sz="129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nondeterminism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을 없애야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증명나무 </a:t>
            </a:r>
            <a:r>
              <a:rPr lang="en-US" altLang="ko-KR" sz="129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proof tree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가 하나로 정해지고 정밀도를 따지는 일이 뜻을 가진다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900" b="1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20" name="사각형: 둥근 모서리 519">
            <a:extLst>
              <a:ext uri="{FF2B5EF4-FFF2-40B4-BE49-F238E27FC236}">
                <a16:creationId xmlns:a16="http://schemas.microsoft.com/office/drawing/2014/main" id="{A738113A-53A8-8998-54D3-3B7A6642955A}"/>
              </a:ext>
            </a:extLst>
          </p:cNvPr>
          <p:cNvSpPr/>
          <p:nvPr/>
        </p:nvSpPr>
        <p:spPr>
          <a:xfrm>
            <a:off x="939800" y="14630400"/>
            <a:ext cx="9410700" cy="1270000"/>
          </a:xfrm>
          <a:prstGeom prst="roundRect">
            <a:avLst>
              <a:gd name="adj" fmla="val 12000"/>
            </a:avLst>
          </a:prstGeom>
          <a:solidFill>
            <a:srgbClr val="D6DE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13F74084-027F-177C-2591-19D3DFD4ED54}"/>
              </a:ext>
            </a:extLst>
          </p:cNvPr>
          <p:cNvSpPr txBox="1"/>
          <p:nvPr/>
        </p:nvSpPr>
        <p:spPr>
          <a:xfrm>
            <a:off x="1270000" y="14808200"/>
            <a:ext cx="87503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CIL--   ·   C </a:t>
            </a:r>
            <a:r>
              <a:rPr lang="ko-KR" altLang="en-US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스타일 시키는 대로 도는 </a:t>
            </a:r>
            <a:r>
              <a:rPr lang="en-US" altLang="ko-KR" sz="1224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imperative</a:t>
            </a:r>
            <a:r>
              <a:rPr lang="en-US" altLang="ko-KR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언어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112E488B-68E9-4220-414E-53A162D16BBA}"/>
              </a:ext>
            </a:extLst>
          </p:cNvPr>
          <p:cNvSpPr txBox="1"/>
          <p:nvPr/>
        </p:nvSpPr>
        <p:spPr>
          <a:xfrm>
            <a:off x="1270000" y="15189200"/>
            <a:ext cx="87503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대입 </a:t>
            </a:r>
            <a:r>
              <a:rPr lang="en-US" altLang="ko-KR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· </a:t>
            </a:r>
            <a:r>
              <a:rPr lang="ko-KR" altLang="en-US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조건 </a:t>
            </a:r>
            <a:r>
              <a:rPr lang="en-US" altLang="ko-KR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· </a:t>
            </a:r>
            <a:r>
              <a:rPr lang="ko-KR" altLang="en-US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반복 </a:t>
            </a:r>
            <a:r>
              <a:rPr lang="en-US" altLang="ko-KR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· </a:t>
            </a:r>
            <a:r>
              <a:rPr lang="ko-KR" altLang="en-US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함수 호출</a:t>
            </a:r>
            <a:r>
              <a:rPr lang="en-US" altLang="ko-KR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(</a:t>
            </a:r>
            <a:r>
              <a:rPr lang="ko-KR" altLang="en-US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제 자신 부르기 </a:t>
            </a:r>
            <a:r>
              <a:rPr lang="en-US" altLang="ko-KR" sz="95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recursion</a:t>
            </a:r>
            <a:r>
              <a:rPr lang="en-US" altLang="ko-KR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포함</a:t>
            </a:r>
            <a:r>
              <a:rPr lang="en-US" altLang="ko-KR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)</a:t>
            </a:r>
            <a:r>
              <a:rPr lang="ko-KR" altLang="en-US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은 갖추되</a:t>
            </a:r>
            <a:r>
              <a:rPr lang="en-US" altLang="ko-KR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계산 순서나 정해두지 않은 동작 </a:t>
            </a:r>
            <a:r>
              <a:rPr lang="en-US" altLang="ko-KR" sz="95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undefined behavior</a:t>
            </a:r>
            <a:r>
              <a:rPr lang="en-US" altLang="ko-KR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같은 갈래는 문법에서 아예 잘라냈다</a:t>
            </a:r>
            <a:r>
              <a:rPr lang="en-US" altLang="ko-KR" sz="140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400">
              <a:solidFill>
                <a:srgbClr val="00397F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384C8517-AF9F-52A2-C2BA-864FDE8B7F34}"/>
              </a:ext>
            </a:extLst>
          </p:cNvPr>
          <p:cNvSpPr txBox="1"/>
          <p:nvPr/>
        </p:nvSpPr>
        <p:spPr>
          <a:xfrm>
            <a:off x="939800" y="16052800"/>
            <a:ext cx="9410700" cy="660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이런 갈래가 남아 있으면 한 프로그램에 실행이 여러 개 대응된다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그러면 공격에 성공한 것처럼 보여도 사실은 그 갈래 탓일 수 있다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50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380D424C-897E-D13B-F764-B2ECEDDAE646}"/>
              </a:ext>
            </a:extLst>
          </p:cNvPr>
          <p:cNvSpPr txBox="1"/>
          <p:nvPr/>
        </p:nvSpPr>
        <p:spPr>
          <a:xfrm>
            <a:off x="939800" y="16814800"/>
            <a:ext cx="94107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6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갈래를 없애면</a:t>
            </a:r>
            <a:r>
              <a:rPr lang="en-US" altLang="ko-KR" sz="16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6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프로그램 하나에 증명나무가 딱 하나로 정해진다</a:t>
            </a:r>
            <a:r>
              <a:rPr lang="en-US" altLang="ko-KR" sz="16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600" b="1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25" name="사각형: 둥근 모서리 524">
            <a:extLst>
              <a:ext uri="{FF2B5EF4-FFF2-40B4-BE49-F238E27FC236}">
                <a16:creationId xmlns:a16="http://schemas.microsoft.com/office/drawing/2014/main" id="{4413C349-31D2-D04D-7500-CD3921B89FD4}"/>
              </a:ext>
            </a:extLst>
          </p:cNvPr>
          <p:cNvSpPr/>
          <p:nvPr/>
        </p:nvSpPr>
        <p:spPr>
          <a:xfrm>
            <a:off x="939800" y="17297400"/>
            <a:ext cx="9410700" cy="1066800"/>
          </a:xfrm>
          <a:prstGeom prst="roundRect">
            <a:avLst>
              <a:gd name="adj" fmla="val 14286"/>
            </a:avLst>
          </a:prstGeom>
          <a:solidFill>
            <a:srgbClr val="0039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6" name="TextBox 525">
            <a:extLst>
              <a:ext uri="{FF2B5EF4-FFF2-40B4-BE49-F238E27FC236}">
                <a16:creationId xmlns:a16="http://schemas.microsoft.com/office/drawing/2014/main" id="{42D5A58B-3BA3-7BA8-39B4-50D35CCE001C}"/>
              </a:ext>
            </a:extLst>
          </p:cNvPr>
          <p:cNvSpPr txBox="1"/>
          <p:nvPr/>
        </p:nvSpPr>
        <p:spPr>
          <a:xfrm>
            <a:off x="939800" y="17424400"/>
            <a:ext cx="94107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2200" b="1">
                <a:solidFill>
                  <a:srgbClr val="FFFFFF"/>
                </a:solidFill>
                <a:latin typeface="Cambria Math" panose="02040503050406030204" pitchFamily="18" charset="0"/>
                <a:ea typeface="맑은 고딕" panose="020B0503020000020004" pitchFamily="50" charset="-127"/>
              </a:rPr>
              <a:t>∃</a:t>
            </a:r>
            <a:r>
              <a:rPr lang="ko-KR" altLang="en-US" sz="19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 지점 </a:t>
            </a:r>
            <a:r>
              <a:rPr lang="en-US" altLang="ko-KR" sz="19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L, </a:t>
            </a:r>
            <a:r>
              <a:rPr lang="ko-KR" altLang="en-US" sz="19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변수 </a:t>
            </a:r>
            <a:r>
              <a:rPr lang="en-US" altLang="ko-KR" sz="19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x.    </a:t>
            </a:r>
            <a:r>
              <a:rPr lang="ko-KR" altLang="en-US" sz="19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분석 결과</a:t>
            </a:r>
            <a:r>
              <a:rPr lang="en-US" altLang="ko-KR" sz="19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(L, x)  </a:t>
            </a:r>
            <a:r>
              <a:rPr lang="en-US" altLang="ko-KR" sz="2400" b="1">
                <a:solidFill>
                  <a:srgbClr val="FFFFFF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⊋</a:t>
            </a:r>
            <a:r>
              <a:rPr lang="en-US" altLang="ko-KR" sz="19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 </a:t>
            </a:r>
            <a:r>
              <a:rPr lang="ko-KR" altLang="en-US" sz="19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실제 실행 의미</a:t>
            </a:r>
            <a:r>
              <a:rPr lang="en-US" altLang="ko-KR" sz="19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(L, x)</a:t>
            </a:r>
            <a:endParaRPr lang="ko-KR" altLang="en-US" sz="1900" b="1">
              <a:solidFill>
                <a:srgbClr val="FFFFFF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27" name="TextBox 526">
            <a:extLst>
              <a:ext uri="{FF2B5EF4-FFF2-40B4-BE49-F238E27FC236}">
                <a16:creationId xmlns:a16="http://schemas.microsoft.com/office/drawing/2014/main" id="{E9881047-B9C6-7737-8911-B46EFB2427F0}"/>
              </a:ext>
            </a:extLst>
          </p:cNvPr>
          <p:cNvSpPr txBox="1"/>
          <p:nvPr/>
        </p:nvSpPr>
        <p:spPr>
          <a:xfrm>
            <a:off x="939800" y="17856200"/>
            <a:ext cx="94107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5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어떤 프로그램 지점 </a:t>
            </a:r>
            <a:r>
              <a:rPr lang="en-US" altLang="ko-KR" sz="918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label</a:t>
            </a:r>
            <a:r>
              <a:rPr lang="ko-KR" altLang="en-US" sz="135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과 변수에서</a:t>
            </a:r>
            <a:r>
              <a:rPr lang="en-US" altLang="ko-KR" sz="135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35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요약된 결과가 실제 실행 의미보다 진짜로 더 크다 </a:t>
            </a:r>
            <a:r>
              <a:rPr lang="en-US" altLang="ko-KR" sz="918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strictly greater</a:t>
            </a:r>
            <a:endParaRPr lang="ko-KR" altLang="en-US" sz="918">
              <a:solidFill>
                <a:srgbClr val="7C8A99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28" name="TextBox 527">
            <a:extLst>
              <a:ext uri="{FF2B5EF4-FFF2-40B4-BE49-F238E27FC236}">
                <a16:creationId xmlns:a16="http://schemas.microsoft.com/office/drawing/2014/main" id="{EF5B369F-94D4-76AB-99D2-E88972405C6C}"/>
              </a:ext>
            </a:extLst>
          </p:cNvPr>
          <p:cNvSpPr txBox="1"/>
          <p:nvPr/>
        </p:nvSpPr>
        <p:spPr>
          <a:xfrm>
            <a:off x="939800" y="18516600"/>
            <a:ext cx="94107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진짜로 더 크다 </a:t>
            </a:r>
            <a:r>
              <a:rPr lang="en-US" altLang="ko-KR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= </a:t>
            </a: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어림잡은 값 안에</a:t>
            </a:r>
            <a:r>
              <a:rPr lang="en-US" altLang="ko-KR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실제로는 절대 나올 수 없는 값이 섞여 있다</a:t>
            </a:r>
            <a:r>
              <a:rPr lang="en-US" altLang="ko-KR" sz="13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35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29" name="TextBox 528">
            <a:extLst>
              <a:ext uri="{FF2B5EF4-FFF2-40B4-BE49-F238E27FC236}">
                <a16:creationId xmlns:a16="http://schemas.microsoft.com/office/drawing/2014/main" id="{081B799D-10F3-7494-B16D-6B7EAA1A8A07}"/>
              </a:ext>
            </a:extLst>
          </p:cNvPr>
          <p:cNvSpPr txBox="1"/>
          <p:nvPr/>
        </p:nvSpPr>
        <p:spPr>
          <a:xfrm>
            <a:off x="11036300" y="12903200"/>
            <a:ext cx="787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3500" b="1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04</a:t>
            </a:r>
            <a:endParaRPr lang="ko-KR" altLang="en-US" sz="3500" b="1">
              <a:solidFill>
                <a:srgbClr val="3A72B8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30" name="TextBox 529">
            <a:extLst>
              <a:ext uri="{FF2B5EF4-FFF2-40B4-BE49-F238E27FC236}">
                <a16:creationId xmlns:a16="http://schemas.microsoft.com/office/drawing/2014/main" id="{27FB6D9A-92E9-FAB6-E9F6-29305D0A8F91}"/>
              </a:ext>
            </a:extLst>
          </p:cNvPr>
          <p:cNvSpPr txBox="1"/>
          <p:nvPr/>
        </p:nvSpPr>
        <p:spPr>
          <a:xfrm>
            <a:off x="11925300" y="12903200"/>
            <a:ext cx="85217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35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증명나무를 합성하는 이유</a:t>
            </a:r>
          </a:p>
        </p:txBody>
      </p:sp>
      <p:sp>
        <p:nvSpPr>
          <p:cNvPr id="531" name="TextBox 530">
            <a:extLst>
              <a:ext uri="{FF2B5EF4-FFF2-40B4-BE49-F238E27FC236}">
                <a16:creationId xmlns:a16="http://schemas.microsoft.com/office/drawing/2014/main" id="{9F70E8C0-245B-0C61-300E-8E208ECAD858}"/>
              </a:ext>
            </a:extLst>
          </p:cNvPr>
          <p:cNvSpPr txBox="1"/>
          <p:nvPr/>
        </p:nvSpPr>
        <p:spPr>
          <a:xfrm>
            <a:off x="11036300" y="13665200"/>
            <a:ext cx="94107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프로그램을 먼저 지어내면 </a:t>
            </a:r>
            <a:r>
              <a:rPr lang="en-US" altLang="ko-KR" sz="129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synthesis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그것이 공격에 성공했는지 판정할 수 없다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900" b="1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32" name="TextBox 531">
            <a:extLst>
              <a:ext uri="{FF2B5EF4-FFF2-40B4-BE49-F238E27FC236}">
                <a16:creationId xmlns:a16="http://schemas.microsoft.com/office/drawing/2014/main" id="{FBDC9AF3-5003-342E-288B-9A8E3EB9CDF3}"/>
              </a:ext>
            </a:extLst>
          </p:cNvPr>
          <p:cNvSpPr txBox="1"/>
          <p:nvPr/>
        </p:nvSpPr>
        <p:spPr>
          <a:xfrm>
            <a:off x="11036300" y="14630400"/>
            <a:ext cx="94107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공격 성공을 판정하려면 그 프로그램의 실제 실행 의미 </a:t>
            </a:r>
            <a:r>
              <a:rPr lang="en-US" altLang="ko-KR" sz="102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concrete semantics</a:t>
            </a: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를 알아야 한다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그런데 프로그램이 멈추는지조차 미리 알 수 없다 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(</a:t>
            </a: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라이스 정리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). </a:t>
            </a: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쉽게 말해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무한히 돌지도 모른다</a:t>
            </a:r>
            <a:r>
              <a:rPr lang="en-US" altLang="ko-KR" sz="15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50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33" name="사각형: 둥근 모서리 532">
            <a:extLst>
              <a:ext uri="{FF2B5EF4-FFF2-40B4-BE49-F238E27FC236}">
                <a16:creationId xmlns:a16="http://schemas.microsoft.com/office/drawing/2014/main" id="{9A30688B-873A-3C45-661B-2D65D4524A2C}"/>
              </a:ext>
            </a:extLst>
          </p:cNvPr>
          <p:cNvSpPr/>
          <p:nvPr/>
        </p:nvSpPr>
        <p:spPr>
          <a:xfrm>
            <a:off x="11036300" y="15595600"/>
            <a:ext cx="9410700" cy="2794000"/>
          </a:xfrm>
          <a:prstGeom prst="roundRect">
            <a:avLst>
              <a:gd name="adj" fmla="val 7273"/>
            </a:avLst>
          </a:prstGeom>
          <a:solidFill>
            <a:srgbClr val="EFF4F8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68393DD7-F9B6-3835-D8F1-01BB6520BD21}"/>
              </a:ext>
            </a:extLst>
          </p:cNvPr>
          <p:cNvSpPr txBox="1"/>
          <p:nvPr/>
        </p:nvSpPr>
        <p:spPr>
          <a:xfrm>
            <a:off x="11341100" y="157988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400" b="1" spc="15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프로그램을 먼저 </a:t>
            </a:r>
            <a:r>
              <a:rPr lang="en-US" altLang="ko-KR" sz="1400" b="1" spc="15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— </a:t>
            </a:r>
            <a:r>
              <a:rPr lang="ko-KR" altLang="en-US" sz="1400" b="1" spc="15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안 되는 길</a:t>
            </a:r>
          </a:p>
        </p:txBody>
      </p:sp>
      <p:sp>
        <p:nvSpPr>
          <p:cNvPr id="535" name="사각형: 둥근 모서리 534">
            <a:extLst>
              <a:ext uri="{FF2B5EF4-FFF2-40B4-BE49-F238E27FC236}">
                <a16:creationId xmlns:a16="http://schemas.microsoft.com/office/drawing/2014/main" id="{047D11A3-3479-2563-DACD-7CDD96DE1775}"/>
              </a:ext>
            </a:extLst>
          </p:cNvPr>
          <p:cNvSpPr/>
          <p:nvPr/>
        </p:nvSpPr>
        <p:spPr>
          <a:xfrm>
            <a:off x="11290300" y="16129000"/>
            <a:ext cx="2667000" cy="736600"/>
          </a:xfrm>
          <a:prstGeom prst="roundRect">
            <a:avLst>
              <a:gd name="adj" fmla="val 18966"/>
            </a:avLst>
          </a:prstGeom>
          <a:solidFill>
            <a:srgbClr val="FFFFFF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6" name="TextBox 535">
            <a:extLst>
              <a:ext uri="{FF2B5EF4-FFF2-40B4-BE49-F238E27FC236}">
                <a16:creationId xmlns:a16="http://schemas.microsoft.com/office/drawing/2014/main" id="{0D97A7F5-F478-A81C-8902-34E09F07522E}"/>
              </a:ext>
            </a:extLst>
          </p:cNvPr>
          <p:cNvSpPr txBox="1"/>
          <p:nvPr/>
        </p:nvSpPr>
        <p:spPr>
          <a:xfrm>
            <a:off x="11391900" y="16268700"/>
            <a:ext cx="2463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500" b="1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프로그램 지어내기</a:t>
            </a:r>
          </a:p>
        </p:txBody>
      </p:sp>
      <p:sp>
        <p:nvSpPr>
          <p:cNvPr id="537" name="TextBox 536">
            <a:extLst>
              <a:ext uri="{FF2B5EF4-FFF2-40B4-BE49-F238E27FC236}">
                <a16:creationId xmlns:a16="http://schemas.microsoft.com/office/drawing/2014/main" id="{58EA992E-6D26-7830-8D29-580B7C1951D0}"/>
              </a:ext>
            </a:extLst>
          </p:cNvPr>
          <p:cNvSpPr txBox="1"/>
          <p:nvPr/>
        </p:nvSpPr>
        <p:spPr>
          <a:xfrm>
            <a:off x="11417300" y="16586200"/>
            <a:ext cx="2413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코드를 먼저 만든다</a:t>
            </a:r>
          </a:p>
        </p:txBody>
      </p:sp>
      <p:cxnSp>
        <p:nvCxnSpPr>
          <p:cNvPr id="538" name="직선 연결선 537">
            <a:extLst>
              <a:ext uri="{FF2B5EF4-FFF2-40B4-BE49-F238E27FC236}">
                <a16:creationId xmlns:a16="http://schemas.microsoft.com/office/drawing/2014/main" id="{3A058A30-12B2-470C-7434-26BB75331EE3}"/>
              </a:ext>
            </a:extLst>
          </p:cNvPr>
          <p:cNvCxnSpPr/>
          <p:nvPr/>
        </p:nvCxnSpPr>
        <p:spPr>
          <a:xfrm>
            <a:off x="14008100" y="16497300"/>
            <a:ext cx="279400" cy="0"/>
          </a:xfrm>
          <a:prstGeom prst="line">
            <a:avLst/>
          </a:prstGeom>
          <a:ln w="20320">
            <a:solidFill>
              <a:srgbClr val="7C8A9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9" name="사각형: 둥근 모서리 538">
            <a:extLst>
              <a:ext uri="{FF2B5EF4-FFF2-40B4-BE49-F238E27FC236}">
                <a16:creationId xmlns:a16="http://schemas.microsoft.com/office/drawing/2014/main" id="{2AB8B3AE-981F-E5BD-2924-DA51EA682EF8}"/>
              </a:ext>
            </a:extLst>
          </p:cNvPr>
          <p:cNvSpPr/>
          <p:nvPr/>
        </p:nvSpPr>
        <p:spPr>
          <a:xfrm>
            <a:off x="14338300" y="16129000"/>
            <a:ext cx="2667000" cy="736600"/>
          </a:xfrm>
          <a:prstGeom prst="roundRect">
            <a:avLst>
              <a:gd name="adj" fmla="val 18966"/>
            </a:avLst>
          </a:prstGeom>
          <a:solidFill>
            <a:srgbClr val="FFFFFF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C3F4236F-2019-8007-8B0B-D499114B836C}"/>
              </a:ext>
            </a:extLst>
          </p:cNvPr>
          <p:cNvSpPr txBox="1"/>
          <p:nvPr/>
        </p:nvSpPr>
        <p:spPr>
          <a:xfrm>
            <a:off x="14439900" y="16268700"/>
            <a:ext cx="2463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500" b="1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실행해 보기</a:t>
            </a:r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E5AB0BA2-B235-A753-E814-11A2CF31F8F3}"/>
              </a:ext>
            </a:extLst>
          </p:cNvPr>
          <p:cNvSpPr txBox="1"/>
          <p:nvPr/>
        </p:nvSpPr>
        <p:spPr>
          <a:xfrm>
            <a:off x="14465300" y="16586200"/>
            <a:ext cx="2413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실행 의미를 확인</a:t>
            </a:r>
          </a:p>
        </p:txBody>
      </p:sp>
      <p:cxnSp>
        <p:nvCxnSpPr>
          <p:cNvPr id="542" name="직선 연결선 541">
            <a:extLst>
              <a:ext uri="{FF2B5EF4-FFF2-40B4-BE49-F238E27FC236}">
                <a16:creationId xmlns:a16="http://schemas.microsoft.com/office/drawing/2014/main" id="{E6D9F4AD-E259-45E2-458F-BC31B796841E}"/>
              </a:ext>
            </a:extLst>
          </p:cNvPr>
          <p:cNvCxnSpPr/>
          <p:nvPr/>
        </p:nvCxnSpPr>
        <p:spPr>
          <a:xfrm>
            <a:off x="17056100" y="16497300"/>
            <a:ext cx="279400" cy="0"/>
          </a:xfrm>
          <a:prstGeom prst="line">
            <a:avLst/>
          </a:prstGeom>
          <a:ln w="20320">
            <a:solidFill>
              <a:srgbClr val="7C8A9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3" name="사각형: 둥근 모서리 542">
            <a:extLst>
              <a:ext uri="{FF2B5EF4-FFF2-40B4-BE49-F238E27FC236}">
                <a16:creationId xmlns:a16="http://schemas.microsoft.com/office/drawing/2014/main" id="{F72982F2-B829-D683-27C7-EC73B9503863}"/>
              </a:ext>
            </a:extLst>
          </p:cNvPr>
          <p:cNvSpPr/>
          <p:nvPr/>
        </p:nvSpPr>
        <p:spPr>
          <a:xfrm>
            <a:off x="17386300" y="16129000"/>
            <a:ext cx="2806700" cy="736600"/>
          </a:xfrm>
          <a:prstGeom prst="roundRect">
            <a:avLst>
              <a:gd name="adj" fmla="val 18966"/>
            </a:avLst>
          </a:prstGeom>
          <a:solidFill>
            <a:srgbClr val="FFFFFF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04C44ECE-6EC4-E406-0D6B-F601E6607E68}"/>
              </a:ext>
            </a:extLst>
          </p:cNvPr>
          <p:cNvSpPr txBox="1"/>
          <p:nvPr/>
        </p:nvSpPr>
        <p:spPr>
          <a:xfrm>
            <a:off x="17487900" y="16268700"/>
            <a:ext cx="2603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500" b="1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멈추는지 모른다</a:t>
            </a: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0F34031F-EBB8-30F0-1687-EB93FADA7FD4}"/>
              </a:ext>
            </a:extLst>
          </p:cNvPr>
          <p:cNvSpPr txBox="1"/>
          <p:nvPr/>
        </p:nvSpPr>
        <p:spPr>
          <a:xfrm>
            <a:off x="17513300" y="16586200"/>
            <a:ext cx="25527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판정 불가</a:t>
            </a:r>
          </a:p>
        </p:txBody>
      </p:sp>
      <p:cxnSp>
        <p:nvCxnSpPr>
          <p:cNvPr id="546" name="직선 연결선 545">
            <a:extLst>
              <a:ext uri="{FF2B5EF4-FFF2-40B4-BE49-F238E27FC236}">
                <a16:creationId xmlns:a16="http://schemas.microsoft.com/office/drawing/2014/main" id="{4B5D58F8-29E0-DF9D-F2B0-9ACD8E323DA6}"/>
              </a:ext>
            </a:extLst>
          </p:cNvPr>
          <p:cNvCxnSpPr/>
          <p:nvPr/>
        </p:nvCxnSpPr>
        <p:spPr>
          <a:xfrm>
            <a:off x="11341100" y="17043400"/>
            <a:ext cx="8801100" cy="0"/>
          </a:xfrm>
          <a:prstGeom prst="line">
            <a:avLst/>
          </a:prstGeom>
          <a:ln w="1270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7" name="TextBox 546">
            <a:extLst>
              <a:ext uri="{FF2B5EF4-FFF2-40B4-BE49-F238E27FC236}">
                <a16:creationId xmlns:a16="http://schemas.microsoft.com/office/drawing/2014/main" id="{2A259DA8-468F-6360-1EAB-6016248C7504}"/>
              </a:ext>
            </a:extLst>
          </p:cNvPr>
          <p:cNvSpPr txBox="1"/>
          <p:nvPr/>
        </p:nvSpPr>
        <p:spPr>
          <a:xfrm>
            <a:off x="11341100" y="171704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400" b="1" spc="15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증명나무를 먼저 </a:t>
            </a:r>
            <a:r>
              <a:rPr lang="en-US" altLang="ko-KR" sz="1400" b="1" spc="15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— </a:t>
            </a:r>
            <a:r>
              <a:rPr lang="ko-KR" altLang="en-US" sz="1400" b="1" spc="150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되는 길</a:t>
            </a:r>
          </a:p>
        </p:txBody>
      </p:sp>
      <p:sp>
        <p:nvSpPr>
          <p:cNvPr id="548" name="사각형: 둥근 모서리 547">
            <a:extLst>
              <a:ext uri="{FF2B5EF4-FFF2-40B4-BE49-F238E27FC236}">
                <a16:creationId xmlns:a16="http://schemas.microsoft.com/office/drawing/2014/main" id="{2726BE7F-A681-FC6D-7A2E-2232BD3D2FC0}"/>
              </a:ext>
            </a:extLst>
          </p:cNvPr>
          <p:cNvSpPr/>
          <p:nvPr/>
        </p:nvSpPr>
        <p:spPr>
          <a:xfrm>
            <a:off x="11290300" y="17500600"/>
            <a:ext cx="2667000" cy="736600"/>
          </a:xfrm>
          <a:prstGeom prst="roundRect">
            <a:avLst>
              <a:gd name="adj" fmla="val 18966"/>
            </a:avLst>
          </a:prstGeom>
          <a:solidFill>
            <a:srgbClr val="00397F"/>
          </a:solidFill>
          <a:ln w="15240">
            <a:solidFill>
              <a:srgbClr val="0039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9" name="TextBox 548">
            <a:extLst>
              <a:ext uri="{FF2B5EF4-FFF2-40B4-BE49-F238E27FC236}">
                <a16:creationId xmlns:a16="http://schemas.microsoft.com/office/drawing/2014/main" id="{28F43CE0-5A9B-1B60-517D-51B4754D0F0B}"/>
              </a:ext>
            </a:extLst>
          </p:cNvPr>
          <p:cNvSpPr txBox="1"/>
          <p:nvPr/>
        </p:nvSpPr>
        <p:spPr>
          <a:xfrm>
            <a:off x="11391900" y="17640300"/>
            <a:ext cx="2463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증명나무 지어내기</a:t>
            </a:r>
          </a:p>
        </p:txBody>
      </p:sp>
      <p:sp>
        <p:nvSpPr>
          <p:cNvPr id="550" name="TextBox 549">
            <a:extLst>
              <a:ext uri="{FF2B5EF4-FFF2-40B4-BE49-F238E27FC236}">
                <a16:creationId xmlns:a16="http://schemas.microsoft.com/office/drawing/2014/main" id="{C6091F78-1E08-FF46-E494-37FA415FDB7A}"/>
              </a:ext>
            </a:extLst>
          </p:cNvPr>
          <p:cNvSpPr txBox="1"/>
          <p:nvPr/>
        </p:nvSpPr>
        <p:spPr>
          <a:xfrm>
            <a:off x="11417300" y="17957800"/>
            <a:ext cx="2413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실행 의미를 먼저</a:t>
            </a:r>
          </a:p>
        </p:txBody>
      </p:sp>
      <p:cxnSp>
        <p:nvCxnSpPr>
          <p:cNvPr id="551" name="직선 연결선 550">
            <a:extLst>
              <a:ext uri="{FF2B5EF4-FFF2-40B4-BE49-F238E27FC236}">
                <a16:creationId xmlns:a16="http://schemas.microsoft.com/office/drawing/2014/main" id="{52A5E30C-E532-AAC5-1427-C8138CD01392}"/>
              </a:ext>
            </a:extLst>
          </p:cNvPr>
          <p:cNvCxnSpPr/>
          <p:nvPr/>
        </p:nvCxnSpPr>
        <p:spPr>
          <a:xfrm>
            <a:off x="14008100" y="17868900"/>
            <a:ext cx="279400" cy="0"/>
          </a:xfrm>
          <a:prstGeom prst="line">
            <a:avLst/>
          </a:prstGeom>
          <a:ln w="22860">
            <a:solidFill>
              <a:srgbClr val="3A72B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2" name="사각형: 둥근 모서리 551">
            <a:extLst>
              <a:ext uri="{FF2B5EF4-FFF2-40B4-BE49-F238E27FC236}">
                <a16:creationId xmlns:a16="http://schemas.microsoft.com/office/drawing/2014/main" id="{927A5F28-8D56-873A-A755-51118F48E5D8}"/>
              </a:ext>
            </a:extLst>
          </p:cNvPr>
          <p:cNvSpPr/>
          <p:nvPr/>
        </p:nvSpPr>
        <p:spPr>
          <a:xfrm>
            <a:off x="14338300" y="17500600"/>
            <a:ext cx="2667000" cy="736600"/>
          </a:xfrm>
          <a:prstGeom prst="roundRect">
            <a:avLst>
              <a:gd name="adj" fmla="val 18966"/>
            </a:avLst>
          </a:prstGeom>
          <a:solidFill>
            <a:srgbClr val="00397F"/>
          </a:solidFill>
          <a:ln w="15240">
            <a:solidFill>
              <a:srgbClr val="0039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3" name="TextBox 552">
            <a:extLst>
              <a:ext uri="{FF2B5EF4-FFF2-40B4-BE49-F238E27FC236}">
                <a16:creationId xmlns:a16="http://schemas.microsoft.com/office/drawing/2014/main" id="{CCE1ECB2-B166-2C8A-B2BC-48E890D83E29}"/>
              </a:ext>
            </a:extLst>
          </p:cNvPr>
          <p:cNvSpPr txBox="1"/>
          <p:nvPr/>
        </p:nvSpPr>
        <p:spPr>
          <a:xfrm>
            <a:off x="14439900" y="17640300"/>
            <a:ext cx="2463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뿌리의 결론</a:t>
            </a:r>
          </a:p>
        </p:txBody>
      </p:sp>
      <p:sp>
        <p:nvSpPr>
          <p:cNvPr id="554" name="TextBox 553">
            <a:extLst>
              <a:ext uri="{FF2B5EF4-FFF2-40B4-BE49-F238E27FC236}">
                <a16:creationId xmlns:a16="http://schemas.microsoft.com/office/drawing/2014/main" id="{1953E4AF-0A58-B771-8514-4F9893988BF0}"/>
              </a:ext>
            </a:extLst>
          </p:cNvPr>
          <p:cNvSpPr txBox="1"/>
          <p:nvPr/>
        </p:nvSpPr>
        <p:spPr>
          <a:xfrm>
            <a:off x="14465300" y="17957800"/>
            <a:ext cx="2413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프로그램은 따라 나옴</a:t>
            </a:r>
          </a:p>
        </p:txBody>
      </p:sp>
      <p:cxnSp>
        <p:nvCxnSpPr>
          <p:cNvPr id="555" name="직선 연결선 554">
            <a:extLst>
              <a:ext uri="{FF2B5EF4-FFF2-40B4-BE49-F238E27FC236}">
                <a16:creationId xmlns:a16="http://schemas.microsoft.com/office/drawing/2014/main" id="{3350E9CC-3D1E-5296-2BA8-66CD7980BE68}"/>
              </a:ext>
            </a:extLst>
          </p:cNvPr>
          <p:cNvCxnSpPr/>
          <p:nvPr/>
        </p:nvCxnSpPr>
        <p:spPr>
          <a:xfrm>
            <a:off x="17056100" y="17868900"/>
            <a:ext cx="279400" cy="0"/>
          </a:xfrm>
          <a:prstGeom prst="line">
            <a:avLst/>
          </a:prstGeom>
          <a:ln w="22860">
            <a:solidFill>
              <a:srgbClr val="3A72B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사각형: 둥근 모서리 555">
            <a:extLst>
              <a:ext uri="{FF2B5EF4-FFF2-40B4-BE49-F238E27FC236}">
                <a16:creationId xmlns:a16="http://schemas.microsoft.com/office/drawing/2014/main" id="{FAC5FE44-850A-F75C-DC27-D687D07E16EE}"/>
              </a:ext>
            </a:extLst>
          </p:cNvPr>
          <p:cNvSpPr/>
          <p:nvPr/>
        </p:nvSpPr>
        <p:spPr>
          <a:xfrm>
            <a:off x="17386300" y="17500600"/>
            <a:ext cx="2806700" cy="736600"/>
          </a:xfrm>
          <a:prstGeom prst="roundRect">
            <a:avLst>
              <a:gd name="adj" fmla="val 18966"/>
            </a:avLst>
          </a:prstGeom>
          <a:solidFill>
            <a:srgbClr val="00397F"/>
          </a:solidFill>
          <a:ln w="15240">
            <a:solidFill>
              <a:srgbClr val="0039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7" name="TextBox 556">
            <a:extLst>
              <a:ext uri="{FF2B5EF4-FFF2-40B4-BE49-F238E27FC236}">
                <a16:creationId xmlns:a16="http://schemas.microsoft.com/office/drawing/2014/main" id="{088D6982-FAEA-0723-2D75-9ECB9E30E089}"/>
              </a:ext>
            </a:extLst>
          </p:cNvPr>
          <p:cNvSpPr txBox="1"/>
          <p:nvPr/>
        </p:nvSpPr>
        <p:spPr>
          <a:xfrm>
            <a:off x="17487900" y="17640300"/>
            <a:ext cx="2603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실행이 존재한다</a:t>
            </a:r>
          </a:p>
        </p:txBody>
      </p:sp>
      <p:sp>
        <p:nvSpPr>
          <p:cNvPr id="558" name="TextBox 557">
            <a:extLst>
              <a:ext uri="{FF2B5EF4-FFF2-40B4-BE49-F238E27FC236}">
                <a16:creationId xmlns:a16="http://schemas.microsoft.com/office/drawing/2014/main" id="{C693DBB9-F1FD-8B83-E779-EADC8028F804}"/>
              </a:ext>
            </a:extLst>
          </p:cNvPr>
          <p:cNvSpPr txBox="1"/>
          <p:nvPr/>
        </p:nvSpPr>
        <p:spPr>
          <a:xfrm>
            <a:off x="17513300" y="17957800"/>
            <a:ext cx="25527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A9C6E6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판정 가능</a:t>
            </a:r>
          </a:p>
        </p:txBody>
      </p:sp>
      <p:sp>
        <p:nvSpPr>
          <p:cNvPr id="559" name="TextBox 558">
            <a:extLst>
              <a:ext uri="{FF2B5EF4-FFF2-40B4-BE49-F238E27FC236}">
                <a16:creationId xmlns:a16="http://schemas.microsoft.com/office/drawing/2014/main" id="{2B9B6661-2230-D76F-EFEC-5E5E50662F40}"/>
              </a:ext>
            </a:extLst>
          </p:cNvPr>
          <p:cNvSpPr txBox="1"/>
          <p:nvPr/>
        </p:nvSpPr>
        <p:spPr>
          <a:xfrm>
            <a:off x="11036300" y="18618200"/>
            <a:ext cx="94107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유한한 증명나무가 있다는 것은</a:t>
            </a:r>
            <a:r>
              <a:rPr lang="en-US" altLang="ko-KR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곧 그 실행이 존재한다는 뜻이다</a:t>
            </a:r>
            <a:r>
              <a:rPr lang="en-US" altLang="ko-KR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700" b="1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60" name="TextBox 559">
            <a:extLst>
              <a:ext uri="{FF2B5EF4-FFF2-40B4-BE49-F238E27FC236}">
                <a16:creationId xmlns:a16="http://schemas.microsoft.com/office/drawing/2014/main" id="{E6894DFF-7E7D-E26F-672C-D46CB6F5727C}"/>
              </a:ext>
            </a:extLst>
          </p:cNvPr>
          <p:cNvSpPr txBox="1"/>
          <p:nvPr/>
        </p:nvSpPr>
        <p:spPr>
          <a:xfrm>
            <a:off x="939800" y="19558000"/>
            <a:ext cx="787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3500" b="1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05</a:t>
            </a:r>
            <a:endParaRPr lang="ko-KR" altLang="en-US" sz="3500" b="1">
              <a:solidFill>
                <a:srgbClr val="3A72B8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561" name="TextBox 560">
            <a:extLst>
              <a:ext uri="{FF2B5EF4-FFF2-40B4-BE49-F238E27FC236}">
                <a16:creationId xmlns:a16="http://schemas.microsoft.com/office/drawing/2014/main" id="{36BFE416-1C86-89FF-C34C-143123CD21B8}"/>
              </a:ext>
            </a:extLst>
          </p:cNvPr>
          <p:cNvSpPr txBox="1"/>
          <p:nvPr/>
        </p:nvSpPr>
        <p:spPr>
          <a:xfrm>
            <a:off x="1828800" y="19558000"/>
            <a:ext cx="85217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35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증명나무의 크기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46AC15E8-1A28-95A1-E7B8-5C8C851D65CD}"/>
              </a:ext>
            </a:extLst>
          </p:cNvPr>
          <p:cNvSpPr txBox="1"/>
          <p:nvPr/>
        </p:nvSpPr>
        <p:spPr>
          <a:xfrm>
            <a:off x="939800" y="20320000"/>
            <a:ext cx="94107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잎에서 뿌리로 </a:t>
            </a:r>
            <a:r>
              <a:rPr lang="en-US" altLang="ko-KR" sz="129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bottom-up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빠짐없이 지어 올리려면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'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크기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'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를 무엇으로 잡을지가 핵심이다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900" b="1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16" name="사각형: 둥근 모서리 215">
            <a:extLst>
              <a:ext uri="{FF2B5EF4-FFF2-40B4-BE49-F238E27FC236}">
                <a16:creationId xmlns:a16="http://schemas.microsoft.com/office/drawing/2014/main" id="{706E54DB-8BBB-67E0-BB60-2D68CDAF2306}"/>
              </a:ext>
            </a:extLst>
          </p:cNvPr>
          <p:cNvSpPr/>
          <p:nvPr/>
        </p:nvSpPr>
        <p:spPr>
          <a:xfrm>
            <a:off x="939800" y="21234400"/>
            <a:ext cx="9410700" cy="3200400"/>
          </a:xfrm>
          <a:prstGeom prst="roundRect">
            <a:avLst>
              <a:gd name="adj" fmla="val 6349"/>
            </a:avLst>
          </a:prstGeom>
          <a:solidFill>
            <a:srgbClr val="EFF4F8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7" name="직선 연결선 216">
            <a:extLst>
              <a:ext uri="{FF2B5EF4-FFF2-40B4-BE49-F238E27FC236}">
                <a16:creationId xmlns:a16="http://schemas.microsoft.com/office/drawing/2014/main" id="{C139BCEA-2331-4568-6702-A7999DA2B423}"/>
              </a:ext>
            </a:extLst>
          </p:cNvPr>
          <p:cNvCxnSpPr/>
          <p:nvPr/>
        </p:nvCxnSpPr>
        <p:spPr>
          <a:xfrm>
            <a:off x="1460500" y="21590000"/>
            <a:ext cx="1689100" cy="0"/>
          </a:xfrm>
          <a:prstGeom prst="line">
            <a:avLst/>
          </a:prstGeom>
          <a:ln w="1270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9A50C9AB-490F-B8BB-EA1C-5872BCE1186B}"/>
              </a:ext>
            </a:extLst>
          </p:cNvPr>
          <p:cNvCxnSpPr/>
          <p:nvPr/>
        </p:nvCxnSpPr>
        <p:spPr>
          <a:xfrm>
            <a:off x="3340100" y="21590000"/>
            <a:ext cx="1689100" cy="0"/>
          </a:xfrm>
          <a:prstGeom prst="line">
            <a:avLst/>
          </a:prstGeom>
          <a:ln w="1270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43A0D390-95E9-9E39-155E-FCE58BD508C8}"/>
              </a:ext>
            </a:extLst>
          </p:cNvPr>
          <p:cNvCxnSpPr/>
          <p:nvPr/>
        </p:nvCxnSpPr>
        <p:spPr>
          <a:xfrm>
            <a:off x="6756400" y="21590000"/>
            <a:ext cx="1689100" cy="0"/>
          </a:xfrm>
          <a:prstGeom prst="line">
            <a:avLst/>
          </a:prstGeom>
          <a:ln w="1270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E1491A49-FFBD-6DDA-60E9-EA5C44A77A7F}"/>
              </a:ext>
            </a:extLst>
          </p:cNvPr>
          <p:cNvSpPr txBox="1"/>
          <p:nvPr/>
        </p:nvSpPr>
        <p:spPr>
          <a:xfrm>
            <a:off x="1460500" y="21666200"/>
            <a:ext cx="16891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3E4A57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[LVar] x =&gt; s0+0</a:t>
            </a:r>
            <a:endParaRPr lang="ko-KR" altLang="en-US" sz="1300">
              <a:solidFill>
                <a:srgbClr val="3E4A57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534B2B0D-9669-6B91-E0AF-07318383F7A5}"/>
              </a:ext>
            </a:extLst>
          </p:cNvPr>
          <p:cNvSpPr txBox="1"/>
          <p:nvPr/>
        </p:nvSpPr>
        <p:spPr>
          <a:xfrm>
            <a:off x="3340100" y="21666200"/>
            <a:ext cx="16891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3E4A57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[EConst] 1 =&gt; 1</a:t>
            </a:r>
            <a:endParaRPr lang="ko-KR" altLang="en-US" sz="1300">
              <a:solidFill>
                <a:srgbClr val="3E4A57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B4DD0D1-D8F0-C432-7275-AC7ADC080AA2}"/>
              </a:ext>
            </a:extLst>
          </p:cNvPr>
          <p:cNvSpPr txBox="1"/>
          <p:nvPr/>
        </p:nvSpPr>
        <p:spPr>
          <a:xfrm>
            <a:off x="6756400" y="21666200"/>
            <a:ext cx="16891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3E4A57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[LVar] x =&gt; s0+0</a:t>
            </a:r>
            <a:endParaRPr lang="ko-KR" altLang="en-US" sz="1300">
              <a:solidFill>
                <a:srgbClr val="3E4A57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AF8C6B36-00B2-8C8D-C72B-DE03A444F45E}"/>
              </a:ext>
            </a:extLst>
          </p:cNvPr>
          <p:cNvCxnSpPr/>
          <p:nvPr/>
        </p:nvCxnSpPr>
        <p:spPr>
          <a:xfrm>
            <a:off x="1441450" y="22047200"/>
            <a:ext cx="3568700" cy="0"/>
          </a:xfrm>
          <a:prstGeom prst="line">
            <a:avLst/>
          </a:prstGeom>
          <a:ln w="1524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TextBox 223">
            <a:extLst>
              <a:ext uri="{FF2B5EF4-FFF2-40B4-BE49-F238E27FC236}">
                <a16:creationId xmlns:a16="http://schemas.microsoft.com/office/drawing/2014/main" id="{F381C7EA-1F5F-08B2-6C3A-35EA348BF4E3}"/>
              </a:ext>
            </a:extLst>
          </p:cNvPr>
          <p:cNvSpPr txBox="1"/>
          <p:nvPr/>
        </p:nvSpPr>
        <p:spPr>
          <a:xfrm>
            <a:off x="869950" y="22085300"/>
            <a:ext cx="47117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fi-FI" altLang="ko-KR" sz="1300">
                <a:solidFill>
                  <a:srgbClr val="1A222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[ISet] x = 1; =&gt; {x |-&gt; 1}</a:t>
            </a:r>
            <a:endParaRPr lang="ko-KR" altLang="en-US" sz="1300">
              <a:solidFill>
                <a:srgbClr val="1A222B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cxnSp>
        <p:nvCxnSpPr>
          <p:cNvPr id="225" name="직선 연결선 224">
            <a:extLst>
              <a:ext uri="{FF2B5EF4-FFF2-40B4-BE49-F238E27FC236}">
                <a16:creationId xmlns:a16="http://schemas.microsoft.com/office/drawing/2014/main" id="{A37B7AA5-A920-2AC7-AFFD-3AF7130449B7}"/>
              </a:ext>
            </a:extLst>
          </p:cNvPr>
          <p:cNvCxnSpPr/>
          <p:nvPr/>
        </p:nvCxnSpPr>
        <p:spPr>
          <a:xfrm>
            <a:off x="5727700" y="22047200"/>
            <a:ext cx="3835400" cy="0"/>
          </a:xfrm>
          <a:prstGeom prst="line">
            <a:avLst/>
          </a:prstGeom>
          <a:ln w="1524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0820233A-C4C1-1DE5-4D0D-F6CC96CA1014}"/>
              </a:ext>
            </a:extLst>
          </p:cNvPr>
          <p:cNvSpPr txBox="1"/>
          <p:nvPr/>
        </p:nvSpPr>
        <p:spPr>
          <a:xfrm>
            <a:off x="5156200" y="22085300"/>
            <a:ext cx="49784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1A222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[ELval] x =&gt; 1</a:t>
            </a:r>
            <a:endParaRPr lang="ko-KR" altLang="en-US" sz="1300">
              <a:solidFill>
                <a:srgbClr val="1A222B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cxnSp>
        <p:nvCxnSpPr>
          <p:cNvPr id="227" name="직선 연결선 226">
            <a:extLst>
              <a:ext uri="{FF2B5EF4-FFF2-40B4-BE49-F238E27FC236}">
                <a16:creationId xmlns:a16="http://schemas.microsoft.com/office/drawing/2014/main" id="{E737FE84-8929-C0F7-B80B-DF184EB4476E}"/>
              </a:ext>
            </a:extLst>
          </p:cNvPr>
          <p:cNvCxnSpPr/>
          <p:nvPr/>
        </p:nvCxnSpPr>
        <p:spPr>
          <a:xfrm>
            <a:off x="1441450" y="22428200"/>
            <a:ext cx="3568700" cy="0"/>
          </a:xfrm>
          <a:prstGeom prst="line">
            <a:avLst/>
          </a:prstGeom>
          <a:ln w="1524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TextBox 227">
            <a:extLst>
              <a:ext uri="{FF2B5EF4-FFF2-40B4-BE49-F238E27FC236}">
                <a16:creationId xmlns:a16="http://schemas.microsoft.com/office/drawing/2014/main" id="{D010C7D7-AEBB-44A7-41E9-668960648D7A}"/>
              </a:ext>
            </a:extLst>
          </p:cNvPr>
          <p:cNvSpPr txBox="1"/>
          <p:nvPr/>
        </p:nvSpPr>
        <p:spPr>
          <a:xfrm>
            <a:off x="869950" y="22466300"/>
            <a:ext cx="47117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1A222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[SInstr] instr[1] =&gt; Normal</a:t>
            </a:r>
            <a:endParaRPr lang="ko-KR" altLang="en-US" sz="1300">
              <a:solidFill>
                <a:srgbClr val="1A222B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cxnSp>
        <p:nvCxnSpPr>
          <p:cNvPr id="229" name="직선 연결선 228">
            <a:extLst>
              <a:ext uri="{FF2B5EF4-FFF2-40B4-BE49-F238E27FC236}">
                <a16:creationId xmlns:a16="http://schemas.microsoft.com/office/drawing/2014/main" id="{8A10A6EC-32D9-7DA9-31C9-210B674BFE64}"/>
              </a:ext>
            </a:extLst>
          </p:cNvPr>
          <p:cNvCxnSpPr/>
          <p:nvPr/>
        </p:nvCxnSpPr>
        <p:spPr>
          <a:xfrm>
            <a:off x="5727700" y="22428200"/>
            <a:ext cx="3835400" cy="0"/>
          </a:xfrm>
          <a:prstGeom prst="line">
            <a:avLst/>
          </a:prstGeom>
          <a:ln w="1524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F7653ED3-A08F-E84E-29A1-41C0A607E139}"/>
              </a:ext>
            </a:extLst>
          </p:cNvPr>
          <p:cNvSpPr txBox="1"/>
          <p:nvPr/>
        </p:nvSpPr>
        <p:spPr>
          <a:xfrm>
            <a:off x="5156200" y="22466300"/>
            <a:ext cx="49784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1A222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[SReturnSome] return x; =&gt; Return(1)</a:t>
            </a:r>
            <a:endParaRPr lang="ko-KR" altLang="en-US" sz="1300">
              <a:solidFill>
                <a:srgbClr val="1A222B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cxnSp>
        <p:nvCxnSpPr>
          <p:cNvPr id="231" name="직선 연결선 230">
            <a:extLst>
              <a:ext uri="{FF2B5EF4-FFF2-40B4-BE49-F238E27FC236}">
                <a16:creationId xmlns:a16="http://schemas.microsoft.com/office/drawing/2014/main" id="{A2E25C3D-B80E-76BE-9C45-DB49C7750E1C}"/>
              </a:ext>
            </a:extLst>
          </p:cNvPr>
          <p:cNvCxnSpPr/>
          <p:nvPr/>
        </p:nvCxnSpPr>
        <p:spPr>
          <a:xfrm>
            <a:off x="1460500" y="22809200"/>
            <a:ext cx="8255000" cy="0"/>
          </a:xfrm>
          <a:prstGeom prst="line">
            <a:avLst/>
          </a:prstGeom>
          <a:ln w="1524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8CFAEB48-8298-0A0D-2C36-DD1CFFDB317C}"/>
              </a:ext>
            </a:extLst>
          </p:cNvPr>
          <p:cNvSpPr txBox="1"/>
          <p:nvPr/>
        </p:nvSpPr>
        <p:spPr>
          <a:xfrm>
            <a:off x="889000" y="22847300"/>
            <a:ext cx="939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1A222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[BSeq] block[2] =&gt; Return(1)</a:t>
            </a:r>
            <a:endParaRPr lang="ko-KR" altLang="en-US" sz="1300">
              <a:solidFill>
                <a:srgbClr val="1A222B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cxnSp>
        <p:nvCxnSpPr>
          <p:cNvPr id="233" name="직선 연결선 232">
            <a:extLst>
              <a:ext uri="{FF2B5EF4-FFF2-40B4-BE49-F238E27FC236}">
                <a16:creationId xmlns:a16="http://schemas.microsoft.com/office/drawing/2014/main" id="{1452842B-2180-454D-8638-1C51BBE40553}"/>
              </a:ext>
            </a:extLst>
          </p:cNvPr>
          <p:cNvCxnSpPr/>
          <p:nvPr/>
        </p:nvCxnSpPr>
        <p:spPr>
          <a:xfrm>
            <a:off x="1460500" y="23190200"/>
            <a:ext cx="8255000" cy="0"/>
          </a:xfrm>
          <a:prstGeom prst="line">
            <a:avLst/>
          </a:prstGeom>
          <a:ln w="15240">
            <a:solidFill>
              <a:srgbClr val="C3CF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B7371ED9-4F60-1E0A-60D6-99F32837A2F8}"/>
              </a:ext>
            </a:extLst>
          </p:cNvPr>
          <p:cNvSpPr txBox="1"/>
          <p:nvPr/>
        </p:nvSpPr>
        <p:spPr>
          <a:xfrm>
            <a:off x="889000" y="23228300"/>
            <a:ext cx="939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300">
                <a:solidFill>
                  <a:srgbClr val="1A222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[FReturn] main() =&gt; Return(1)</a:t>
            </a:r>
            <a:endParaRPr lang="ko-KR" altLang="en-US" sz="1300">
              <a:solidFill>
                <a:srgbClr val="1A222B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cxnSp>
        <p:nvCxnSpPr>
          <p:cNvPr id="235" name="직선 연결선 234">
            <a:extLst>
              <a:ext uri="{FF2B5EF4-FFF2-40B4-BE49-F238E27FC236}">
                <a16:creationId xmlns:a16="http://schemas.microsoft.com/office/drawing/2014/main" id="{700FE62D-336B-8F4B-F065-F5389D4D641B}"/>
              </a:ext>
            </a:extLst>
          </p:cNvPr>
          <p:cNvCxnSpPr/>
          <p:nvPr/>
        </p:nvCxnSpPr>
        <p:spPr>
          <a:xfrm>
            <a:off x="1460500" y="23571200"/>
            <a:ext cx="8255000" cy="0"/>
          </a:xfrm>
          <a:prstGeom prst="line">
            <a:avLst/>
          </a:prstGeom>
          <a:ln w="33020">
            <a:solidFill>
              <a:srgbClr val="0039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TextBox 235">
            <a:extLst>
              <a:ext uri="{FF2B5EF4-FFF2-40B4-BE49-F238E27FC236}">
                <a16:creationId xmlns:a16="http://schemas.microsoft.com/office/drawing/2014/main" id="{91397A19-F543-FC27-95E6-E5B085DEF5A3}"/>
              </a:ext>
            </a:extLst>
          </p:cNvPr>
          <p:cNvSpPr txBox="1"/>
          <p:nvPr/>
        </p:nvSpPr>
        <p:spPr>
          <a:xfrm>
            <a:off x="889000" y="23609300"/>
            <a:ext cx="939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400">
                <a:solidFill>
                  <a:srgbClr val="00397F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[PMainReturn] main() =&gt; 1</a:t>
            </a:r>
            <a:endParaRPr lang="ko-KR" altLang="en-US" sz="1400">
              <a:solidFill>
                <a:srgbClr val="00397F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9777FA2F-AEAC-0DA0-7766-440E8A4EDBCB}"/>
              </a:ext>
            </a:extLst>
          </p:cNvPr>
          <p:cNvCxnSpPr/>
          <p:nvPr/>
        </p:nvCxnSpPr>
        <p:spPr>
          <a:xfrm>
            <a:off x="1460500" y="23952200"/>
            <a:ext cx="8255000" cy="0"/>
          </a:xfrm>
          <a:prstGeom prst="line">
            <a:avLst/>
          </a:prstGeom>
          <a:ln w="33020">
            <a:solidFill>
              <a:srgbClr val="0039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TextBox 237">
            <a:extLst>
              <a:ext uri="{FF2B5EF4-FFF2-40B4-BE49-F238E27FC236}">
                <a16:creationId xmlns:a16="http://schemas.microsoft.com/office/drawing/2014/main" id="{1750AF76-B0BB-982B-1E91-FDA88219A4A3}"/>
              </a:ext>
            </a:extLst>
          </p:cNvPr>
          <p:cNvSpPr txBox="1"/>
          <p:nvPr/>
        </p:nvSpPr>
        <p:spPr>
          <a:xfrm>
            <a:off x="1460500" y="24053800"/>
            <a:ext cx="8255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 sz="1300">
                <a:solidFill>
                  <a:srgbClr val="7C8A9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잎에서 뿌리로 </a:t>
            </a:r>
            <a:r>
              <a:rPr lang="en-US" altLang="ko-KR" sz="1300">
                <a:solidFill>
                  <a:srgbClr val="7C8A9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— proof_size(t) = 1 + sum of premise sizes</a:t>
            </a:r>
            <a:endParaRPr lang="ko-KR" altLang="en-US" sz="1300">
              <a:solidFill>
                <a:srgbClr val="7C8A99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8125E1DD-A17D-5D76-D20C-A919EC4DAC9B}"/>
              </a:ext>
            </a:extLst>
          </p:cNvPr>
          <p:cNvSpPr/>
          <p:nvPr/>
        </p:nvSpPr>
        <p:spPr>
          <a:xfrm>
            <a:off x="939800" y="24688800"/>
            <a:ext cx="4572000" cy="1930400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DFFB3037-95E6-4B93-52AE-23511AF76512}"/>
              </a:ext>
            </a:extLst>
          </p:cNvPr>
          <p:cNvSpPr/>
          <p:nvPr/>
        </p:nvSpPr>
        <p:spPr>
          <a:xfrm>
            <a:off x="939800" y="24904700"/>
            <a:ext cx="76200" cy="1498600"/>
          </a:xfrm>
          <a:prstGeom prst="rect">
            <a:avLst/>
          </a:prstGeom>
          <a:solidFill>
            <a:srgbClr val="3A72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65F575C-EDAE-1114-F490-4A20C73A7CBE}"/>
              </a:ext>
            </a:extLst>
          </p:cNvPr>
          <p:cNvSpPr txBox="1"/>
          <p:nvPr/>
        </p:nvSpPr>
        <p:spPr>
          <a:xfrm>
            <a:off x="1295400" y="24879300"/>
            <a:ext cx="401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7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마디 수 </a:t>
            </a:r>
            <a:r>
              <a:rPr lang="en-US" altLang="ko-KR" sz="1156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node</a:t>
            </a:r>
            <a:r>
              <a:rPr lang="ko-KR" altLang="en-US" sz="17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만 세면</a:t>
            </a:r>
            <a:r>
              <a:rPr lang="en-US" altLang="ko-KR" sz="17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?</a:t>
            </a:r>
            <a:endParaRPr lang="ko-KR" altLang="en-US" sz="1700" b="1">
              <a:solidFill>
                <a:srgbClr val="00397F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D78C9820-AB5C-D490-5733-4FCF2457B82D}"/>
              </a:ext>
            </a:extLst>
          </p:cNvPr>
          <p:cNvSpPr txBox="1"/>
          <p:nvPr/>
        </p:nvSpPr>
        <p:spPr>
          <a:xfrm>
            <a:off x="1295400" y="25273000"/>
            <a:ext cx="3962400" cy="1168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4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실행되지 않는 갈림길 </a:t>
            </a:r>
            <a:r>
              <a:rPr lang="en-US" altLang="ko-KR" sz="95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branch</a:t>
            </a:r>
            <a:r>
              <a:rPr lang="ko-KR" altLang="en-US" sz="14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에 아무리 큰 코드가 들어가도 증명나무는 커지지 않는다</a:t>
            </a:r>
            <a:r>
              <a:rPr lang="en-US" altLang="ko-KR" sz="14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4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같은 크기의 나무에 대응하는 프로그램이 무한히 많아진다</a:t>
            </a:r>
            <a:r>
              <a:rPr lang="en-US" altLang="ko-KR" sz="14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40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43" name="사각형: 둥근 모서리 242">
            <a:extLst>
              <a:ext uri="{FF2B5EF4-FFF2-40B4-BE49-F238E27FC236}">
                <a16:creationId xmlns:a16="http://schemas.microsoft.com/office/drawing/2014/main" id="{248FD1CB-9A3A-4FE7-47C9-DA9DF7C963DF}"/>
              </a:ext>
            </a:extLst>
          </p:cNvPr>
          <p:cNvSpPr/>
          <p:nvPr/>
        </p:nvSpPr>
        <p:spPr>
          <a:xfrm>
            <a:off x="5765800" y="24688800"/>
            <a:ext cx="4584700" cy="1930400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5240">
            <a:solidFill>
              <a:srgbClr val="C3CF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7CB5C0D6-5F36-1CAA-0EB0-6F978A27ED0B}"/>
              </a:ext>
            </a:extLst>
          </p:cNvPr>
          <p:cNvSpPr/>
          <p:nvPr/>
        </p:nvSpPr>
        <p:spPr>
          <a:xfrm>
            <a:off x="5765800" y="24904700"/>
            <a:ext cx="76200" cy="1498600"/>
          </a:xfrm>
          <a:prstGeom prst="rect">
            <a:avLst/>
          </a:prstGeom>
          <a:solidFill>
            <a:srgbClr val="3A72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E92A115A-D9B4-15A7-90F2-6DD1049C3D8B}"/>
              </a:ext>
            </a:extLst>
          </p:cNvPr>
          <p:cNvSpPr txBox="1"/>
          <p:nvPr/>
        </p:nvSpPr>
        <p:spPr>
          <a:xfrm>
            <a:off x="6121400" y="24879300"/>
            <a:ext cx="40259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7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프로그램 크기로 재면</a:t>
            </a:r>
            <a:r>
              <a:rPr lang="en-US" altLang="ko-KR" sz="17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?</a:t>
            </a:r>
            <a:endParaRPr lang="ko-KR" altLang="en-US" sz="1700" b="1">
              <a:solidFill>
                <a:srgbClr val="00397F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1DAC17C5-4B32-102D-00AE-1D652792C12F}"/>
              </a:ext>
            </a:extLst>
          </p:cNvPr>
          <p:cNvSpPr txBox="1"/>
          <p:nvPr/>
        </p:nvSpPr>
        <p:spPr>
          <a:xfrm>
            <a:off x="6121400" y="25273000"/>
            <a:ext cx="3975100" cy="1168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4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반대로 프로그램 크기는 그대로인데 실행 의미가 무한히 길어질 수 있다</a:t>
            </a:r>
            <a:r>
              <a:rPr lang="en-US" altLang="ko-KR" sz="14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4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반복문 하나로 증명나무만 끝없이 자란다</a:t>
            </a:r>
            <a:r>
              <a:rPr lang="en-US" altLang="ko-KR" sz="140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40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E8122AC4-392D-5CD1-8BF9-D42CB49ADC3A}"/>
              </a:ext>
            </a:extLst>
          </p:cNvPr>
          <p:cNvSpPr txBox="1"/>
          <p:nvPr/>
        </p:nvSpPr>
        <p:spPr>
          <a:xfrm>
            <a:off x="939800" y="26822400"/>
            <a:ext cx="94107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어느 쪽도 혼자서는 안 된다</a:t>
            </a:r>
            <a:r>
              <a:rPr lang="en-US" altLang="ko-KR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문법에 </a:t>
            </a:r>
            <a:r>
              <a:rPr lang="en-US" altLang="ko-KR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'</a:t>
            </a:r>
            <a:r>
              <a:rPr lang="ko-KR" altLang="en-US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구멍</a:t>
            </a:r>
            <a:r>
              <a:rPr lang="en-US" altLang="ko-KR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' </a:t>
            </a:r>
            <a:r>
              <a:rPr lang="en-US" altLang="ko-KR" sz="1156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hole</a:t>
            </a:r>
            <a:r>
              <a:rPr lang="ko-KR" altLang="en-US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을 들이는 이유다</a:t>
            </a:r>
            <a:r>
              <a:rPr lang="en-US" altLang="ko-KR" sz="17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700" b="1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C69C3560-E967-2656-4A79-13D9EEDE069B}"/>
              </a:ext>
            </a:extLst>
          </p:cNvPr>
          <p:cNvSpPr txBox="1"/>
          <p:nvPr/>
        </p:nvSpPr>
        <p:spPr>
          <a:xfrm>
            <a:off x="11036300" y="19558000"/>
            <a:ext cx="787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en-US" altLang="ko-KR" sz="3500" b="1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06</a:t>
            </a:r>
            <a:endParaRPr lang="ko-KR" altLang="en-US" sz="3500" b="1">
              <a:solidFill>
                <a:srgbClr val="3A72B8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17EB3597-6BF4-06D8-F349-3DFF45FD89D7}"/>
              </a:ext>
            </a:extLst>
          </p:cNvPr>
          <p:cNvSpPr txBox="1"/>
          <p:nvPr/>
        </p:nvSpPr>
        <p:spPr>
          <a:xfrm>
            <a:off x="11925300" y="19558000"/>
            <a:ext cx="85217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3500" b="1">
                <a:solidFill>
                  <a:srgbClr val="00397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구멍 뚫린 증명나무와 짝맞추기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E7AC823A-4813-09E3-F3F8-6B865CD8B1C3}"/>
              </a:ext>
            </a:extLst>
          </p:cNvPr>
          <p:cNvSpPr txBox="1"/>
          <p:nvPr/>
        </p:nvSpPr>
        <p:spPr>
          <a:xfrm>
            <a:off x="11036300" y="20320000"/>
            <a:ext cx="94107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실행되지 않은 자리를 구멍 </a:t>
            </a:r>
            <a:r>
              <a:rPr lang="en-US" altLang="ko-KR" sz="1292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hole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으로 남기면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크기를 그냥 마디 수로 정의할 수 있다</a:t>
            </a:r>
            <a:r>
              <a:rPr lang="en-US" altLang="ko-KR" sz="1900" b="1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900" b="1">
              <a:solidFill>
                <a:srgbClr val="1A222B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51" name="사각형: 둥근 모서리 250">
            <a:extLst>
              <a:ext uri="{FF2B5EF4-FFF2-40B4-BE49-F238E27FC236}">
                <a16:creationId xmlns:a16="http://schemas.microsoft.com/office/drawing/2014/main" id="{A3C622FA-12B5-BA62-FFF9-D51043D475C5}"/>
              </a:ext>
            </a:extLst>
          </p:cNvPr>
          <p:cNvSpPr/>
          <p:nvPr/>
        </p:nvSpPr>
        <p:spPr>
          <a:xfrm>
            <a:off x="11036300" y="21234400"/>
            <a:ext cx="5334000" cy="1930400"/>
          </a:xfrm>
          <a:prstGeom prst="roundRect">
            <a:avLst>
              <a:gd name="adj" fmla="val 6579"/>
            </a:avLst>
          </a:prstGeom>
          <a:solidFill>
            <a:srgbClr val="2E34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4E8B4D49-988C-CA58-7C4A-77363C1E4B33}"/>
              </a:ext>
            </a:extLst>
          </p:cNvPr>
          <p:cNvSpPr txBox="1"/>
          <p:nvPr/>
        </p:nvSpPr>
        <p:spPr>
          <a:xfrm>
            <a:off x="11391900" y="21463000"/>
            <a:ext cx="4622800" cy="147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5000"/>
              </a:lnSpc>
            </a:pPr>
            <a:r>
              <a:rPr lang="en-US" altLang="ko-KR" sz="1500">
                <a:solidFill>
                  <a:srgbClr val="88C0D0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if</a:t>
            </a: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 (x || </a:t>
            </a:r>
            <a:r>
              <a:rPr lang="en-US" altLang="ko-KR" sz="1500">
                <a:solidFill>
                  <a:srgbClr val="EBCB8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?H1</a:t>
            </a: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) {
  </a:t>
            </a:r>
            <a:r>
              <a:rPr lang="en-US" altLang="ko-KR" sz="1500">
                <a:solidFill>
                  <a:srgbClr val="88C0D0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return</a:t>
            </a: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 </a:t>
            </a:r>
            <a:r>
              <a:rPr lang="en-US" altLang="ko-KR" sz="1500">
                <a:solidFill>
                  <a:srgbClr val="EBCB8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0</a:t>
            </a: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;
} </a:t>
            </a:r>
            <a:r>
              <a:rPr lang="en-US" altLang="ko-KR" sz="1500">
                <a:solidFill>
                  <a:srgbClr val="88C0D0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else</a:t>
            </a: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 {
  </a:t>
            </a:r>
            <a:r>
              <a:rPr lang="en-US" altLang="ko-KR" sz="1500">
                <a:solidFill>
                  <a:srgbClr val="EBCB8B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?H2</a:t>
            </a:r>
            <a:r>
              <a:rPr lang="en-US" altLang="ko-KR" sz="1500">
                <a:solidFill>
                  <a:srgbClr val="D8DEE9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
}</a:t>
            </a:r>
            <a:endParaRPr lang="ko-KR" altLang="en-US" sz="1500">
              <a:solidFill>
                <a:srgbClr val="D8DEE9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sp>
        <p:nvSpPr>
          <p:cNvPr id="253" name="사각형: 둥근 모서리 252">
            <a:extLst>
              <a:ext uri="{FF2B5EF4-FFF2-40B4-BE49-F238E27FC236}">
                <a16:creationId xmlns:a16="http://schemas.microsoft.com/office/drawing/2014/main" id="{F5C0B53B-3FB2-11F7-D219-ED86EBDC7DD9}"/>
              </a:ext>
            </a:extLst>
          </p:cNvPr>
          <p:cNvSpPr/>
          <p:nvPr/>
        </p:nvSpPr>
        <p:spPr>
          <a:xfrm>
            <a:off x="16637000" y="21386800"/>
            <a:ext cx="787400" cy="406400"/>
          </a:xfrm>
          <a:prstGeom prst="roundRect">
            <a:avLst>
              <a:gd name="adj" fmla="val 28125"/>
            </a:avLst>
          </a:prstGeom>
          <a:solidFill>
            <a:srgbClr val="0039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78CDD9D9-9830-A843-B00E-2FA0A0D001A0}"/>
              </a:ext>
            </a:extLst>
          </p:cNvPr>
          <p:cNvSpPr txBox="1"/>
          <p:nvPr/>
        </p:nvSpPr>
        <p:spPr>
          <a:xfrm>
            <a:off x="16637000" y="21386800"/>
            <a:ext cx="7874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400" b="1">
                <a:solidFill>
                  <a:srgbClr val="FFFFFF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?H1</a:t>
            </a:r>
            <a:endParaRPr lang="ko-KR" altLang="en-US" sz="1400" b="1">
              <a:solidFill>
                <a:srgbClr val="FFFFFF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549B87EB-89EB-5EB5-16F4-19E9EDE157DF}"/>
              </a:ext>
            </a:extLst>
          </p:cNvPr>
          <p:cNvSpPr txBox="1"/>
          <p:nvPr/>
        </p:nvSpPr>
        <p:spPr>
          <a:xfrm>
            <a:off x="17576800" y="21386800"/>
            <a:ext cx="28702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3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앞에서 이미 결판나 계산하지 않은 오른쪽 항</a:t>
            </a:r>
          </a:p>
        </p:txBody>
      </p:sp>
      <p:sp>
        <p:nvSpPr>
          <p:cNvPr id="384" name="사각형: 둥근 모서리 383">
            <a:extLst>
              <a:ext uri="{FF2B5EF4-FFF2-40B4-BE49-F238E27FC236}">
                <a16:creationId xmlns:a16="http://schemas.microsoft.com/office/drawing/2014/main" id="{0927C89D-07FA-36F2-9B59-D57FC0CEA31C}"/>
              </a:ext>
            </a:extLst>
          </p:cNvPr>
          <p:cNvSpPr/>
          <p:nvPr/>
        </p:nvSpPr>
        <p:spPr>
          <a:xfrm>
            <a:off x="16637000" y="22301200"/>
            <a:ext cx="787400" cy="406400"/>
          </a:xfrm>
          <a:prstGeom prst="roundRect">
            <a:avLst>
              <a:gd name="adj" fmla="val 28125"/>
            </a:avLst>
          </a:prstGeom>
          <a:solidFill>
            <a:srgbClr val="3A72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0CF71681-BB66-07DD-BEFE-D2293CC791DE}"/>
              </a:ext>
            </a:extLst>
          </p:cNvPr>
          <p:cNvSpPr txBox="1"/>
          <p:nvPr/>
        </p:nvSpPr>
        <p:spPr>
          <a:xfrm>
            <a:off x="16637000" y="22301200"/>
            <a:ext cx="7874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sz="1400" b="1">
                <a:solidFill>
                  <a:srgbClr val="FFFFFF"/>
                </a:solidFill>
                <a:latin typeface="Consolas" panose="020B0609020204030204" pitchFamily="49" charset="0"/>
                <a:ea typeface="맑은 고딕" panose="020B0503020000020004" pitchFamily="50" charset="-127"/>
              </a:rPr>
              <a:t>?H2</a:t>
            </a:r>
            <a:endParaRPr lang="ko-KR" altLang="en-US" sz="1400" b="1">
              <a:solidFill>
                <a:srgbClr val="FFFFFF"/>
              </a:solidFill>
              <a:latin typeface="Consolas" panose="020B0609020204030204" pitchFamily="49" charset="0"/>
              <a:ea typeface="맑은 고딕" panose="020B0503020000020004" pitchFamily="50" charset="-127"/>
            </a:endParaRPr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6197E710-4820-E882-A0E2-5B2FE43FCE80}"/>
              </a:ext>
            </a:extLst>
          </p:cNvPr>
          <p:cNvSpPr txBox="1"/>
          <p:nvPr/>
        </p:nvSpPr>
        <p:spPr>
          <a:xfrm>
            <a:off x="17576800" y="22301200"/>
            <a:ext cx="28702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3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선택되지 않은 갈림길</a:t>
            </a:r>
            <a:r>
              <a:rPr lang="en-US" altLang="ko-KR" sz="13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3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또는 </a:t>
            </a:r>
            <a:r>
              <a:rPr lang="en-US" altLang="ko-KR" sz="13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return </a:t>
            </a:r>
            <a:r>
              <a:rPr lang="ko-KR" altLang="en-US" sz="13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뒤에 잘린 문장 꼬리</a:t>
            </a: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04AF031E-0512-08FA-FB4F-A948F6C52AEF}"/>
              </a:ext>
            </a:extLst>
          </p:cNvPr>
          <p:cNvSpPr txBox="1"/>
          <p:nvPr/>
        </p:nvSpPr>
        <p:spPr>
          <a:xfrm>
            <a:off x="11036300" y="23393400"/>
            <a:ext cx="94107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350" b="1" spc="150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구멍이 놓일 수 있는 자리 </a:t>
            </a:r>
            <a:r>
              <a:rPr lang="en-US" altLang="ko-KR" sz="1350" b="1" spc="150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— </a:t>
            </a:r>
            <a:r>
              <a:rPr lang="ko-KR" altLang="en-US" sz="1350" b="1" spc="150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이 셋뿐</a:t>
            </a:r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1E5B59E-A881-2041-5AE9-F24C0E8099C9}"/>
              </a:ext>
            </a:extLst>
          </p:cNvPr>
          <p:cNvSpPr txBox="1"/>
          <p:nvPr/>
        </p:nvSpPr>
        <p:spPr>
          <a:xfrm>
            <a:off x="11036300" y="23723600"/>
            <a:ext cx="94107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600"/>
              </a:spcAft>
            </a:pPr>
            <a:r>
              <a:rPr lang="en-US" altLang="ko-KR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·  if </a:t>
            </a:r>
            <a:r>
              <a:rPr lang="ko-KR" altLang="en-US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문의 선택되지 않은 갈림길 </a:t>
            </a:r>
            <a:r>
              <a:rPr lang="en-US" altLang="ko-KR" sz="986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branch</a:t>
            </a:r>
            <a:r>
              <a:rPr lang="en-US" altLang="ko-KR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
·  </a:t>
            </a:r>
            <a:r>
              <a:rPr lang="ko-KR" altLang="en-US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차례로 이어진 문장 </a:t>
            </a:r>
            <a:r>
              <a:rPr lang="en-US" altLang="ko-KR" sz="986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sequence</a:t>
            </a:r>
            <a:r>
              <a:rPr lang="ko-KR" altLang="en-US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의 맨 끝 </a:t>
            </a:r>
            <a:r>
              <a:rPr lang="en-US" altLang="ko-KR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— return · break · continue </a:t>
            </a:r>
            <a:r>
              <a:rPr lang="ko-KR" altLang="en-US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뒤
</a:t>
            </a:r>
            <a:r>
              <a:rPr lang="en-US" altLang="ko-KR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·  &amp;&amp; / || </a:t>
            </a:r>
            <a:r>
              <a:rPr lang="ko-KR" altLang="en-US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에서 앞에서 결판나 </a:t>
            </a:r>
            <a:r>
              <a:rPr lang="en-US" altLang="ko-KR" sz="986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short-circuit</a:t>
            </a:r>
            <a:r>
              <a:rPr lang="en-US" altLang="ko-KR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1450">
                <a:solidFill>
                  <a:srgbClr val="1A222B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계산하지 않은 오른쪽 항</a:t>
            </a:r>
          </a:p>
        </p:txBody>
      </p:sp>
      <p:sp>
        <p:nvSpPr>
          <p:cNvPr id="389" name="사각형: 둥근 모서리 388">
            <a:extLst>
              <a:ext uri="{FF2B5EF4-FFF2-40B4-BE49-F238E27FC236}">
                <a16:creationId xmlns:a16="http://schemas.microsoft.com/office/drawing/2014/main" id="{E5488BAE-E67D-7FA0-4B3A-5A76ABFCE046}"/>
              </a:ext>
            </a:extLst>
          </p:cNvPr>
          <p:cNvSpPr/>
          <p:nvPr/>
        </p:nvSpPr>
        <p:spPr>
          <a:xfrm>
            <a:off x="11036300" y="24968200"/>
            <a:ext cx="9410700" cy="584200"/>
          </a:xfrm>
          <a:prstGeom prst="roundRect">
            <a:avLst>
              <a:gd name="adj" fmla="val 21739"/>
            </a:avLst>
          </a:prstGeom>
          <a:solidFill>
            <a:srgbClr val="0039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0045A99E-AB33-2A2D-8040-AA54E1E161D7}"/>
              </a:ext>
            </a:extLst>
          </p:cNvPr>
          <p:cNvSpPr txBox="1"/>
          <p:nvPr/>
        </p:nvSpPr>
        <p:spPr>
          <a:xfrm>
            <a:off x="11341100" y="24968200"/>
            <a:ext cx="88011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600" b="1">
                <a:solidFill>
                  <a:srgbClr val="FFFFFF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올바른 증명나무에서 구멍은 절대 실행되지 않는다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A4CE68B4-FC4A-0410-07FE-8948982758A6}"/>
              </a:ext>
            </a:extLst>
          </p:cNvPr>
          <p:cNvSpPr txBox="1"/>
          <p:nvPr/>
        </p:nvSpPr>
        <p:spPr>
          <a:xfrm>
            <a:off x="11036300" y="25806400"/>
            <a:ext cx="94107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350" b="1" spc="150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짝맞추기 </a:t>
            </a:r>
            <a:r>
              <a:rPr lang="en-US" altLang="ko-KR" sz="918" spc="150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unification</a:t>
            </a:r>
            <a:r>
              <a:rPr lang="en-US" altLang="ko-KR" sz="1350" b="1" spc="150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 — </a:t>
            </a:r>
            <a:r>
              <a:rPr lang="ko-KR" altLang="en-US" sz="1350" b="1" spc="150">
                <a:solidFill>
                  <a:srgbClr val="3A72B8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왜 필요한가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1D11BF26-A95A-82C0-9F57-0CBD957D4425}"/>
              </a:ext>
            </a:extLst>
          </p:cNvPr>
          <p:cNvSpPr txBox="1"/>
          <p:nvPr/>
        </p:nvSpPr>
        <p:spPr>
          <a:xfrm>
            <a:off x="11036300" y="26136600"/>
            <a:ext cx="9410700" cy="1066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95000"/>
              </a:lnSpc>
            </a:pPr>
            <a:r>
              <a:rPr lang="ko-KR" altLang="en-US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반복문과 제 자신을 부르는 함수에서는 같은 자리가 여러 번 실행된다</a:t>
            </a:r>
            <a:r>
              <a:rPr lang="en-US" altLang="ko-KR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그때 나온 조각들은 서로 실제로 같아야 한다</a:t>
            </a:r>
            <a:r>
              <a:rPr lang="en-US" altLang="ko-KR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en-US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타입 추론 </a:t>
            </a:r>
            <a:r>
              <a:rPr lang="en-US" altLang="ko-KR" sz="986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type inference</a:t>
            </a:r>
            <a:r>
              <a:rPr lang="ko-KR" altLang="en-US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에서 쓰는 것과 같은 짝맞추기로 맞추고</a:t>
            </a:r>
            <a:r>
              <a:rPr lang="en-US" altLang="ko-KR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나무와 갈아끼우기 </a:t>
            </a:r>
            <a:r>
              <a:rPr lang="en-US" altLang="ko-KR" sz="986">
                <a:solidFill>
                  <a:srgbClr val="7C8A99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substitution</a:t>
            </a:r>
            <a:r>
              <a:rPr lang="ko-KR" altLang="en-US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를 따로 들고 다닌다</a:t>
            </a:r>
            <a:r>
              <a:rPr lang="en-US" altLang="ko-KR" sz="1450">
                <a:solidFill>
                  <a:srgbClr val="3E4A57"/>
                </a:solidFill>
                <a:latin typeface="Aptos" panose="020B0004020202020204" pitchFamily="34" charset="0"/>
                <a:ea typeface="맑은 고딕" panose="020B0503020000020004" pitchFamily="50" charset="-127"/>
              </a:rPr>
              <a:t>.</a:t>
            </a:r>
            <a:endParaRPr lang="ko-KR" altLang="en-US" sz="1450">
              <a:solidFill>
                <a:srgbClr val="3E4A57"/>
              </a:solidFill>
              <a:latin typeface="Aptos" panose="020B0004020202020204" pitchFamily="34" charset="0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9423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14</TotalTime>
  <Words>873</Words>
  <Application>Microsoft Office PowerPoint</Application>
  <PresentationFormat>사용자 지정</PresentationFormat>
  <Paragraphs>103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Consolas</vt:lpstr>
      <vt:lpstr>Times New Roman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JungWonJun</dc:creator>
  <cp:lastModifiedBy>JungWonJun</cp:lastModifiedBy>
  <cp:revision>12</cp:revision>
  <dcterms:created xsi:type="dcterms:W3CDTF">2026-08-20T07:14:27Z</dcterms:created>
  <dcterms:modified xsi:type="dcterms:W3CDTF">2026-08-23T09:51:59Z</dcterms:modified>
</cp:coreProperties>
</file>