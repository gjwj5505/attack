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95AB"/>
    <a:srgbClr val="61A6B9"/>
    <a:srgbClr val="80B7C7"/>
    <a:srgbClr val="9A6F1A"/>
    <a:srgbClr val="EBCB8B"/>
    <a:srgbClr val="88C0D0"/>
    <a:srgbClr val="8A0000"/>
    <a:srgbClr val="1C3F48"/>
    <a:srgbClr val="00397F"/>
    <a:srgbClr val="EFF4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82" autoAdjust="0"/>
    <p:restoredTop sz="94660"/>
  </p:normalViewPr>
  <p:slideViewPr>
    <p:cSldViewPr snapToGrid="0">
      <p:cViewPr>
        <p:scale>
          <a:sx n="33" d="100"/>
          <a:sy n="33" d="100"/>
        </p:scale>
        <p:origin x="168" y="-10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7"/>
            <a:ext cx="18176082" cy="1054025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5" y="15901498"/>
            <a:ext cx="16037719" cy="7309500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2326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085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90" y="7547788"/>
            <a:ext cx="18443376" cy="12593645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90" y="20260573"/>
            <a:ext cx="18443376" cy="6622700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7615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5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1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1316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11" y="1611883"/>
            <a:ext cx="18443376" cy="585180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3" y="7421637"/>
            <a:ext cx="9046275" cy="3637228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3" y="11058862"/>
            <a:ext cx="9046275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2" y="7421637"/>
            <a:ext cx="9090826" cy="3637228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2" y="11058862"/>
            <a:ext cx="9090826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663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85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6048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10" y="2018350"/>
            <a:ext cx="6896776" cy="7064217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7" y="4359076"/>
            <a:ext cx="10825460" cy="21515025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10" y="9082567"/>
            <a:ext cx="6896776" cy="1682657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57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10" y="2018350"/>
            <a:ext cx="6896776" cy="7064217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7" y="4359076"/>
            <a:ext cx="10825460" cy="21515025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10" y="9082567"/>
            <a:ext cx="6896776" cy="1682657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010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0834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8" cy="256568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101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6" y="1611883"/>
            <a:ext cx="18443376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6" y="8059374"/>
            <a:ext cx="18443376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65E9ED-F255-485F-A6F0-6D5D07584775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7" y="28060644"/>
            <a:ext cx="7216974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580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511960" rtl="0" eaLnBrk="1" latinLnBrk="1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1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AF0E1288-CA04-45C6-B836-CF1DF1C89D22}"/>
              </a:ext>
            </a:extLst>
          </p:cNvPr>
          <p:cNvSpPr/>
          <p:nvPr/>
        </p:nvSpPr>
        <p:spPr>
          <a:xfrm>
            <a:off x="11027395" y="21341514"/>
            <a:ext cx="5063505" cy="1950129"/>
          </a:xfrm>
          <a:prstGeom prst="roundRect">
            <a:avLst>
              <a:gd name="adj" fmla="val 6579"/>
            </a:avLst>
          </a:prstGeom>
          <a:solidFill>
            <a:srgbClr val="EFF4F8"/>
          </a:solidFill>
          <a:ln w="190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55297DD-2AF7-23A0-CD3C-54DCECCE79B2}"/>
              </a:ext>
            </a:extLst>
          </p:cNvPr>
          <p:cNvSpPr>
            <a:spLocks/>
          </p:cNvSpPr>
          <p:nvPr/>
        </p:nvSpPr>
        <p:spPr>
          <a:xfrm>
            <a:off x="0" y="0"/>
            <a:ext cx="21384000" cy="3524333"/>
          </a:xfrm>
          <a:prstGeom prst="rect">
            <a:avLst/>
          </a:prstGeom>
          <a:solidFill>
            <a:srgbClr val="00397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CB84A9C9-0AE1-EFD7-6D7A-4717E12E9F8A}"/>
              </a:ext>
            </a:extLst>
          </p:cNvPr>
          <p:cNvSpPr txBox="1">
            <a:spLocks/>
          </p:cNvSpPr>
          <p:nvPr/>
        </p:nvSpPr>
        <p:spPr>
          <a:xfrm>
            <a:off x="934034" y="467514"/>
            <a:ext cx="19506950" cy="28770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626" b="1" spc="424" dirty="0">
                <a:solidFill>
                  <a:srgbClr val="A9C6E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SIGPL </a:t>
            </a:r>
            <a:r>
              <a:rPr lang="ko-KR" altLang="en-US" sz="1626" b="1" spc="424" dirty="0">
                <a:solidFill>
                  <a:srgbClr val="A9C6E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여름학교 </a:t>
            </a:r>
            <a:r>
              <a:rPr lang="en-US" altLang="ko-KR" sz="1626" b="1" spc="424" dirty="0">
                <a:solidFill>
                  <a:srgbClr val="A9C6E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2026   ·   </a:t>
            </a:r>
            <a:r>
              <a:rPr lang="ko-KR" altLang="en-US" sz="1626" b="1" spc="424" dirty="0">
                <a:solidFill>
                  <a:srgbClr val="A9C6E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포스터 세션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F1D16C82-1BA7-B2A5-C6F6-8A4C92430B06}"/>
              </a:ext>
            </a:extLst>
          </p:cNvPr>
          <p:cNvSpPr txBox="1">
            <a:spLocks/>
          </p:cNvSpPr>
          <p:nvPr/>
        </p:nvSpPr>
        <p:spPr>
          <a:xfrm>
            <a:off x="1796220" y="995392"/>
            <a:ext cx="17782578" cy="16183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2000"/>
              </a:lnSpc>
            </a:pPr>
            <a:r>
              <a:rPr lang="ko-KR" altLang="en-US" sz="5375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큰보폭</a:t>
            </a:r>
            <a:r>
              <a:rPr lang="en-US" altLang="ko-KR" sz="2000">
                <a:solidFill>
                  <a:srgbClr val="A9C6E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Big-Step</a:t>
            </a:r>
            <a:r>
              <a:rPr lang="en-US" altLang="ko-KR" sz="5375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 </a:t>
            </a:r>
            <a:r>
              <a:rPr lang="ko-KR" altLang="en-US" sz="5375" b="1" dirty="0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증명나무 합성을 통한 정적 분석기 공격</a:t>
            </a:r>
          </a:p>
        </p:txBody>
      </p:sp>
      <p:cxnSp>
        <p:nvCxnSpPr>
          <p:cNvPr id="209" name="직선 연결선 208">
            <a:extLst>
              <a:ext uri="{FF2B5EF4-FFF2-40B4-BE49-F238E27FC236}">
                <a16:creationId xmlns:a16="http://schemas.microsoft.com/office/drawing/2014/main" id="{E6A308BA-FC33-4A8E-7513-181506A1050C}"/>
              </a:ext>
            </a:extLst>
          </p:cNvPr>
          <p:cNvCxnSpPr>
            <a:cxnSpLocks/>
          </p:cNvCxnSpPr>
          <p:nvPr/>
        </p:nvCxnSpPr>
        <p:spPr>
          <a:xfrm>
            <a:off x="7423418" y="2823782"/>
            <a:ext cx="6526745" cy="0"/>
          </a:xfrm>
          <a:prstGeom prst="line">
            <a:avLst/>
          </a:prstGeom>
          <a:ln w="17962">
            <a:solidFill>
              <a:srgbClr val="A9C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262BDD8A-64ED-FF24-0B62-2897C0A88038}"/>
              </a:ext>
            </a:extLst>
          </p:cNvPr>
          <p:cNvSpPr txBox="1">
            <a:spLocks/>
          </p:cNvSpPr>
          <p:nvPr/>
        </p:nvSpPr>
        <p:spPr>
          <a:xfrm>
            <a:off x="945530" y="2942408"/>
            <a:ext cx="19506950" cy="35962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768" dirty="0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정원준     지도교수  이광근     서울대학교 프로그래밍 연구실 </a:t>
            </a:r>
            <a:r>
              <a:rPr lang="en-US" altLang="ko-KR" sz="1768" dirty="0">
                <a:solidFill>
                  <a:srgbClr val="D6DEE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ROPAS</a:t>
            </a:r>
            <a:endParaRPr lang="ko-KR" altLang="en-US" sz="1768" dirty="0">
              <a:solidFill>
                <a:srgbClr val="D6DEEB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CB698670-33F3-8B93-8E3E-0D66EC5A83E1}"/>
              </a:ext>
            </a:extLst>
          </p:cNvPr>
          <p:cNvSpPr txBox="1">
            <a:spLocks/>
          </p:cNvSpPr>
          <p:nvPr/>
        </p:nvSpPr>
        <p:spPr>
          <a:xfrm>
            <a:off x="934034" y="4207622"/>
            <a:ext cx="19506950" cy="7911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3536" b="1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“프로그램을 먼저 합성하면</a:t>
            </a:r>
            <a:r>
              <a:rPr lang="en-US" altLang="ko-KR" sz="3536" b="1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3536" b="1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그 프로그램에 실행 의미가</a:t>
            </a:r>
            <a:r>
              <a:rPr lang="en-US" altLang="ko-KR" sz="3536" b="1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 </a:t>
            </a:r>
            <a:r>
              <a:rPr lang="ko-KR" altLang="en-US" sz="3536" b="1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무엇인지 알 수 없다</a:t>
            </a:r>
            <a:r>
              <a:rPr lang="en-US" altLang="ko-KR" sz="3536" b="1" dirty="0">
                <a:solidFill>
                  <a:srgbClr val="1A222B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.”</a:t>
            </a:r>
            <a:endParaRPr lang="ko-KR" altLang="en-US" sz="3536" b="1" dirty="0">
              <a:solidFill>
                <a:srgbClr val="1A222B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7AE4F518-777E-5EA5-6D52-AA4DDD9A20A9}"/>
              </a:ext>
            </a:extLst>
          </p:cNvPr>
          <p:cNvSpPr txBox="1">
            <a:spLocks/>
          </p:cNvSpPr>
          <p:nvPr/>
        </p:nvSpPr>
        <p:spPr>
          <a:xfrm>
            <a:off x="934034" y="4984414"/>
            <a:ext cx="19506950" cy="3955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909" dirty="0">
                <a:solidFill>
                  <a:srgbClr val="3E4A57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Rice’s Theorem</a:t>
            </a:r>
            <a:endParaRPr lang="ko-KR" altLang="en-US" sz="1909" dirty="0">
              <a:solidFill>
                <a:srgbClr val="3E4A57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pic>
        <p:nvPicPr>
          <p:cNvPr id="402" name="그림 401">
            <a:extLst>
              <a:ext uri="{FF2B5EF4-FFF2-40B4-BE49-F238E27FC236}">
                <a16:creationId xmlns:a16="http://schemas.microsoft.com/office/drawing/2014/main" id="{51BB0DBC-35EB-9E06-C78C-7171F22E885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069" y="28050815"/>
            <a:ext cx="1113656" cy="1150803"/>
          </a:xfrm>
          <a:prstGeom prst="rect">
            <a:avLst/>
          </a:prstGeom>
        </p:spPr>
      </p:pic>
      <p:sp>
        <p:nvSpPr>
          <p:cNvPr id="403" name="TextBox 402">
            <a:extLst>
              <a:ext uri="{FF2B5EF4-FFF2-40B4-BE49-F238E27FC236}">
                <a16:creationId xmlns:a16="http://schemas.microsoft.com/office/drawing/2014/main" id="{23C342E0-45CC-BC02-837E-CD8FDCA25CA4}"/>
              </a:ext>
            </a:extLst>
          </p:cNvPr>
          <p:cNvSpPr txBox="1">
            <a:spLocks/>
          </p:cNvSpPr>
          <p:nvPr/>
        </p:nvSpPr>
        <p:spPr>
          <a:xfrm>
            <a:off x="3197272" y="28086779"/>
            <a:ext cx="3592440" cy="3955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2404" b="1" spc="424">
                <a:solidFill>
                  <a:srgbClr val="00397F"/>
                </a:solidFill>
                <a:latin typeface="Times New Roman" panose="02020603050405020304" pitchFamily="18" charset="0"/>
                <a:ea typeface="맑은 고딕" panose="020B0503020000020004" pitchFamily="50" charset="-127"/>
              </a:rPr>
              <a:t>SEOUL</a:t>
            </a:r>
            <a:endParaRPr lang="ko-KR" altLang="en-US" sz="2404" b="1" spc="424">
              <a:solidFill>
                <a:srgbClr val="00397F"/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29161D58-DE33-7546-2513-A02E3B0D01F8}"/>
              </a:ext>
            </a:extLst>
          </p:cNvPr>
          <p:cNvSpPr txBox="1">
            <a:spLocks/>
          </p:cNvSpPr>
          <p:nvPr/>
        </p:nvSpPr>
        <p:spPr>
          <a:xfrm>
            <a:off x="3197272" y="28518327"/>
            <a:ext cx="3592440" cy="26971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485" spc="339">
                <a:solidFill>
                  <a:srgbClr val="00397F"/>
                </a:solidFill>
                <a:latin typeface="Times New Roman" panose="02020603050405020304" pitchFamily="18" charset="0"/>
                <a:ea typeface="맑은 고딕" panose="020B0503020000020004" pitchFamily="50" charset="-127"/>
              </a:rPr>
              <a:t>NATIONAL</a:t>
            </a:r>
            <a:endParaRPr lang="ko-KR" altLang="en-US" sz="1485" spc="339">
              <a:solidFill>
                <a:srgbClr val="00397F"/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405" name="TextBox 404">
            <a:extLst>
              <a:ext uri="{FF2B5EF4-FFF2-40B4-BE49-F238E27FC236}">
                <a16:creationId xmlns:a16="http://schemas.microsoft.com/office/drawing/2014/main" id="{3B766AA2-B385-EAA9-F739-CF4E4E06FB7F}"/>
              </a:ext>
            </a:extLst>
          </p:cNvPr>
          <p:cNvSpPr txBox="1">
            <a:spLocks/>
          </p:cNvSpPr>
          <p:nvPr/>
        </p:nvSpPr>
        <p:spPr>
          <a:xfrm>
            <a:off x="3197272" y="28806031"/>
            <a:ext cx="3592440" cy="26971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485" spc="339">
                <a:solidFill>
                  <a:srgbClr val="00397F"/>
                </a:solidFill>
                <a:latin typeface="Times New Roman" panose="02020603050405020304" pitchFamily="18" charset="0"/>
                <a:ea typeface="맑은 고딕" panose="020B0503020000020004" pitchFamily="50" charset="-127"/>
              </a:rPr>
              <a:t>UNIVERSITY</a:t>
            </a:r>
            <a:endParaRPr lang="ko-KR" altLang="en-US" sz="1485" spc="339">
              <a:solidFill>
                <a:srgbClr val="00397F"/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407" name="그림 406">
            <a:extLst>
              <a:ext uri="{FF2B5EF4-FFF2-40B4-BE49-F238E27FC236}">
                <a16:creationId xmlns:a16="http://schemas.microsoft.com/office/drawing/2014/main" id="{3B453273-3204-9336-920E-203456C4CC7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2419" y="27978891"/>
            <a:ext cx="1149581" cy="1168784"/>
          </a:xfrm>
          <a:prstGeom prst="rect">
            <a:avLst/>
          </a:prstGeom>
        </p:spPr>
      </p:pic>
      <p:sp>
        <p:nvSpPr>
          <p:cNvPr id="408" name="TextBox 407">
            <a:extLst>
              <a:ext uri="{FF2B5EF4-FFF2-40B4-BE49-F238E27FC236}">
                <a16:creationId xmlns:a16="http://schemas.microsoft.com/office/drawing/2014/main" id="{77911B3E-09BA-5EC5-B16F-9376BB02E13B}"/>
              </a:ext>
            </a:extLst>
          </p:cNvPr>
          <p:cNvSpPr txBox="1">
            <a:spLocks/>
          </p:cNvSpPr>
          <p:nvPr/>
        </p:nvSpPr>
        <p:spPr>
          <a:xfrm>
            <a:off x="7422879" y="29237580"/>
            <a:ext cx="5388660" cy="2517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202">
                <a:solidFill>
                  <a:srgbClr val="7C8A99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한국정보과학회 프로그래밍언어연구회</a:t>
            </a:r>
          </a:p>
        </p:txBody>
      </p:sp>
      <p:pic>
        <p:nvPicPr>
          <p:cNvPr id="410" name="그림 409">
            <a:extLst>
              <a:ext uri="{FF2B5EF4-FFF2-40B4-BE49-F238E27FC236}">
                <a16:creationId xmlns:a16="http://schemas.microsoft.com/office/drawing/2014/main" id="{B4FEA6C0-BDDF-B2DC-685F-0A2798A3C09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8586" y="28050815"/>
            <a:ext cx="1113656" cy="1114840"/>
          </a:xfrm>
          <a:prstGeom prst="rect">
            <a:avLst/>
          </a:prstGeom>
        </p:spPr>
      </p:pic>
      <p:sp>
        <p:nvSpPr>
          <p:cNvPr id="411" name="TextBox 410">
            <a:extLst>
              <a:ext uri="{FF2B5EF4-FFF2-40B4-BE49-F238E27FC236}">
                <a16:creationId xmlns:a16="http://schemas.microsoft.com/office/drawing/2014/main" id="{E18A5D3A-130B-4E63-804A-32DCFCA0756B}"/>
              </a:ext>
            </a:extLst>
          </p:cNvPr>
          <p:cNvSpPr txBox="1">
            <a:spLocks/>
          </p:cNvSpPr>
          <p:nvPr/>
        </p:nvSpPr>
        <p:spPr>
          <a:xfrm>
            <a:off x="17207788" y="28050815"/>
            <a:ext cx="3592440" cy="3955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2192" b="1">
                <a:solidFill>
                  <a:srgbClr val="791680"/>
                </a:solidFill>
                <a:latin typeface="Times New Roman" panose="02020603050405020304" pitchFamily="18" charset="0"/>
                <a:ea typeface="맑은 고딕" panose="020B0503020000020004" pitchFamily="50" charset="-127"/>
              </a:rPr>
              <a:t>Programming</a:t>
            </a:r>
            <a:endParaRPr lang="ko-KR" altLang="en-US" sz="2192" b="1">
              <a:solidFill>
                <a:srgbClr val="791680"/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781FB70D-076D-A01F-FE77-6644BF116DAF}"/>
              </a:ext>
            </a:extLst>
          </p:cNvPr>
          <p:cNvSpPr txBox="1">
            <a:spLocks/>
          </p:cNvSpPr>
          <p:nvPr/>
        </p:nvSpPr>
        <p:spPr>
          <a:xfrm>
            <a:off x="17207788" y="28482367"/>
            <a:ext cx="3592440" cy="3955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2192" b="1">
                <a:solidFill>
                  <a:srgbClr val="791680"/>
                </a:solidFill>
                <a:latin typeface="Times New Roman" panose="02020603050405020304" pitchFamily="18" charset="0"/>
                <a:ea typeface="맑은 고딕" panose="020B0503020000020004" pitchFamily="50" charset="-127"/>
              </a:rPr>
              <a:t>Research Laboratory</a:t>
            </a:r>
            <a:endParaRPr lang="ko-KR" altLang="en-US" sz="2192" b="1">
              <a:solidFill>
                <a:srgbClr val="791680"/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413" name="직사각형 412">
            <a:extLst>
              <a:ext uri="{FF2B5EF4-FFF2-40B4-BE49-F238E27FC236}">
                <a16:creationId xmlns:a16="http://schemas.microsoft.com/office/drawing/2014/main" id="{4271A4B3-7B2E-0F08-A0E9-66CD925801B0}"/>
              </a:ext>
            </a:extLst>
          </p:cNvPr>
          <p:cNvSpPr>
            <a:spLocks/>
          </p:cNvSpPr>
          <p:nvPr/>
        </p:nvSpPr>
        <p:spPr>
          <a:xfrm>
            <a:off x="0" y="29615187"/>
            <a:ext cx="21384000" cy="660812"/>
          </a:xfrm>
          <a:prstGeom prst="rect">
            <a:avLst/>
          </a:prstGeom>
          <a:solidFill>
            <a:srgbClr val="00397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B38438-D749-4DA4-B61F-EE1548A8001E}"/>
              </a:ext>
            </a:extLst>
          </p:cNvPr>
          <p:cNvSpPr txBox="1"/>
          <p:nvPr/>
        </p:nvSpPr>
        <p:spPr>
          <a:xfrm>
            <a:off x="939800" y="5740400"/>
            <a:ext cx="7874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3500" b="1">
                <a:solidFill>
                  <a:srgbClr val="3A72B8"/>
                </a:solidFill>
                <a:latin typeface="Aptos" panose="02110004020202020204"/>
                <a:ea typeface="맑은 고딕" panose="020B0503020000020004" pitchFamily="50" charset="-127"/>
              </a:rPr>
              <a:t>01</a:t>
            </a:r>
            <a:endParaRPr lang="ko-KR" altLang="en-US" sz="3500" b="1">
              <a:solidFill>
                <a:srgbClr val="3A72B8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ADCA70-4EB7-4AFA-954A-F9BAC00F36CC}"/>
              </a:ext>
            </a:extLst>
          </p:cNvPr>
          <p:cNvSpPr txBox="1"/>
          <p:nvPr/>
        </p:nvSpPr>
        <p:spPr>
          <a:xfrm>
            <a:off x="1828800" y="5740400"/>
            <a:ext cx="85217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35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분석기 공격이란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854E85-C9C4-4B0B-B487-2E961170DBA0}"/>
              </a:ext>
            </a:extLst>
          </p:cNvPr>
          <p:cNvSpPr txBox="1"/>
          <p:nvPr/>
        </p:nvSpPr>
        <p:spPr>
          <a:xfrm>
            <a:off x="939800" y="6731000"/>
            <a:ext cx="94107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Rice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 정리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 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때문에 분석기는 안전성 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· 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유한성 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· 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정밀도 셋 중 하나는 반드시 포기한다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.</a:t>
            </a:r>
            <a:endParaRPr lang="ko-KR" altLang="en-US" sz="1900" b="1">
              <a:solidFill>
                <a:srgbClr val="1A222B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D95E4F4-C2C2-41F0-91E7-EC8D8B7B204B}"/>
              </a:ext>
            </a:extLst>
          </p:cNvPr>
          <p:cNvSpPr/>
          <p:nvPr/>
        </p:nvSpPr>
        <p:spPr>
          <a:xfrm>
            <a:off x="939800" y="7302499"/>
            <a:ext cx="3001433" cy="1025251"/>
          </a:xfrm>
          <a:prstGeom prst="roundRect">
            <a:avLst>
              <a:gd name="adj" fmla="val 15714"/>
            </a:avLst>
          </a:prstGeom>
          <a:solidFill>
            <a:srgbClr val="FFFFFF"/>
          </a:solidFill>
          <a:ln w="15240">
            <a:solidFill>
              <a:srgbClr val="C3CF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D19F17-D908-491E-8C92-51654EFA039A}"/>
              </a:ext>
            </a:extLst>
          </p:cNvPr>
          <p:cNvSpPr txBox="1"/>
          <p:nvPr/>
        </p:nvSpPr>
        <p:spPr>
          <a:xfrm>
            <a:off x="1041400" y="7505700"/>
            <a:ext cx="2798233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7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안전성</a:t>
            </a:r>
            <a:r>
              <a:rPr lang="en-US" altLang="ko-KR" sz="1150">
                <a:solidFill>
                  <a:srgbClr val="7C8A99"/>
                </a:solidFill>
              </a:rPr>
              <a:t>soundness</a:t>
            </a:r>
            <a:endParaRPr lang="ko-KR" altLang="en-US" sz="1150" b="1">
              <a:solidFill>
                <a:srgbClr val="7C8A99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E4B8C7-CB3F-4009-8B63-A0464472F469}"/>
              </a:ext>
            </a:extLst>
          </p:cNvPr>
          <p:cNvSpPr txBox="1"/>
          <p:nvPr/>
        </p:nvSpPr>
        <p:spPr>
          <a:xfrm>
            <a:off x="1066800" y="7910284"/>
            <a:ext cx="2747433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3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실제 값을 빠뜨리지 않음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B192DF3-AE09-4E13-B377-CA73F760F24D}"/>
              </a:ext>
            </a:extLst>
          </p:cNvPr>
          <p:cNvSpPr/>
          <p:nvPr/>
        </p:nvSpPr>
        <p:spPr>
          <a:xfrm>
            <a:off x="4144433" y="7302499"/>
            <a:ext cx="3001434" cy="1025169"/>
          </a:xfrm>
          <a:prstGeom prst="roundRect">
            <a:avLst>
              <a:gd name="adj" fmla="val 15714"/>
            </a:avLst>
          </a:prstGeom>
          <a:solidFill>
            <a:srgbClr val="FFFFFF"/>
          </a:solidFill>
          <a:ln w="15240">
            <a:solidFill>
              <a:srgbClr val="C3CF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D8821B-E42E-4164-93CC-3893B3903EE6}"/>
              </a:ext>
            </a:extLst>
          </p:cNvPr>
          <p:cNvSpPr txBox="1"/>
          <p:nvPr/>
        </p:nvSpPr>
        <p:spPr>
          <a:xfrm>
            <a:off x="4246033" y="7505700"/>
            <a:ext cx="2798233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7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유한성</a:t>
            </a:r>
            <a:r>
              <a:rPr lang="en-US" altLang="ko-KR" sz="1150">
                <a:solidFill>
                  <a:srgbClr val="7C8A99"/>
                </a:solidFill>
              </a:rPr>
              <a:t>termination</a:t>
            </a:r>
            <a:endParaRPr lang="ko-KR" altLang="en-US" sz="1150" b="1">
              <a:solidFill>
                <a:srgbClr val="7C8A99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EADF57-B34C-417B-9F04-64C8294B03A5}"/>
              </a:ext>
            </a:extLst>
          </p:cNvPr>
          <p:cNvSpPr txBox="1"/>
          <p:nvPr/>
        </p:nvSpPr>
        <p:spPr>
          <a:xfrm>
            <a:off x="4293204" y="7910284"/>
            <a:ext cx="2747433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3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언젠간 멈춤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45CC197-DE6E-4BF6-9625-B8FEF0920D4F}"/>
              </a:ext>
            </a:extLst>
          </p:cNvPr>
          <p:cNvSpPr/>
          <p:nvPr/>
        </p:nvSpPr>
        <p:spPr>
          <a:xfrm>
            <a:off x="7349067" y="7298631"/>
            <a:ext cx="3001433" cy="1033699"/>
          </a:xfrm>
          <a:prstGeom prst="roundRect">
            <a:avLst>
              <a:gd name="adj" fmla="val 15714"/>
            </a:avLst>
          </a:prstGeom>
          <a:solidFill>
            <a:srgbClr val="FFFFFF"/>
          </a:solidFill>
          <a:ln w="15240">
            <a:solidFill>
              <a:srgbClr val="C3CF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5E8705-8A3F-48F2-9061-11F8C7F45890}"/>
              </a:ext>
            </a:extLst>
          </p:cNvPr>
          <p:cNvSpPr txBox="1"/>
          <p:nvPr/>
        </p:nvSpPr>
        <p:spPr>
          <a:xfrm>
            <a:off x="7450667" y="7505700"/>
            <a:ext cx="2798233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7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정밀도</a:t>
            </a:r>
            <a:r>
              <a:rPr lang="en-US" altLang="ko-KR" sz="1150">
                <a:solidFill>
                  <a:srgbClr val="7C8A99"/>
                </a:solidFill>
              </a:rPr>
              <a:t>completeness</a:t>
            </a:r>
            <a:endParaRPr lang="ko-KR" altLang="en-US" sz="1150" b="1">
              <a:solidFill>
                <a:srgbClr val="7C8A99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19F96-70CC-4E85-AB5A-DFBD6A038E3B}"/>
              </a:ext>
            </a:extLst>
          </p:cNvPr>
          <p:cNvSpPr txBox="1"/>
          <p:nvPr/>
        </p:nvSpPr>
        <p:spPr>
          <a:xfrm>
            <a:off x="7476067" y="7837714"/>
            <a:ext cx="2747433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3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실제 실행에서 벗어나는 값을 포함하지 않음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768F1D-1815-440F-936F-2A4EC9234172}"/>
              </a:ext>
            </a:extLst>
          </p:cNvPr>
          <p:cNvSpPr txBox="1"/>
          <p:nvPr/>
        </p:nvSpPr>
        <p:spPr>
          <a:xfrm>
            <a:off x="939799" y="8544378"/>
            <a:ext cx="94107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just">
              <a:lnSpc>
                <a:spcPct val="95000"/>
              </a:lnSpc>
            </a:pPr>
            <a:r>
              <a:rPr lang="ko-KR" altLang="en-US" sz="15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보통의 분석기는 안전성과 유한성을 챙기는 대신 정밀도를 포기한다</a:t>
            </a:r>
            <a:r>
              <a:rPr lang="en-US" altLang="ko-KR" sz="15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. </a:t>
            </a:r>
            <a:r>
              <a:rPr lang="ko-KR" altLang="en-US" sz="15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실제로 어떤 코드 형태에서 정밀도가 손상되는지를 찾아내는 것이 분석기 공격이다</a:t>
            </a:r>
            <a:r>
              <a:rPr lang="en-US" altLang="ko-KR" sz="15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.</a:t>
            </a:r>
            <a:endParaRPr lang="ko-KR" altLang="en-US" sz="1500">
              <a:solidFill>
                <a:srgbClr val="3E4A57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A0245E-11E5-4B85-8920-40E30F981457}"/>
              </a:ext>
            </a:extLst>
          </p:cNvPr>
          <p:cNvSpPr txBox="1"/>
          <p:nvPr/>
        </p:nvSpPr>
        <p:spPr>
          <a:xfrm>
            <a:off x="11036300" y="5740400"/>
            <a:ext cx="7874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3500" b="1">
                <a:solidFill>
                  <a:srgbClr val="3A72B8"/>
                </a:solidFill>
                <a:latin typeface="Aptos" panose="02110004020202020204"/>
                <a:ea typeface="맑은 고딕" panose="020B0503020000020004" pitchFamily="50" charset="-127"/>
              </a:rPr>
              <a:t>02</a:t>
            </a:r>
            <a:endParaRPr lang="ko-KR" altLang="en-US" sz="3500" b="1">
              <a:solidFill>
                <a:srgbClr val="3A72B8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2C98D1-601C-4E64-ADA3-2C6EF46716CE}"/>
              </a:ext>
            </a:extLst>
          </p:cNvPr>
          <p:cNvSpPr txBox="1"/>
          <p:nvPr/>
        </p:nvSpPr>
        <p:spPr>
          <a:xfrm>
            <a:off x="11925300" y="5740400"/>
            <a:ext cx="85217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35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분석기 개발 사이클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694B6D-3B17-4C53-B041-26AA4F3C2B04}"/>
              </a:ext>
            </a:extLst>
          </p:cNvPr>
          <p:cNvSpPr txBox="1"/>
          <p:nvPr/>
        </p:nvSpPr>
        <p:spPr>
          <a:xfrm>
            <a:off x="11021846" y="6693733"/>
            <a:ext cx="94107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분석기 공격은 개발 사이클의 한 단계가 될 수 있다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. 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공격을 통해 분석기의 약점을 찾고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, 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이를 다음 분석기의 설계로 되먹임하면서 보완한다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.</a:t>
            </a:r>
            <a:endParaRPr lang="ko-KR" altLang="en-US" sz="1900" b="1">
              <a:solidFill>
                <a:srgbClr val="1A222B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C0DC302C-9319-483D-AC98-BEB56FFB0FC8}"/>
              </a:ext>
            </a:extLst>
          </p:cNvPr>
          <p:cNvSpPr/>
          <p:nvPr/>
        </p:nvSpPr>
        <p:spPr>
          <a:xfrm>
            <a:off x="11036300" y="7676665"/>
            <a:ext cx="9410700" cy="3337527"/>
          </a:xfrm>
          <a:prstGeom prst="roundRect">
            <a:avLst>
              <a:gd name="adj" fmla="val 8163"/>
            </a:avLst>
          </a:prstGeom>
          <a:solidFill>
            <a:srgbClr val="EFF4F8"/>
          </a:solidFill>
          <a:ln w="15240">
            <a:solidFill>
              <a:srgbClr val="C3CF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1B8AA8F-56A9-4105-AA39-CC0085DF6161}"/>
              </a:ext>
            </a:extLst>
          </p:cNvPr>
          <p:cNvSpPr/>
          <p:nvPr/>
        </p:nvSpPr>
        <p:spPr>
          <a:xfrm>
            <a:off x="11239500" y="8500165"/>
            <a:ext cx="1905000" cy="117723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CF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92A3FA-0D10-4789-9C9B-66F476F8CC94}"/>
              </a:ext>
            </a:extLst>
          </p:cNvPr>
          <p:cNvSpPr txBox="1"/>
          <p:nvPr/>
        </p:nvSpPr>
        <p:spPr>
          <a:xfrm>
            <a:off x="11341100" y="8750300"/>
            <a:ext cx="1701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6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디자인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E1B21A-A4E4-4C64-8DB6-CFDBC2C71DE1}"/>
              </a:ext>
            </a:extLst>
          </p:cNvPr>
          <p:cNvSpPr txBox="1"/>
          <p:nvPr/>
        </p:nvSpPr>
        <p:spPr>
          <a:xfrm>
            <a:off x="11366500" y="9124044"/>
            <a:ext cx="1651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3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무엇을 어떻게 어림잡을지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27E2E54-11E0-4563-822A-3A5986DDB85B}"/>
              </a:ext>
            </a:extLst>
          </p:cNvPr>
          <p:cNvSpPr/>
          <p:nvPr/>
        </p:nvSpPr>
        <p:spPr>
          <a:xfrm>
            <a:off x="13601700" y="8507353"/>
            <a:ext cx="1905000" cy="1170047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CF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138BBF-7AA7-4267-97F4-ADCEED9170B1}"/>
              </a:ext>
            </a:extLst>
          </p:cNvPr>
          <p:cNvSpPr txBox="1"/>
          <p:nvPr/>
        </p:nvSpPr>
        <p:spPr>
          <a:xfrm>
            <a:off x="13703300" y="8750300"/>
            <a:ext cx="1701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6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개발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DA5A4D-EB1A-45CF-B03F-A68562FA21C0}"/>
              </a:ext>
            </a:extLst>
          </p:cNvPr>
          <p:cNvSpPr txBox="1"/>
          <p:nvPr/>
        </p:nvSpPr>
        <p:spPr>
          <a:xfrm>
            <a:off x="13728700" y="9182100"/>
            <a:ext cx="1651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3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실제로 구현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0FA068A3-6843-4310-9AD9-10FA01BE52E2}"/>
              </a:ext>
            </a:extLst>
          </p:cNvPr>
          <p:cNvSpPr/>
          <p:nvPr/>
        </p:nvSpPr>
        <p:spPr>
          <a:xfrm>
            <a:off x="15963900" y="8507353"/>
            <a:ext cx="1905000" cy="1170047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CF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CA2BC4-C922-460E-B64B-3A8C100EF20B}"/>
              </a:ext>
            </a:extLst>
          </p:cNvPr>
          <p:cNvSpPr txBox="1"/>
          <p:nvPr/>
        </p:nvSpPr>
        <p:spPr>
          <a:xfrm>
            <a:off x="16065500" y="8750300"/>
            <a:ext cx="1701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6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증명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BE1987-73F4-486B-A100-6E6ECA414F9B}"/>
              </a:ext>
            </a:extLst>
          </p:cNvPr>
          <p:cNvSpPr txBox="1"/>
          <p:nvPr/>
        </p:nvSpPr>
        <p:spPr>
          <a:xfrm>
            <a:off x="16090900" y="9182100"/>
            <a:ext cx="1651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3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안전함</a:t>
            </a:r>
            <a:r>
              <a:rPr lang="en-US" altLang="ko-KR" sz="900">
                <a:solidFill>
                  <a:srgbClr val="7C8A99"/>
                </a:solidFill>
                <a:latin typeface="Aptos" panose="02110004020202020204"/>
                <a:ea typeface="맑은 고딕" panose="020B0503020000020004" pitchFamily="50" charset="-127"/>
              </a:rPr>
              <a:t>sound</a:t>
            </a:r>
            <a:r>
              <a:rPr lang="ko-KR" altLang="en-US" sz="13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을 보임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0571F22B-E960-4481-9A48-D4C81CE9953B}"/>
              </a:ext>
            </a:extLst>
          </p:cNvPr>
          <p:cNvSpPr/>
          <p:nvPr/>
        </p:nvSpPr>
        <p:spPr>
          <a:xfrm>
            <a:off x="18326100" y="8500165"/>
            <a:ext cx="1905000" cy="1177235"/>
          </a:xfrm>
          <a:prstGeom prst="roundRect">
            <a:avLst/>
          </a:prstGeom>
          <a:solidFill>
            <a:srgbClr val="00397F"/>
          </a:solidFill>
          <a:ln w="15240">
            <a:solidFill>
              <a:srgbClr val="0039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7B26069-5D3F-4C39-995E-44473933F40F}"/>
              </a:ext>
            </a:extLst>
          </p:cNvPr>
          <p:cNvSpPr txBox="1"/>
          <p:nvPr/>
        </p:nvSpPr>
        <p:spPr>
          <a:xfrm>
            <a:off x="18427700" y="8750300"/>
            <a:ext cx="1701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600" b="1">
                <a:solidFill>
                  <a:srgbClr val="FFFFFF"/>
                </a:solidFill>
                <a:latin typeface="Aptos" panose="02110004020202020204"/>
                <a:ea typeface="맑은 고딕" panose="020B0503020000020004" pitchFamily="50" charset="-127"/>
              </a:rPr>
              <a:t>공격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CC7C93-6DB3-4C7E-B378-AC920D952313}"/>
              </a:ext>
            </a:extLst>
          </p:cNvPr>
          <p:cNvSpPr txBox="1"/>
          <p:nvPr/>
        </p:nvSpPr>
        <p:spPr>
          <a:xfrm>
            <a:off x="18453100" y="9106616"/>
            <a:ext cx="1651000" cy="49244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300">
                <a:solidFill>
                  <a:schemeClr val="bg1"/>
                </a:solidFill>
                <a:latin typeface="Aptos" panose="02110004020202020204"/>
                <a:ea typeface="맑은 고딕" panose="020B0503020000020004" pitchFamily="50" charset="-127"/>
              </a:rPr>
              <a:t>정밀도</a:t>
            </a:r>
            <a:r>
              <a:rPr lang="en-US" altLang="ko-KR" sz="950">
                <a:solidFill>
                  <a:srgbClr val="A9C6E6"/>
                </a:solidFill>
              </a:rPr>
              <a:t>completeness</a:t>
            </a:r>
            <a:r>
              <a:rPr lang="en-US" altLang="ko-KR" sz="1400">
                <a:solidFill>
                  <a:schemeClr val="bg1"/>
                </a:solidFill>
              </a:rPr>
              <a:t> </a:t>
            </a:r>
            <a:r>
              <a:rPr lang="ko-KR" altLang="en-US" sz="1300">
                <a:solidFill>
                  <a:schemeClr val="bg1"/>
                </a:solidFill>
                <a:latin typeface="Aptos" panose="02110004020202020204"/>
                <a:ea typeface="맑은 고딕" panose="020B0503020000020004" pitchFamily="50" charset="-127"/>
              </a:rPr>
              <a:t>가 깨지는 곳 탐색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1707EE4C-C6E1-4E5C-95E9-6CA652B31D56}"/>
              </a:ext>
            </a:extLst>
          </p:cNvPr>
          <p:cNvCxnSpPr/>
          <p:nvPr/>
        </p:nvCxnSpPr>
        <p:spPr>
          <a:xfrm>
            <a:off x="13246100" y="9258300"/>
            <a:ext cx="254000" cy="0"/>
          </a:xfrm>
          <a:prstGeom prst="line">
            <a:avLst/>
          </a:prstGeom>
          <a:ln w="22860">
            <a:solidFill>
              <a:srgbClr val="3A72B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87146839-C792-4C61-B26B-074D0BDCACB6}"/>
              </a:ext>
            </a:extLst>
          </p:cNvPr>
          <p:cNvCxnSpPr/>
          <p:nvPr/>
        </p:nvCxnSpPr>
        <p:spPr>
          <a:xfrm>
            <a:off x="15608300" y="9258300"/>
            <a:ext cx="254000" cy="0"/>
          </a:xfrm>
          <a:prstGeom prst="line">
            <a:avLst/>
          </a:prstGeom>
          <a:ln w="22860">
            <a:solidFill>
              <a:srgbClr val="3A72B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8AA8937E-5897-440E-A266-709EAF5D8333}"/>
              </a:ext>
            </a:extLst>
          </p:cNvPr>
          <p:cNvCxnSpPr/>
          <p:nvPr/>
        </p:nvCxnSpPr>
        <p:spPr>
          <a:xfrm>
            <a:off x="17970500" y="9258300"/>
            <a:ext cx="254000" cy="0"/>
          </a:xfrm>
          <a:prstGeom prst="line">
            <a:avLst/>
          </a:prstGeom>
          <a:ln w="22860">
            <a:solidFill>
              <a:srgbClr val="3A72B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7C8EA1C0-5C7D-404C-8000-A26DABE145D6}"/>
              </a:ext>
            </a:extLst>
          </p:cNvPr>
          <p:cNvCxnSpPr/>
          <p:nvPr/>
        </p:nvCxnSpPr>
        <p:spPr>
          <a:xfrm>
            <a:off x="19278600" y="9677400"/>
            <a:ext cx="0" cy="482600"/>
          </a:xfrm>
          <a:prstGeom prst="line">
            <a:avLst/>
          </a:prstGeom>
          <a:ln w="22860">
            <a:solidFill>
              <a:srgbClr val="3A7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E328921C-BC4F-464C-B79A-1A2FE918195B}"/>
              </a:ext>
            </a:extLst>
          </p:cNvPr>
          <p:cNvCxnSpPr/>
          <p:nvPr/>
        </p:nvCxnSpPr>
        <p:spPr>
          <a:xfrm flipH="1">
            <a:off x="12192000" y="10160000"/>
            <a:ext cx="7086600" cy="0"/>
          </a:xfrm>
          <a:prstGeom prst="line">
            <a:avLst/>
          </a:prstGeom>
          <a:ln w="22860">
            <a:solidFill>
              <a:srgbClr val="3A7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B2984F9F-2E8D-4501-BF6C-74607204B648}"/>
              </a:ext>
            </a:extLst>
          </p:cNvPr>
          <p:cNvCxnSpPr/>
          <p:nvPr/>
        </p:nvCxnSpPr>
        <p:spPr>
          <a:xfrm flipV="1">
            <a:off x="12192000" y="9677400"/>
            <a:ext cx="0" cy="482600"/>
          </a:xfrm>
          <a:prstGeom prst="line">
            <a:avLst/>
          </a:prstGeom>
          <a:ln w="22860">
            <a:solidFill>
              <a:srgbClr val="3A72B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B82F4EC-EB3A-460F-B962-DA044CE89E17}"/>
              </a:ext>
            </a:extLst>
          </p:cNvPr>
          <p:cNvSpPr txBox="1"/>
          <p:nvPr/>
        </p:nvSpPr>
        <p:spPr>
          <a:xfrm>
            <a:off x="11036300" y="10287000"/>
            <a:ext cx="9410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400" b="1">
                <a:solidFill>
                  <a:srgbClr val="3A72B8"/>
                </a:solidFill>
                <a:latin typeface="Aptos" panose="02110004020202020204"/>
                <a:ea typeface="맑은 고딕" panose="020B0503020000020004" pitchFamily="50" charset="-127"/>
              </a:rPr>
              <a:t>찾아낸 공격을 다시 설계로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A25CE05-3D0F-4C98-939E-542E03BE399A}"/>
              </a:ext>
            </a:extLst>
          </p:cNvPr>
          <p:cNvSpPr txBox="1"/>
          <p:nvPr/>
        </p:nvSpPr>
        <p:spPr>
          <a:xfrm>
            <a:off x="939800" y="12903200"/>
            <a:ext cx="7874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3500" b="1">
                <a:solidFill>
                  <a:srgbClr val="3A72B8"/>
                </a:solidFill>
                <a:latin typeface="Aptos" panose="02110004020202020204"/>
                <a:ea typeface="맑은 고딕" panose="020B0503020000020004" pitchFamily="50" charset="-127"/>
              </a:rPr>
              <a:t>03</a:t>
            </a:r>
            <a:endParaRPr lang="ko-KR" altLang="en-US" sz="3500" b="1">
              <a:solidFill>
                <a:srgbClr val="3A72B8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33D4BEC-6B1C-484E-83B6-49F69BC61361}"/>
              </a:ext>
            </a:extLst>
          </p:cNvPr>
          <p:cNvSpPr txBox="1"/>
          <p:nvPr/>
        </p:nvSpPr>
        <p:spPr>
          <a:xfrm>
            <a:off x="1828800" y="12903200"/>
            <a:ext cx="85217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35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공격의 정의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9A6C3E1-E073-4D5D-9777-2C64E7FD9AE3}"/>
              </a:ext>
            </a:extLst>
          </p:cNvPr>
          <p:cNvSpPr txBox="1"/>
          <p:nvPr/>
        </p:nvSpPr>
        <p:spPr>
          <a:xfrm>
            <a:off x="939800" y="13665200"/>
            <a:ext cx="94107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프로그램의 어떤 위치에서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, 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어떤 변수가 실제보다 더 크게 어림잡아진 것을 성공한 공격으로 정의한다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.</a:t>
            </a:r>
            <a:endParaRPr lang="ko-KR" altLang="en-US" sz="1900" b="1">
              <a:solidFill>
                <a:srgbClr val="1A222B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4FBEA200-0667-4954-8AF8-44155236039C}"/>
              </a:ext>
            </a:extLst>
          </p:cNvPr>
          <p:cNvSpPr txBox="1"/>
          <p:nvPr/>
        </p:nvSpPr>
        <p:spPr>
          <a:xfrm>
            <a:off x="11036300" y="12903200"/>
            <a:ext cx="7874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3500" b="1">
                <a:solidFill>
                  <a:srgbClr val="3A72B8"/>
                </a:solidFill>
                <a:latin typeface="Aptos" panose="02110004020202020204"/>
                <a:ea typeface="맑은 고딕" panose="020B0503020000020004" pitchFamily="50" charset="-127"/>
              </a:rPr>
              <a:t>04</a:t>
            </a:r>
            <a:endParaRPr lang="ko-KR" altLang="en-US" sz="3500" b="1">
              <a:solidFill>
                <a:srgbClr val="3A72B8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E3A7EA30-A346-468F-A87C-D93A87EB62DC}"/>
              </a:ext>
            </a:extLst>
          </p:cNvPr>
          <p:cNvSpPr txBox="1"/>
          <p:nvPr/>
        </p:nvSpPr>
        <p:spPr>
          <a:xfrm>
            <a:off x="11925300" y="12903200"/>
            <a:ext cx="85217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35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증명나무 합성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17662497-E3CA-4972-ADD1-3C165AC35F49}"/>
              </a:ext>
            </a:extLst>
          </p:cNvPr>
          <p:cNvSpPr txBox="1"/>
          <p:nvPr/>
        </p:nvSpPr>
        <p:spPr>
          <a:xfrm>
            <a:off x="11036300" y="13665200"/>
            <a:ext cx="94107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프로그램을 먼저 합성</a:t>
            </a:r>
            <a:r>
              <a:rPr lang="en-US" altLang="ko-KR" sz="1292">
                <a:solidFill>
                  <a:srgbClr val="7C8A99"/>
                </a:solidFill>
                <a:latin typeface="Aptos" panose="02110004020202020204"/>
                <a:ea typeface="맑은 고딕" panose="020B0503020000020004" pitchFamily="50" charset="-127"/>
              </a:rPr>
              <a:t>synthesis</a:t>
            </a:r>
            <a:r>
              <a:rPr lang="ko-KR" altLang="en-US" sz="1900" b="1">
                <a:solidFill>
                  <a:srgbClr val="1A222B"/>
                </a:solidFill>
              </a:rPr>
              <a:t>하면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, 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그것이 올바른 공격 프로그램인지 항상 알아낼 수 없다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. </a:t>
            </a:r>
            <a:endParaRPr lang="ko-KR" altLang="en-US" sz="1900" b="1">
              <a:solidFill>
                <a:srgbClr val="1A222B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64A42253-7BFC-4CBE-B5A0-6C900AA2030A}"/>
              </a:ext>
            </a:extLst>
          </p:cNvPr>
          <p:cNvSpPr txBox="1"/>
          <p:nvPr/>
        </p:nvSpPr>
        <p:spPr>
          <a:xfrm>
            <a:off x="11029950" y="14237536"/>
            <a:ext cx="94107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5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공격 성공을 판정하려면 합성된 프로그램의 실제 실행 의미</a:t>
            </a:r>
            <a:r>
              <a:rPr lang="en-US" altLang="ko-KR" sz="1290">
                <a:solidFill>
                  <a:srgbClr val="7C8A99"/>
                </a:solidFill>
                <a:latin typeface="Aptos" panose="02110004020202020204"/>
                <a:ea typeface="맑은 고딕" panose="020B0503020000020004" pitchFamily="50" charset="-127"/>
              </a:rPr>
              <a:t>concrete semantics</a:t>
            </a:r>
            <a:r>
              <a:rPr lang="ko-KR" altLang="en-US" sz="15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를 알아야 한다</a:t>
            </a:r>
            <a:r>
              <a:rPr lang="en-US" altLang="ko-KR" sz="15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. </a:t>
            </a:r>
            <a:r>
              <a:rPr lang="ko-KR" altLang="en-US" sz="15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그런데 프로그램이 실제로 무슨 실행 의미를 가지는지는 유한 시간 내애 항상 알아낼 수 없다</a:t>
            </a:r>
            <a:r>
              <a:rPr lang="en-US" altLang="ko-KR" sz="15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(Rice</a:t>
            </a:r>
            <a:r>
              <a:rPr lang="ko-KR" altLang="en-US" sz="15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 정리</a:t>
            </a:r>
            <a:r>
              <a:rPr lang="en-US" altLang="ko-KR" sz="15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). </a:t>
            </a:r>
            <a:r>
              <a:rPr lang="ko-KR" altLang="en-US" sz="15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만약 가능했다면</a:t>
            </a:r>
            <a:r>
              <a:rPr lang="en-US" altLang="ko-KR" sz="15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, </a:t>
            </a:r>
            <a:r>
              <a:rPr lang="ko-KR" altLang="en-US" sz="15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그 자체가 이상적인 분석기가 되니 어불성설이다</a:t>
            </a:r>
            <a:r>
              <a:rPr lang="en-US" altLang="ko-KR" sz="15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.</a:t>
            </a:r>
            <a:endParaRPr lang="ko-KR" altLang="en-US" sz="1500">
              <a:solidFill>
                <a:srgbClr val="3E4A57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572" name="TextBox 571">
            <a:extLst>
              <a:ext uri="{FF2B5EF4-FFF2-40B4-BE49-F238E27FC236}">
                <a16:creationId xmlns:a16="http://schemas.microsoft.com/office/drawing/2014/main" id="{0E8AB625-A404-4669-9822-B8355A67F13C}"/>
              </a:ext>
            </a:extLst>
          </p:cNvPr>
          <p:cNvSpPr txBox="1"/>
          <p:nvPr/>
        </p:nvSpPr>
        <p:spPr>
          <a:xfrm>
            <a:off x="939800" y="19852970"/>
            <a:ext cx="7874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3500" b="1">
                <a:solidFill>
                  <a:srgbClr val="3A72B8"/>
                </a:solidFill>
                <a:latin typeface="Aptos" panose="02110004020202020204"/>
                <a:ea typeface="맑은 고딕" panose="020B0503020000020004" pitchFamily="50" charset="-127"/>
              </a:rPr>
              <a:t>05</a:t>
            </a:r>
            <a:endParaRPr lang="ko-KR" altLang="en-US" sz="3500" b="1">
              <a:solidFill>
                <a:srgbClr val="3A72B8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F239F5F9-B467-45F2-87B3-0F724ECD9E8F}"/>
              </a:ext>
            </a:extLst>
          </p:cNvPr>
          <p:cNvSpPr txBox="1"/>
          <p:nvPr/>
        </p:nvSpPr>
        <p:spPr>
          <a:xfrm>
            <a:off x="1828800" y="19852970"/>
            <a:ext cx="85217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35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증명나무의 크기</a:t>
            </a:r>
          </a:p>
        </p:txBody>
      </p:sp>
      <p:sp>
        <p:nvSpPr>
          <p:cNvPr id="574" name="TextBox 573">
            <a:extLst>
              <a:ext uri="{FF2B5EF4-FFF2-40B4-BE49-F238E27FC236}">
                <a16:creationId xmlns:a16="http://schemas.microsoft.com/office/drawing/2014/main" id="{A9E5E5A3-950F-4F1A-B71B-0C904D14390E}"/>
              </a:ext>
            </a:extLst>
          </p:cNvPr>
          <p:cNvSpPr txBox="1"/>
          <p:nvPr/>
        </p:nvSpPr>
        <p:spPr>
          <a:xfrm>
            <a:off x="939800" y="20614970"/>
            <a:ext cx="94107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증명나무를 작은 것부터 순서대로</a:t>
            </a:r>
            <a:r>
              <a:rPr lang="en-US" altLang="ko-KR" sz="1292">
                <a:solidFill>
                  <a:srgbClr val="7C8A99"/>
                </a:solidFill>
                <a:latin typeface="Aptos" panose="02110004020202020204"/>
                <a:ea typeface="맑은 고딕" panose="020B0503020000020004" pitchFamily="50" charset="-127"/>
              </a:rPr>
              <a:t>bottom-up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 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빠짐없이 만들어 나간다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. 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이 때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, '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크기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'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를 무엇으로 잡을지가 핵심이다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.</a:t>
            </a:r>
            <a:endParaRPr lang="ko-KR" altLang="en-US" sz="1900" b="1">
              <a:solidFill>
                <a:srgbClr val="1A222B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398" name="사각형: 둥근 모서리 397">
            <a:extLst>
              <a:ext uri="{FF2B5EF4-FFF2-40B4-BE49-F238E27FC236}">
                <a16:creationId xmlns:a16="http://schemas.microsoft.com/office/drawing/2014/main" id="{3C47BA80-5B41-4652-931A-6C3BDE2812C9}"/>
              </a:ext>
            </a:extLst>
          </p:cNvPr>
          <p:cNvSpPr/>
          <p:nvPr/>
        </p:nvSpPr>
        <p:spPr>
          <a:xfrm>
            <a:off x="939800" y="24821494"/>
            <a:ext cx="4572000" cy="1930400"/>
          </a:xfrm>
          <a:prstGeom prst="roundRect">
            <a:avLst>
              <a:gd name="adj" fmla="val 7237"/>
            </a:avLst>
          </a:prstGeom>
          <a:solidFill>
            <a:srgbClr val="FFFFFF"/>
          </a:solidFill>
          <a:ln w="15240">
            <a:solidFill>
              <a:srgbClr val="C3CF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9" name="직사각형 398">
            <a:extLst>
              <a:ext uri="{FF2B5EF4-FFF2-40B4-BE49-F238E27FC236}">
                <a16:creationId xmlns:a16="http://schemas.microsoft.com/office/drawing/2014/main" id="{55123BF5-664C-4C8E-AE24-554C1FB81D6B}"/>
              </a:ext>
            </a:extLst>
          </p:cNvPr>
          <p:cNvSpPr/>
          <p:nvPr/>
        </p:nvSpPr>
        <p:spPr>
          <a:xfrm>
            <a:off x="939800" y="25199670"/>
            <a:ext cx="76200" cy="1498600"/>
          </a:xfrm>
          <a:prstGeom prst="rect">
            <a:avLst/>
          </a:prstGeom>
          <a:solidFill>
            <a:srgbClr val="3A72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3002DEA1-D959-4DC8-B395-B03F77425C15}"/>
              </a:ext>
            </a:extLst>
          </p:cNvPr>
          <p:cNvSpPr txBox="1"/>
          <p:nvPr/>
        </p:nvSpPr>
        <p:spPr>
          <a:xfrm>
            <a:off x="1295400" y="25174270"/>
            <a:ext cx="40132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7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증명나무의 노드</a:t>
            </a:r>
            <a:r>
              <a:rPr lang="en-US" altLang="ko-KR" sz="1150">
                <a:solidFill>
                  <a:srgbClr val="7C8A99"/>
                </a:solidFill>
              </a:rPr>
              <a:t>node</a:t>
            </a:r>
            <a:r>
              <a:rPr lang="ko-KR" altLang="en-US" sz="17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 수만 세면</a:t>
            </a:r>
            <a:r>
              <a:rPr lang="en-US" altLang="ko-KR" sz="17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?</a:t>
            </a:r>
            <a:endParaRPr lang="ko-KR" altLang="en-US" sz="1700" b="1">
              <a:solidFill>
                <a:srgbClr val="00397F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00DBA983-7AF4-4ECF-9C6D-86CFA7F270B3}"/>
              </a:ext>
            </a:extLst>
          </p:cNvPr>
          <p:cNvSpPr txBox="1"/>
          <p:nvPr/>
        </p:nvSpPr>
        <p:spPr>
          <a:xfrm>
            <a:off x="1295400" y="25567970"/>
            <a:ext cx="3962400" cy="1168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4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실행되지 않는 갈림길</a:t>
            </a:r>
            <a:r>
              <a:rPr lang="en-US" altLang="ko-KR" sz="952">
                <a:solidFill>
                  <a:srgbClr val="7C8A99"/>
                </a:solidFill>
                <a:latin typeface="Aptos" panose="02110004020202020204"/>
                <a:ea typeface="맑은 고딕" panose="020B0503020000020004" pitchFamily="50" charset="-127"/>
              </a:rPr>
              <a:t>branch</a:t>
            </a:r>
            <a:r>
              <a:rPr lang="ko-KR" altLang="en-US" sz="14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에 아무리 큰 코드가 들어가도 증명나무는 커지지 않는다</a:t>
            </a:r>
            <a:r>
              <a:rPr lang="en-US" altLang="ko-KR" sz="14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같은 크기의 나무에 대응하는 프로그램이 무한히 많아진다</a:t>
            </a:r>
            <a:r>
              <a:rPr lang="en-US" altLang="ko-KR" sz="14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.</a:t>
            </a:r>
            <a:endParaRPr lang="ko-KR" altLang="en-US" sz="1400">
              <a:solidFill>
                <a:srgbClr val="3E4A57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406" name="사각형: 둥근 모서리 405">
            <a:extLst>
              <a:ext uri="{FF2B5EF4-FFF2-40B4-BE49-F238E27FC236}">
                <a16:creationId xmlns:a16="http://schemas.microsoft.com/office/drawing/2014/main" id="{FD2E9A9C-A194-480F-95CE-98E0677D0442}"/>
              </a:ext>
            </a:extLst>
          </p:cNvPr>
          <p:cNvSpPr/>
          <p:nvPr/>
        </p:nvSpPr>
        <p:spPr>
          <a:xfrm>
            <a:off x="5765800" y="24821494"/>
            <a:ext cx="4584700" cy="1930400"/>
          </a:xfrm>
          <a:prstGeom prst="roundRect">
            <a:avLst>
              <a:gd name="adj" fmla="val 7237"/>
            </a:avLst>
          </a:prstGeom>
          <a:solidFill>
            <a:srgbClr val="FFFFFF"/>
          </a:solidFill>
          <a:ln w="15240">
            <a:solidFill>
              <a:srgbClr val="C3CF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9" name="직사각형 408">
            <a:extLst>
              <a:ext uri="{FF2B5EF4-FFF2-40B4-BE49-F238E27FC236}">
                <a16:creationId xmlns:a16="http://schemas.microsoft.com/office/drawing/2014/main" id="{6D0191BB-0D55-4BA6-995D-6209D6D96631}"/>
              </a:ext>
            </a:extLst>
          </p:cNvPr>
          <p:cNvSpPr/>
          <p:nvPr/>
        </p:nvSpPr>
        <p:spPr>
          <a:xfrm>
            <a:off x="5765800" y="25199670"/>
            <a:ext cx="76200" cy="1498600"/>
          </a:xfrm>
          <a:prstGeom prst="rect">
            <a:avLst/>
          </a:prstGeom>
          <a:solidFill>
            <a:srgbClr val="3A72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A8B07F04-B879-42C8-BDE4-320CCDE995F4}"/>
              </a:ext>
            </a:extLst>
          </p:cNvPr>
          <p:cNvSpPr txBox="1"/>
          <p:nvPr/>
        </p:nvSpPr>
        <p:spPr>
          <a:xfrm>
            <a:off x="6121400" y="25174270"/>
            <a:ext cx="40259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7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프로그램 크기만  재면</a:t>
            </a:r>
            <a:r>
              <a:rPr lang="en-US" altLang="ko-KR" sz="17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?</a:t>
            </a:r>
            <a:endParaRPr lang="ko-KR" altLang="en-US" sz="1700" b="1">
              <a:solidFill>
                <a:srgbClr val="00397F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CA7AAEDC-E69C-4B96-858A-B2A9E58FF7A9}"/>
              </a:ext>
            </a:extLst>
          </p:cNvPr>
          <p:cNvSpPr txBox="1"/>
          <p:nvPr/>
        </p:nvSpPr>
        <p:spPr>
          <a:xfrm>
            <a:off x="6121400" y="25567970"/>
            <a:ext cx="3975100" cy="1168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4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반대로 프로그램 크기는 작은데 실행 의미가 무한히 길어질 수 있다</a:t>
            </a:r>
            <a:r>
              <a:rPr lang="en-US" altLang="ko-KR" sz="14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반복문 하나로 증명나무만 끝없이 자라</a:t>
            </a:r>
            <a:r>
              <a:rPr lang="en-US" altLang="ko-KR" sz="14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같은 크기의 나무에 대응하는 증명나무가 무한히 많아진다</a:t>
            </a:r>
            <a:r>
              <a:rPr lang="en-US" altLang="ko-KR" sz="1400">
                <a:solidFill>
                  <a:srgbClr val="3E4A57"/>
                </a:solidFill>
                <a:latin typeface="Aptos" panose="02110004020202020204"/>
                <a:ea typeface="맑은 고딕" panose="020B0503020000020004" pitchFamily="50" charset="-127"/>
              </a:rPr>
              <a:t>.</a:t>
            </a:r>
            <a:endParaRPr lang="ko-KR" altLang="en-US" sz="1400">
              <a:solidFill>
                <a:srgbClr val="3E4A57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82ADB219-22D1-4F5D-A742-DFD1766F05C4}"/>
              </a:ext>
            </a:extLst>
          </p:cNvPr>
          <p:cNvSpPr txBox="1"/>
          <p:nvPr/>
        </p:nvSpPr>
        <p:spPr>
          <a:xfrm>
            <a:off x="939800" y="27117370"/>
            <a:ext cx="9410700" cy="73787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7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어느 쪽도 혼자서는 안 된다</a:t>
            </a:r>
            <a:r>
              <a:rPr lang="en-US" altLang="ko-KR" sz="17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. </a:t>
            </a:r>
            <a:r>
              <a:rPr lang="ko-KR" altLang="en-US" sz="17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이를 해결하기 위해</a:t>
            </a:r>
            <a:r>
              <a:rPr lang="en-US" altLang="ko-KR" sz="17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 </a:t>
            </a:r>
            <a:r>
              <a:rPr lang="ko-KR" altLang="en-US" sz="17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문법에 구멍</a:t>
            </a:r>
            <a:r>
              <a:rPr lang="en-US" altLang="ko-KR" sz="1156">
                <a:solidFill>
                  <a:srgbClr val="7C8A99"/>
                </a:solidFill>
                <a:latin typeface="Aptos" panose="02110004020202020204"/>
                <a:ea typeface="맑은 고딕" panose="020B0503020000020004" pitchFamily="50" charset="-127"/>
              </a:rPr>
              <a:t>hole</a:t>
            </a:r>
            <a:r>
              <a:rPr lang="ko-KR" altLang="en-US" sz="17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을 들인다</a:t>
            </a:r>
            <a:r>
              <a:rPr lang="en-US" altLang="ko-KR" sz="17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95000"/>
              </a:lnSpc>
            </a:pPr>
            <a:r>
              <a:rPr lang="en-US" altLang="ko-KR" sz="17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(</a:t>
            </a:r>
            <a:r>
              <a:rPr lang="ko-KR" altLang="en-US" sz="17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증명나무의 크기</a:t>
            </a:r>
            <a:r>
              <a:rPr lang="en-US" altLang="ko-KR" sz="17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, </a:t>
            </a:r>
            <a:r>
              <a:rPr lang="ko-KR" altLang="en-US" sz="17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프로그램 크기</a:t>
            </a:r>
            <a:r>
              <a:rPr lang="en-US" altLang="ko-KR" sz="17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) </a:t>
            </a:r>
            <a:r>
              <a:rPr lang="ko-KR" altLang="en-US" sz="17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쌍을 크기로 두는 방법은 전역 함수 합성에서 막힌다</a:t>
            </a:r>
            <a:r>
              <a:rPr lang="en-US" altLang="ko-KR" sz="17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.</a:t>
            </a:r>
            <a:endParaRPr lang="ko-KR" altLang="en-US" sz="1700" b="1">
              <a:solidFill>
                <a:srgbClr val="1A222B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5D022769-3FCA-4AE6-BDDC-99154F815BE0}"/>
              </a:ext>
            </a:extLst>
          </p:cNvPr>
          <p:cNvSpPr txBox="1"/>
          <p:nvPr/>
        </p:nvSpPr>
        <p:spPr>
          <a:xfrm>
            <a:off x="11036300" y="19852970"/>
            <a:ext cx="7874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3500" b="1">
                <a:solidFill>
                  <a:srgbClr val="3A72B8"/>
                </a:solidFill>
                <a:latin typeface="Aptos" panose="02110004020202020204"/>
                <a:ea typeface="맑은 고딕" panose="020B0503020000020004" pitchFamily="50" charset="-127"/>
              </a:rPr>
              <a:t>06</a:t>
            </a:r>
            <a:endParaRPr lang="ko-KR" altLang="en-US" sz="3500" b="1">
              <a:solidFill>
                <a:srgbClr val="3A72B8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418" name="TextBox 417">
            <a:extLst>
              <a:ext uri="{FF2B5EF4-FFF2-40B4-BE49-F238E27FC236}">
                <a16:creationId xmlns:a16="http://schemas.microsoft.com/office/drawing/2014/main" id="{8FE91CF6-0A8E-48E4-91B7-46E33F29C93F}"/>
              </a:ext>
            </a:extLst>
          </p:cNvPr>
          <p:cNvSpPr txBox="1"/>
          <p:nvPr/>
        </p:nvSpPr>
        <p:spPr>
          <a:xfrm>
            <a:off x="11925300" y="19852970"/>
            <a:ext cx="85217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35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구멍 뚫린 증명나무와 통일시키기</a:t>
            </a:r>
            <a:r>
              <a:rPr lang="en-US" altLang="ko-KR" sz="2000">
                <a:solidFill>
                  <a:srgbClr val="7C8A99"/>
                </a:solidFill>
              </a:rPr>
              <a:t>unification</a:t>
            </a:r>
            <a:endParaRPr lang="ko-KR" altLang="en-US" sz="2000" b="1">
              <a:solidFill>
                <a:srgbClr val="00397F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419" name="TextBox 418">
            <a:extLst>
              <a:ext uri="{FF2B5EF4-FFF2-40B4-BE49-F238E27FC236}">
                <a16:creationId xmlns:a16="http://schemas.microsoft.com/office/drawing/2014/main" id="{792B7CC4-CB37-458C-ABC0-7DCB1EB3B855}"/>
              </a:ext>
            </a:extLst>
          </p:cNvPr>
          <p:cNvSpPr txBox="1"/>
          <p:nvPr/>
        </p:nvSpPr>
        <p:spPr>
          <a:xfrm>
            <a:off x="11036300" y="20614970"/>
            <a:ext cx="94107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실행되지 않은 자리를 구멍</a:t>
            </a:r>
            <a:r>
              <a:rPr lang="en-US" altLang="ko-KR" sz="1292">
                <a:solidFill>
                  <a:srgbClr val="7C8A99"/>
                </a:solidFill>
                <a:latin typeface="Aptos" panose="02110004020202020204"/>
                <a:ea typeface="맑은 고딕" panose="020B0503020000020004" pitchFamily="50" charset="-127"/>
              </a:rPr>
              <a:t>hole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으로 남기면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, 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크기를 그냥 노드</a:t>
            </a:r>
            <a:r>
              <a:rPr lang="en-US" altLang="ko-KR" sz="1300">
                <a:solidFill>
                  <a:srgbClr val="7C8A99"/>
                </a:solidFill>
                <a:latin typeface="Aptos" panose="02110004020202020204"/>
                <a:ea typeface="맑은 고딕" panose="020B0503020000020004" pitchFamily="50" charset="-127"/>
              </a:rPr>
              <a:t>n</a:t>
            </a:r>
            <a:r>
              <a:rPr lang="en-US" altLang="ko-KR" sz="1300">
                <a:solidFill>
                  <a:srgbClr val="7C8A99"/>
                </a:solidFill>
              </a:rPr>
              <a:t>ode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 수로 정의할 수 있다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.</a:t>
            </a:r>
            <a:endParaRPr lang="ko-KR" altLang="en-US" sz="1900" b="1">
              <a:solidFill>
                <a:srgbClr val="1A222B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420" name="사각형: 둥근 모서리 419">
            <a:extLst>
              <a:ext uri="{FF2B5EF4-FFF2-40B4-BE49-F238E27FC236}">
                <a16:creationId xmlns:a16="http://schemas.microsoft.com/office/drawing/2014/main" id="{3F5C8F3D-0510-4199-8CD9-D7D5669258C9}"/>
              </a:ext>
            </a:extLst>
          </p:cNvPr>
          <p:cNvSpPr/>
          <p:nvPr/>
        </p:nvSpPr>
        <p:spPr>
          <a:xfrm>
            <a:off x="5765800" y="21357411"/>
            <a:ext cx="4590431" cy="3272363"/>
          </a:xfrm>
          <a:prstGeom prst="roundRect">
            <a:avLst>
              <a:gd name="adj" fmla="val 6579"/>
            </a:avLst>
          </a:prstGeom>
          <a:solidFill>
            <a:srgbClr val="EFF4F8"/>
          </a:solidFill>
          <a:ln w="190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1" name="TextBox 420">
            <a:extLst>
              <a:ext uri="{FF2B5EF4-FFF2-40B4-BE49-F238E27FC236}">
                <a16:creationId xmlns:a16="http://schemas.microsoft.com/office/drawing/2014/main" id="{884ACB80-6F1C-46EF-B26B-739389EDF95E}"/>
              </a:ext>
            </a:extLst>
          </p:cNvPr>
          <p:cNvSpPr txBox="1"/>
          <p:nvPr/>
        </p:nvSpPr>
        <p:spPr>
          <a:xfrm>
            <a:off x="11382767" y="21526574"/>
            <a:ext cx="4622800" cy="147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500">
                <a:solidFill>
                  <a:srgbClr val="4395A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500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(x || </a:t>
            </a:r>
            <a:r>
              <a:rPr lang="en-US" altLang="ko-KR" sz="1500">
                <a:solidFill>
                  <a:srgbClr val="9A6F1A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?H1</a:t>
            </a: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  <a:r>
              <a:rPr lang="en-US" altLang="ko-KR" sz="1500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
  </a:t>
            </a:r>
            <a:r>
              <a:rPr lang="en-US" altLang="ko-KR" sz="1500">
                <a:solidFill>
                  <a:srgbClr val="4395A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500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0;</a:t>
            </a:r>
            <a:r>
              <a:rPr lang="en-US" altLang="ko-KR" sz="1500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
</a:t>
            </a: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  <a:r>
              <a:rPr lang="en-US" altLang="ko-KR" sz="1500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500">
                <a:solidFill>
                  <a:srgbClr val="4395A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else</a:t>
            </a:r>
            <a:r>
              <a:rPr lang="en-US" altLang="ko-KR" sz="1500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{</a:t>
            </a:r>
            <a:r>
              <a:rPr lang="en-US" altLang="ko-KR" sz="1500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
  </a:t>
            </a:r>
            <a:r>
              <a:rPr lang="en-US" altLang="ko-KR" sz="1500">
                <a:solidFill>
                  <a:srgbClr val="9A6F1A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?H2</a:t>
            </a:r>
            <a:r>
              <a:rPr lang="en-US" altLang="ko-KR" sz="1500">
                <a:solidFill>
                  <a:srgbClr val="D8DEE9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
</a:t>
            </a: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solidFill>
                  <a:srgbClr val="9A6F1A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?H3</a:t>
            </a:r>
            <a:endParaRPr lang="ko-KR" altLang="en-US" sz="1500">
              <a:solidFill>
                <a:srgbClr val="9A6F1A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428" name="TextBox 427">
            <a:extLst>
              <a:ext uri="{FF2B5EF4-FFF2-40B4-BE49-F238E27FC236}">
                <a16:creationId xmlns:a16="http://schemas.microsoft.com/office/drawing/2014/main" id="{E7D44950-5931-421A-8F2D-2D0E65F30B93}"/>
              </a:ext>
            </a:extLst>
          </p:cNvPr>
          <p:cNvSpPr txBox="1"/>
          <p:nvPr/>
        </p:nvSpPr>
        <p:spPr>
          <a:xfrm>
            <a:off x="16618342" y="21411107"/>
            <a:ext cx="3469883" cy="21219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350" b="1" spc="150">
                <a:latin typeface="Aptos" panose="02110004020202020204"/>
                <a:ea typeface="맑은 고딕" panose="020B0503020000020004" pitchFamily="50" charset="-127"/>
              </a:rPr>
              <a:t>구멍이 놓일 수 있는 자리</a:t>
            </a:r>
            <a:r>
              <a:rPr lang="en-US" altLang="ko-KR" sz="1350" b="1" spc="150">
                <a:latin typeface="Aptos" panose="02110004020202020204"/>
                <a:ea typeface="맑은 고딕" panose="020B0503020000020004" pitchFamily="50" charset="-127"/>
              </a:rPr>
              <a:t>(</a:t>
            </a:r>
            <a:r>
              <a:rPr lang="ko-KR" altLang="en-US" sz="1350" b="1" spc="150">
                <a:latin typeface="Aptos" panose="02110004020202020204"/>
                <a:ea typeface="맑은 고딕" panose="020B0503020000020004" pitchFamily="50" charset="-127"/>
              </a:rPr>
              <a:t>실행되지 않을 수 있는 자리</a:t>
            </a:r>
            <a:r>
              <a:rPr lang="en-US" altLang="ko-KR" sz="1350" b="1" spc="150">
                <a:latin typeface="Aptos" panose="02110004020202020204"/>
                <a:ea typeface="맑은 고딕" panose="020B0503020000020004" pitchFamily="50" charset="-127"/>
              </a:rPr>
              <a:t>)</a:t>
            </a:r>
            <a:r>
              <a:rPr lang="ko-KR" altLang="en-US" sz="1350" b="1" spc="150">
                <a:latin typeface="Aptos" panose="02110004020202020204"/>
                <a:ea typeface="맑은 고딕" panose="020B0503020000020004" pitchFamily="50" charset="-127"/>
              </a:rPr>
              <a:t>는 네 종류뿐</a:t>
            </a:r>
            <a:endParaRPr lang="en-US" altLang="ko-KR" sz="1350" b="1" spc="150">
              <a:latin typeface="Aptos" panose="02110004020202020204"/>
              <a:ea typeface="맑은 고딕" panose="020B0503020000020004" pitchFamily="50" charset="-127"/>
            </a:endParaRPr>
          </a:p>
          <a:p>
            <a:pPr>
              <a:lnSpc>
                <a:spcPct val="95000"/>
              </a:lnSpc>
            </a:pPr>
            <a:endParaRPr lang="en-US" altLang="ko-KR" sz="1350" b="1" spc="150">
              <a:latin typeface="Aptos" panose="02110004020202020204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95000"/>
              </a:lnSpc>
              <a:buFontTx/>
              <a:buChar char="-"/>
            </a:pPr>
            <a:r>
              <a:rPr lang="en-US" altLang="ko-KR" sz="1400">
                <a:latin typeface="Consolas" panose="020B0609020204030204" pitchFamily="49" charset="0"/>
              </a:rPr>
              <a:t>||, &amp;&amp;</a:t>
            </a:r>
            <a:r>
              <a:rPr lang="ko-KR" altLang="en-US" sz="1400">
                <a:latin typeface="Consolas" panose="020B0609020204030204" pitchFamily="49" charset="0"/>
              </a:rPr>
              <a:t>의 뒷부분</a:t>
            </a:r>
            <a:endParaRPr lang="en-US" altLang="ko-KR" sz="1400">
              <a:latin typeface="Consolas" panose="020B0609020204030204" pitchFamily="49" charset="0"/>
            </a:endParaRPr>
          </a:p>
          <a:p>
            <a:pPr marL="285750" indent="-285750">
              <a:lnSpc>
                <a:spcPct val="95000"/>
              </a:lnSpc>
              <a:buFontTx/>
              <a:buChar char="-"/>
            </a:pPr>
            <a:r>
              <a:rPr lang="ko-KR" altLang="en-US" sz="1400" spc="150">
                <a:latin typeface="Consolas" panose="020B0609020204030204" pitchFamily="49" charset="0"/>
                <a:ea typeface="맑은 고딕" panose="020B0503020000020004" pitchFamily="50" charset="-127"/>
              </a:rPr>
              <a:t>조건문의 실행되지 않는 부분</a:t>
            </a:r>
            <a:endParaRPr lang="en-US" altLang="ko-KR" sz="1400" spc="150"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95000"/>
              </a:lnSpc>
              <a:buFontTx/>
              <a:buChar char="-"/>
            </a:pPr>
            <a:r>
              <a:rPr lang="en-US" altLang="ko-KR" sz="1400">
                <a:latin typeface="Consolas" panose="020B0609020204030204" pitchFamily="49" charset="0"/>
              </a:rPr>
              <a:t>return </a:t>
            </a:r>
            <a:r>
              <a:rPr lang="ko-KR" altLang="en-US" sz="1400" spc="150">
                <a:latin typeface="Consolas" panose="020B0609020204030204" pitchFamily="49" charset="0"/>
                <a:ea typeface="맑은 고딕" panose="020B0503020000020004" pitchFamily="50" charset="-127"/>
              </a:rPr>
              <a:t>이후의 꼬리 부분</a:t>
            </a:r>
            <a:endParaRPr lang="en-US" altLang="ko-KR" sz="1400" spc="150"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95000"/>
              </a:lnSpc>
              <a:buFontTx/>
              <a:buChar char="-"/>
            </a:pPr>
            <a:r>
              <a:rPr lang="ko-KR" altLang="en-US" sz="1400" spc="150">
                <a:latin typeface="Consolas" panose="020B0609020204030204" pitchFamily="49" charset="0"/>
                <a:ea typeface="맑은 고딕" panose="020B0503020000020004" pitchFamily="50" charset="-127"/>
              </a:rPr>
              <a:t>함수의 내용</a:t>
            </a:r>
            <a:endParaRPr lang="en-US" altLang="ko-KR" sz="1400" spc="150"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95000"/>
              </a:lnSpc>
              <a:buFontTx/>
              <a:buChar char="-"/>
            </a:pPr>
            <a:endParaRPr lang="en-US" altLang="ko-KR" sz="1350" b="1" spc="150">
              <a:latin typeface="Aptos" panose="02110004020202020204"/>
              <a:ea typeface="맑은 고딕" panose="020B0503020000020004" pitchFamily="50" charset="-127"/>
            </a:endParaRPr>
          </a:p>
          <a:p>
            <a:pPr>
              <a:lnSpc>
                <a:spcPct val="95000"/>
              </a:lnSpc>
            </a:pPr>
            <a:endParaRPr lang="en-US" altLang="ko-KR" sz="1350" b="1" spc="150">
              <a:latin typeface="Aptos" panose="02110004020202020204"/>
              <a:ea typeface="맑은 고딕" panose="020B0503020000020004" pitchFamily="50" charset="-127"/>
            </a:endParaRPr>
          </a:p>
          <a:p>
            <a:pPr>
              <a:lnSpc>
                <a:spcPct val="95000"/>
              </a:lnSpc>
            </a:pPr>
            <a:endParaRPr lang="ko-KR" altLang="en-US" sz="1350" b="1" spc="150"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163" name="사각형: 둥근 모서리 162">
            <a:extLst>
              <a:ext uri="{FF2B5EF4-FFF2-40B4-BE49-F238E27FC236}">
                <a16:creationId xmlns:a16="http://schemas.microsoft.com/office/drawing/2014/main" id="{6DD1F1D4-87AB-463E-93A5-F2A790F7A48D}"/>
              </a:ext>
            </a:extLst>
          </p:cNvPr>
          <p:cNvSpPr/>
          <p:nvPr/>
        </p:nvSpPr>
        <p:spPr>
          <a:xfrm>
            <a:off x="11036300" y="15099693"/>
            <a:ext cx="9410700" cy="584200"/>
          </a:xfrm>
          <a:prstGeom prst="roundRect">
            <a:avLst>
              <a:gd name="adj" fmla="val 21739"/>
            </a:avLst>
          </a:prstGeom>
          <a:solidFill>
            <a:srgbClr val="D6DE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50CBF60-1D75-4FCF-9683-5321CFE20DC4}"/>
              </a:ext>
            </a:extLst>
          </p:cNvPr>
          <p:cNvSpPr txBox="1"/>
          <p:nvPr/>
        </p:nvSpPr>
        <p:spPr>
          <a:xfrm>
            <a:off x="11341100" y="15099693"/>
            <a:ext cx="88011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6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따라서 프로그램의 실행 의미 즉</a:t>
            </a:r>
            <a:r>
              <a:rPr lang="en-US" altLang="ko-KR" sz="16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, </a:t>
            </a:r>
            <a:r>
              <a:rPr lang="ko-KR" altLang="en-US" sz="16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큰보폭</a:t>
            </a:r>
            <a:r>
              <a:rPr lang="en-US" altLang="ko-KR" sz="1100">
                <a:solidFill>
                  <a:srgbClr val="7C8A99"/>
                </a:solidFill>
                <a:latin typeface="Aptos" panose="020B0004020202020204" pitchFamily="34" charset="0"/>
              </a:rPr>
              <a:t>Big-Step</a:t>
            </a:r>
            <a:r>
              <a:rPr lang="ko-KR" altLang="en-US" sz="16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 증명나무를 바로 합성한다</a:t>
            </a:r>
            <a:r>
              <a:rPr lang="en-US" altLang="ko-KR" sz="16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.</a:t>
            </a:r>
            <a:endParaRPr lang="ko-KR" altLang="en-US" sz="1600" b="1">
              <a:solidFill>
                <a:srgbClr val="00397F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263875C5-B2DE-4713-9EA3-EDA8420F7892}"/>
              </a:ext>
            </a:extLst>
          </p:cNvPr>
          <p:cNvSpPr txBox="1"/>
          <p:nvPr/>
        </p:nvSpPr>
        <p:spPr>
          <a:xfrm>
            <a:off x="13864849" y="21523609"/>
            <a:ext cx="2013737" cy="147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500">
                <a:solidFill>
                  <a:srgbClr val="4395A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500">
                <a:solidFill>
                  <a:srgbClr val="88C0D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f(</a:t>
            </a:r>
            <a:r>
              <a:rPr lang="en-US" altLang="ko-KR" sz="1500">
                <a:solidFill>
                  <a:srgbClr val="4395A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en-US" altLang="ko-KR" sz="150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x) {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solidFill>
                  <a:srgbClr val="88C0D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</a:t>
            </a:r>
            <a:r>
              <a:rPr lang="en-US" altLang="ko-KR" sz="1500">
                <a:solidFill>
                  <a:srgbClr val="9A6F1A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?H4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  <a:endParaRPr lang="ko-KR" altLang="en-US" sz="1500"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4A6D9068-4147-4DA5-8AF2-9684E83D3C95}"/>
              </a:ext>
            </a:extLst>
          </p:cNvPr>
          <p:cNvSpPr txBox="1"/>
          <p:nvPr/>
        </p:nvSpPr>
        <p:spPr>
          <a:xfrm>
            <a:off x="11036300" y="24131050"/>
            <a:ext cx="94107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반복문 혹은 재귀함수에서 반복 실행되는 코드 부분은 실제로 일치해야 하기 때문에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, 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통일시키기</a:t>
            </a:r>
            <a:r>
              <a:rPr lang="en-US" altLang="ko-KR" sz="1300">
                <a:solidFill>
                  <a:srgbClr val="7C8A99"/>
                </a:solidFill>
              </a:rPr>
              <a:t>unification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 알고리즘이 필요하다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. 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타입 추론</a:t>
            </a:r>
            <a:r>
              <a:rPr lang="en-US" altLang="ko-KR" sz="1300">
                <a:solidFill>
                  <a:srgbClr val="7C8A99"/>
                </a:solidFill>
              </a:rPr>
              <a:t>type inference</a:t>
            </a:r>
            <a:r>
              <a:rPr lang="ko-KR" altLang="en-US" sz="1900" b="1">
                <a:solidFill>
                  <a:srgbClr val="1A222B"/>
                </a:solidFill>
              </a:rPr>
              <a:t>에서와 유사하다</a:t>
            </a:r>
            <a:r>
              <a:rPr lang="en-US" altLang="ko-KR" sz="1900" b="1">
                <a:solidFill>
                  <a:srgbClr val="1A222B"/>
                </a:solidFill>
              </a:rPr>
              <a:t>.</a:t>
            </a:r>
            <a:endParaRPr lang="ko-KR" altLang="en-US" sz="1900" b="1">
              <a:solidFill>
                <a:srgbClr val="1A222B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pic>
        <p:nvPicPr>
          <p:cNvPr id="16" name="그림 15" descr="poster_insert:attack_example_body.png">
            <a:extLst>
              <a:ext uri="{FF2B5EF4-FFF2-40B4-BE49-F238E27FC236}">
                <a16:creationId xmlns:a16="http://schemas.microsoft.com/office/drawing/2014/main" id="{9FF68F30-A170-4295-AEE3-B6B03C18611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750" r="6949" b="7357"/>
          <a:stretch/>
        </p:blipFill>
        <p:spPr>
          <a:xfrm>
            <a:off x="4088917" y="10078519"/>
            <a:ext cx="6818629" cy="1041868"/>
          </a:xfrm>
          <a:prstGeom prst="rect">
            <a:avLst/>
          </a:prstGeom>
        </p:spPr>
      </p:pic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584B0FEC-FDCA-462A-A427-4F89230409B9}"/>
              </a:ext>
            </a:extLst>
          </p:cNvPr>
          <p:cNvSpPr/>
          <p:nvPr/>
        </p:nvSpPr>
        <p:spPr>
          <a:xfrm>
            <a:off x="945531" y="21356028"/>
            <a:ext cx="4566270" cy="3272363"/>
          </a:xfrm>
          <a:prstGeom prst="roundRect">
            <a:avLst>
              <a:gd name="adj" fmla="val 6579"/>
            </a:avLst>
          </a:prstGeom>
          <a:solidFill>
            <a:srgbClr val="EFF4F8"/>
          </a:solidFill>
          <a:ln w="190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95A4E03-3496-44E8-864E-E8BF1CF72A0D}"/>
              </a:ext>
            </a:extLst>
          </p:cNvPr>
          <p:cNvSpPr txBox="1"/>
          <p:nvPr/>
        </p:nvSpPr>
        <p:spPr>
          <a:xfrm>
            <a:off x="1374465" y="21747076"/>
            <a:ext cx="3702669" cy="24766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     {x: 1} |- (x &lt; 1) =&gt; false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-----------------------------------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{x: 1} |- </a:t>
            </a:r>
            <a:r>
              <a:rPr lang="en-US" altLang="ko-KR" sz="1500">
                <a:solidFill>
                  <a:srgbClr val="4395A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while</a:t>
            </a: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 (x &lt; 1) { =&gt; {x: 1}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            x := (x + 1);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</a:rPr>
              <a:t>            x := (x + 1);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</a:rPr>
              <a:t>            x := (x + 1);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</a:rPr>
              <a:t>            x := (x + 1);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</a:rPr>
              <a:t>            x := (x + 1);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          }</a:t>
            </a:r>
            <a:endParaRPr lang="ko-KR" altLang="en-US" sz="1500"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8198AD0-2187-4C00-A3C2-E1811D52508D}"/>
              </a:ext>
            </a:extLst>
          </p:cNvPr>
          <p:cNvSpPr txBox="1"/>
          <p:nvPr/>
        </p:nvSpPr>
        <p:spPr>
          <a:xfrm>
            <a:off x="5993965" y="21532813"/>
            <a:ext cx="4128369" cy="311054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</a:rPr>
              <a:t>    {x: 100} |- (x &lt; 100) =&gt; false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</a:rPr>
              <a:t>---------------------------------------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</a:rPr>
              <a:t>                   </a:t>
            </a:r>
            <a:r>
              <a:rPr lang="en-US" altLang="ko-KR" sz="1500">
                <a:latin typeface="맑은 고딕" panose="020B0503020000020004" pitchFamily="50" charset="-127"/>
              </a:rPr>
              <a:t>︙</a:t>
            </a:r>
            <a:endParaRPr lang="en-US" altLang="ko-KR" sz="1500">
              <a:latin typeface="Consolas" panose="020B0609020204030204" pitchFamily="49" charset="0"/>
            </a:endParaRPr>
          </a:p>
          <a:p>
            <a:pPr>
              <a:lnSpc>
                <a:spcPct val="115000"/>
              </a:lnSpc>
            </a:pPr>
            <a:endParaRPr lang="en-US" altLang="ko-KR" sz="1500">
              <a:latin typeface="Consolas" panose="020B0609020204030204" pitchFamily="49" charset="0"/>
            </a:endParaRPr>
          </a:p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</a:rPr>
              <a:t>                   </a:t>
            </a:r>
            <a:r>
              <a:rPr lang="en-US" altLang="ko-KR" sz="1500">
                <a:latin typeface="맑은 고딕" panose="020B0503020000020004" pitchFamily="50" charset="-127"/>
              </a:rPr>
              <a:t>︙</a:t>
            </a:r>
            <a:endParaRPr lang="en-US" altLang="ko-KR" sz="1500">
              <a:latin typeface="Consolas" panose="020B0609020204030204" pitchFamily="49" charset="0"/>
            </a:endParaRPr>
          </a:p>
          <a:p>
            <a:pPr>
              <a:lnSpc>
                <a:spcPct val="115000"/>
              </a:lnSpc>
            </a:pPr>
            <a:endParaRPr lang="en-US" altLang="ko-KR" sz="1500">
              <a:latin typeface="Consolas" panose="020B0609020204030204" pitchFamily="49" charset="0"/>
            </a:endParaRPr>
          </a:p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</a:rPr>
              <a:t>                   </a:t>
            </a:r>
            <a:r>
              <a:rPr lang="en-US" altLang="ko-KR" sz="1500">
                <a:latin typeface="맑은 고딕" panose="020B0503020000020004" pitchFamily="50" charset="-127"/>
              </a:rPr>
              <a:t>︙</a:t>
            </a:r>
            <a:endParaRPr lang="en-US" altLang="ko-KR" sz="1500">
              <a:latin typeface="Consolas" panose="020B0609020204030204" pitchFamily="49" charset="0"/>
            </a:endParaRPr>
          </a:p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</a:rPr>
              <a:t>---------------------------------------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</a:rPr>
              <a:t>{x: 1} |- </a:t>
            </a:r>
            <a:r>
              <a:rPr lang="en-US" altLang="ko-KR" sz="1500">
                <a:solidFill>
                  <a:srgbClr val="4395AB"/>
                </a:solidFill>
                <a:latin typeface="Consolas" panose="020B0609020204030204" pitchFamily="49" charset="0"/>
              </a:rPr>
              <a:t>while</a:t>
            </a:r>
            <a:r>
              <a:rPr lang="en-US" altLang="ko-KR" sz="1500">
                <a:latin typeface="Consolas" panose="020B0609020204030204" pitchFamily="49" charset="0"/>
              </a:rPr>
              <a:t> (x &lt; 100) { =&gt; {x: 100}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</a:rPr>
              <a:t>            x := (x + 1);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</a:rPr>
              <a:t>          }</a:t>
            </a:r>
            <a:endParaRPr lang="ko-KR" altLang="en-US" sz="1500">
              <a:latin typeface="Consolas" panose="020B0609020204030204" pitchFamily="49" charset="0"/>
            </a:endParaRP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48A1C90C-C94A-4F5E-A8A9-9ED6BD2EC72E}"/>
              </a:ext>
            </a:extLst>
          </p:cNvPr>
          <p:cNvSpPr/>
          <p:nvPr/>
        </p:nvSpPr>
        <p:spPr>
          <a:xfrm>
            <a:off x="11027395" y="24944290"/>
            <a:ext cx="9060830" cy="2452958"/>
          </a:xfrm>
          <a:prstGeom prst="roundRect">
            <a:avLst>
              <a:gd name="adj" fmla="val 6579"/>
            </a:avLst>
          </a:prstGeom>
          <a:solidFill>
            <a:srgbClr val="EFF4F8"/>
          </a:solidFill>
          <a:ln w="190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6EA85DE-6115-4CCF-8116-11A80270CD91}"/>
              </a:ext>
            </a:extLst>
          </p:cNvPr>
          <p:cNvSpPr txBox="1"/>
          <p:nvPr/>
        </p:nvSpPr>
        <p:spPr>
          <a:xfrm>
            <a:off x="11366500" y="25315897"/>
            <a:ext cx="2482082" cy="174564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// A</a:t>
            </a:r>
          </a:p>
          <a:p>
            <a:pPr>
              <a:lnSpc>
                <a:spcPct val="115000"/>
              </a:lnSpc>
            </a:pPr>
            <a:endParaRPr lang="en-US" altLang="ko-KR" sz="150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500">
                <a:solidFill>
                  <a:srgbClr val="4395A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50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(x &gt; 0 &amp;&amp; </a:t>
            </a:r>
            <a:r>
              <a:rPr lang="en-US" altLang="ko-KR" sz="1500">
                <a:solidFill>
                  <a:srgbClr val="9A6F1A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??</a:t>
            </a: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</a:t>
            </a:r>
            <a:r>
              <a:rPr lang="en-US" altLang="ko-KR" sz="1500">
                <a:solidFill>
                  <a:srgbClr val="4395A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50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0;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solidFill>
                  <a:srgbClr val="9A6F1A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??</a:t>
            </a:r>
            <a:endParaRPr lang="ko-KR" altLang="en-US" sz="1500">
              <a:solidFill>
                <a:srgbClr val="9A6F1A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12CBB99-8423-4B26-A5C5-FCFB41B12821}"/>
              </a:ext>
            </a:extLst>
          </p:cNvPr>
          <p:cNvSpPr txBox="1"/>
          <p:nvPr/>
        </p:nvSpPr>
        <p:spPr>
          <a:xfrm>
            <a:off x="14316769" y="25315897"/>
            <a:ext cx="2482082" cy="174564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// B</a:t>
            </a:r>
          </a:p>
          <a:p>
            <a:pPr>
              <a:lnSpc>
                <a:spcPct val="115000"/>
              </a:lnSpc>
            </a:pPr>
            <a:endParaRPr lang="en-US" altLang="ko-KR" sz="150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500">
                <a:solidFill>
                  <a:srgbClr val="4395A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50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(</a:t>
            </a:r>
            <a:r>
              <a:rPr lang="en-US" altLang="ko-KR" sz="1500">
                <a:solidFill>
                  <a:srgbClr val="9A6F1A"/>
                </a:solidFill>
                <a:latin typeface="Consolas" panose="020B0609020204030204" pitchFamily="49" charset="0"/>
              </a:rPr>
              <a:t>??</a:t>
            </a:r>
            <a:r>
              <a:rPr lang="en-US" altLang="ko-KR" sz="150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&amp;&amp;</a:t>
            </a:r>
            <a:r>
              <a:rPr lang="en-US" altLang="ko-KR" sz="150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500">
                <a:solidFill>
                  <a:srgbClr val="9A6F1A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??</a:t>
            </a: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</a:t>
            </a:r>
            <a:r>
              <a:rPr lang="en-US" altLang="ko-KR" sz="1500">
                <a:solidFill>
                  <a:srgbClr val="9A6F1A"/>
                </a:solidFill>
                <a:latin typeface="Consolas" panose="020B0609020204030204" pitchFamily="49" charset="0"/>
              </a:rPr>
              <a:t>??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x = 1;</a:t>
            </a:r>
            <a:endParaRPr lang="ko-KR" altLang="en-US" sz="1500"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0EF2E3C-43FD-480F-A3B6-016E4D0E5237}"/>
              </a:ext>
            </a:extLst>
          </p:cNvPr>
          <p:cNvSpPr txBox="1"/>
          <p:nvPr/>
        </p:nvSpPr>
        <p:spPr>
          <a:xfrm>
            <a:off x="17186659" y="25315897"/>
            <a:ext cx="2482082" cy="174564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// unify(A, </a:t>
            </a:r>
            <a:r>
              <a:rPr lang="en-US" altLang="ko-KR" sz="1500">
                <a:latin typeface="Consolas" panose="020B0609020204030204" pitchFamily="49" charset="0"/>
              </a:rPr>
              <a:t>B)</a:t>
            </a:r>
            <a:endParaRPr lang="en-US" altLang="ko-KR" sz="1500"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>
              <a:lnSpc>
                <a:spcPct val="115000"/>
              </a:lnSpc>
            </a:pPr>
            <a:endParaRPr lang="en-US" altLang="ko-KR" sz="150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  <a:p>
            <a:pPr>
              <a:lnSpc>
                <a:spcPct val="115000"/>
              </a:lnSpc>
            </a:pPr>
            <a:r>
              <a:rPr lang="en-US" altLang="ko-KR" sz="1500">
                <a:solidFill>
                  <a:srgbClr val="4395A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50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(x &gt; 0 &amp;&amp; </a:t>
            </a:r>
            <a:r>
              <a:rPr lang="en-US" altLang="ko-KR" sz="1500">
                <a:solidFill>
                  <a:srgbClr val="9A6F1A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??</a:t>
            </a: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) {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</a:t>
            </a:r>
            <a:r>
              <a:rPr lang="en-US" altLang="ko-KR" sz="1500">
                <a:solidFill>
                  <a:srgbClr val="4395A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return</a:t>
            </a:r>
            <a:r>
              <a:rPr lang="en-US" altLang="ko-KR" sz="150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0;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x = 1;</a:t>
            </a:r>
            <a:endParaRPr lang="ko-KR" altLang="en-US" sz="1500"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240016F5-A7AE-4FD7-8061-B20CD3837F72}"/>
              </a:ext>
            </a:extLst>
          </p:cNvPr>
          <p:cNvSpPr/>
          <p:nvPr/>
        </p:nvSpPr>
        <p:spPr>
          <a:xfrm>
            <a:off x="934034" y="9535406"/>
            <a:ext cx="3829669" cy="2490316"/>
          </a:xfrm>
          <a:prstGeom prst="roundRect">
            <a:avLst>
              <a:gd name="adj" fmla="val 6579"/>
            </a:avLst>
          </a:prstGeom>
          <a:solidFill>
            <a:srgbClr val="EFF4F8"/>
          </a:solidFill>
          <a:ln w="19050" cap="flat" cmpd="sng" algn="ctr">
            <a:solidFill>
              <a:srgbClr val="00397F"/>
            </a:solidFill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6D72B72-8F58-4140-8CC6-9DFF5EF200D2}"/>
              </a:ext>
            </a:extLst>
          </p:cNvPr>
          <p:cNvSpPr txBox="1"/>
          <p:nvPr/>
        </p:nvSpPr>
        <p:spPr>
          <a:xfrm>
            <a:off x="1289108" y="10011856"/>
            <a:ext cx="3080843" cy="24766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500">
                <a:solidFill>
                  <a:srgbClr val="4395A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if</a:t>
            </a:r>
            <a:r>
              <a:rPr lang="en-US" altLang="ko-KR" sz="150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</a:t>
            </a: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(x &gt; 0)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  x = 3;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solidFill>
                  <a:srgbClr val="4395AB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else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</a:t>
            </a: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x = -3;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solidFill>
                  <a:srgbClr val="8A000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y = 10 / x; </a:t>
            </a: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// </a:t>
            </a:r>
            <a:r>
              <a:rPr lang="ko-KR" altLang="en-US" sz="1500">
                <a:latin typeface="Consolas" panose="020B0609020204030204" pitchFamily="49" charset="0"/>
                <a:ea typeface="맑은 고딕" panose="020B0503020000020004" pitchFamily="50" charset="-127"/>
              </a:rPr>
              <a:t>가짜 경보 발생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84ADC54A-D7D4-451D-A7CA-39BCD28E7089}"/>
              </a:ext>
            </a:extLst>
          </p:cNvPr>
          <p:cNvSpPr txBox="1"/>
          <p:nvPr/>
        </p:nvSpPr>
        <p:spPr>
          <a:xfrm>
            <a:off x="2062864" y="12250446"/>
            <a:ext cx="2665143" cy="5295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500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분석기 공격의 예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0654217-1551-4D81-B21E-461E017840A6}"/>
              </a:ext>
            </a:extLst>
          </p:cNvPr>
          <p:cNvSpPr txBox="1"/>
          <p:nvPr/>
        </p:nvSpPr>
        <p:spPr>
          <a:xfrm>
            <a:off x="11021846" y="11393945"/>
            <a:ext cx="9395452" cy="13300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500">
                <a:solidFill>
                  <a:srgbClr val="1A222B"/>
                </a:solidFill>
                <a:latin typeface="+mj-ea"/>
                <a:ea typeface="+mj-ea"/>
              </a:rPr>
              <a:t>안전성과 유한성을 유지하면서</a:t>
            </a:r>
            <a:r>
              <a:rPr lang="en-US" altLang="ko-KR" sz="1500">
                <a:solidFill>
                  <a:srgbClr val="1A222B"/>
                </a:solidFill>
                <a:latin typeface="+mj-ea"/>
                <a:ea typeface="+mj-ea"/>
              </a:rPr>
              <a:t>, </a:t>
            </a:r>
            <a:r>
              <a:rPr lang="ko-KR" altLang="en-US" sz="1500">
                <a:solidFill>
                  <a:srgbClr val="1A222B"/>
                </a:solidFill>
                <a:latin typeface="+mj-ea"/>
                <a:ea typeface="+mj-ea"/>
              </a:rPr>
              <a:t>공격을 찾을 때마다 정밀도가 더 높은 분석기를 만들 수 있다</a:t>
            </a:r>
            <a:r>
              <a:rPr lang="en-US" altLang="ko-KR" sz="1500">
                <a:solidFill>
                  <a:srgbClr val="1A222B"/>
                </a:solidFill>
                <a:latin typeface="+mj-ea"/>
                <a:ea typeface="+mj-ea"/>
              </a:rPr>
              <a:t>. </a:t>
            </a:r>
            <a:r>
              <a:rPr lang="ko-KR" altLang="en-US" sz="1500">
                <a:solidFill>
                  <a:srgbClr val="1A222B"/>
                </a:solidFill>
                <a:latin typeface="+mj-ea"/>
                <a:ea typeface="+mj-ea"/>
              </a:rPr>
              <a:t>단</a:t>
            </a:r>
            <a:r>
              <a:rPr lang="en-US" altLang="ko-KR" sz="1500">
                <a:solidFill>
                  <a:srgbClr val="1A222B"/>
                </a:solidFill>
                <a:latin typeface="+mj-ea"/>
                <a:ea typeface="+mj-ea"/>
              </a:rPr>
              <a:t>, </a:t>
            </a:r>
            <a:r>
              <a:rPr lang="ko-KR" altLang="en-US" sz="1500">
                <a:solidFill>
                  <a:srgbClr val="1A222B"/>
                </a:solidFill>
                <a:latin typeface="+mj-ea"/>
                <a:ea typeface="+mj-ea"/>
              </a:rPr>
              <a:t>너무 정밀한 분석기를 만드려고 하면 무한하진 않지만 너무 오랜 시간을 쓰는 분석기를 만들 수 있으므로 그 균형을 잘 잡아야 한다</a:t>
            </a:r>
            <a:r>
              <a:rPr lang="en-US" altLang="ko-KR" sz="1500">
                <a:solidFill>
                  <a:srgbClr val="1A222B"/>
                </a:solidFill>
                <a:latin typeface="+mj-ea"/>
                <a:ea typeface="+mj-ea"/>
              </a:rPr>
              <a:t>.</a:t>
            </a:r>
          </a:p>
          <a:p>
            <a:pPr>
              <a:lnSpc>
                <a:spcPct val="95000"/>
              </a:lnSpc>
            </a:pPr>
            <a:endParaRPr lang="en-US" altLang="ko-KR" sz="1500">
              <a:solidFill>
                <a:srgbClr val="1A222B"/>
              </a:solidFill>
              <a:latin typeface="+mj-ea"/>
              <a:ea typeface="+mj-ea"/>
            </a:endParaRPr>
          </a:p>
          <a:p>
            <a:pPr>
              <a:lnSpc>
                <a:spcPct val="95000"/>
              </a:lnSpc>
            </a:pPr>
            <a:r>
              <a:rPr lang="ko-KR" altLang="en-US" sz="1500">
                <a:solidFill>
                  <a:srgbClr val="1A222B"/>
                </a:solidFill>
                <a:latin typeface="+mj-ea"/>
                <a:ea typeface="+mj-ea"/>
              </a:rPr>
              <a:t>추가로</a:t>
            </a:r>
            <a:r>
              <a:rPr lang="en-US" altLang="ko-KR" sz="1500">
                <a:solidFill>
                  <a:srgbClr val="1A222B"/>
                </a:solidFill>
                <a:latin typeface="+mj-ea"/>
                <a:ea typeface="+mj-ea"/>
              </a:rPr>
              <a:t>, </a:t>
            </a:r>
            <a:r>
              <a:rPr lang="ko-KR" altLang="en-US" sz="1500">
                <a:solidFill>
                  <a:srgbClr val="1A222B"/>
                </a:solidFill>
                <a:latin typeface="+mj-ea"/>
                <a:ea typeface="+mj-ea"/>
              </a:rPr>
              <a:t>이 과정에서 분석기의 안전성 검사도 적은 비용으로 같이 할 수 있다</a:t>
            </a:r>
            <a:r>
              <a:rPr lang="en-US" altLang="ko-KR" sz="1500">
                <a:solidFill>
                  <a:srgbClr val="1A222B"/>
                </a:solidFill>
                <a:latin typeface="+mj-ea"/>
                <a:ea typeface="+mj-ea"/>
              </a:rPr>
              <a:t>.</a:t>
            </a:r>
            <a:endParaRPr lang="ko-KR" altLang="en-US" sz="1500">
              <a:solidFill>
                <a:srgbClr val="1A222B"/>
              </a:solidFill>
              <a:latin typeface="+mj-ea"/>
              <a:ea typeface="+mj-ea"/>
            </a:endParaRPr>
          </a:p>
        </p:txBody>
      </p: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BCB718EE-328A-43E8-AEBA-2673AD483BF4}"/>
              </a:ext>
            </a:extLst>
          </p:cNvPr>
          <p:cNvSpPr/>
          <p:nvPr/>
        </p:nvSpPr>
        <p:spPr>
          <a:xfrm>
            <a:off x="11021847" y="15961331"/>
            <a:ext cx="3071524" cy="1183664"/>
          </a:xfrm>
          <a:prstGeom prst="roundRect">
            <a:avLst>
              <a:gd name="adj" fmla="val 6579"/>
            </a:avLst>
          </a:prstGeom>
          <a:solidFill>
            <a:srgbClr val="EFF4F8"/>
          </a:solidFill>
          <a:ln w="190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1E0AC45-5E47-401B-A888-95810C9BB7AD}"/>
              </a:ext>
            </a:extLst>
          </p:cNvPr>
          <p:cNvSpPr txBox="1"/>
          <p:nvPr/>
        </p:nvSpPr>
        <p:spPr>
          <a:xfrm>
            <a:off x="11431611" y="16118200"/>
            <a:ext cx="2939551" cy="8697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    {} |- 1 =&gt; 1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---------------------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{} |- x = 1; =&gt; {x: 1}</a:t>
            </a:r>
            <a:endParaRPr lang="ko-KR" altLang="en-US" sz="1500"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17" name="사각형: 둥근 모서리 116">
            <a:extLst>
              <a:ext uri="{FF2B5EF4-FFF2-40B4-BE49-F238E27FC236}">
                <a16:creationId xmlns:a16="http://schemas.microsoft.com/office/drawing/2014/main" id="{34C7BF77-50A0-4A2A-8FB8-9726C9603C80}"/>
              </a:ext>
            </a:extLst>
          </p:cNvPr>
          <p:cNvSpPr/>
          <p:nvPr/>
        </p:nvSpPr>
        <p:spPr>
          <a:xfrm>
            <a:off x="14667373" y="15961331"/>
            <a:ext cx="4402997" cy="1183665"/>
          </a:xfrm>
          <a:prstGeom prst="roundRect">
            <a:avLst>
              <a:gd name="adj" fmla="val 6579"/>
            </a:avLst>
          </a:prstGeom>
          <a:solidFill>
            <a:srgbClr val="EFF4F8"/>
          </a:solidFill>
          <a:ln w="190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8BB8B39-A925-4C59-92D3-AFBE2614C367}"/>
              </a:ext>
            </a:extLst>
          </p:cNvPr>
          <p:cNvSpPr txBox="1"/>
          <p:nvPr/>
        </p:nvSpPr>
        <p:spPr>
          <a:xfrm>
            <a:off x="14983153" y="16118548"/>
            <a:ext cx="4247651" cy="170862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       {x: 1} |- x + 2 =&gt; 3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------------------------------------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{x: 1} |- y = x + 2; =&gt; {x: 1, y: 3}</a:t>
            </a:r>
            <a:endParaRPr lang="ko-KR" altLang="en-US" sz="1500"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97CCD77C-D586-49E5-8C9B-D1B39BCAAE6E}"/>
              </a:ext>
            </a:extLst>
          </p:cNvPr>
          <p:cNvSpPr txBox="1"/>
          <p:nvPr/>
        </p:nvSpPr>
        <p:spPr>
          <a:xfrm>
            <a:off x="11419030" y="17685256"/>
            <a:ext cx="2939551" cy="8697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50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{} |- 1 =&gt; 1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---------------------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solidFill>
                  <a:schemeClr val="bg1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{} |- x = 1; =&gt; {x: 1}</a:t>
            </a:r>
            <a:endParaRPr lang="ko-KR" altLang="en-US" sz="1500">
              <a:solidFill>
                <a:schemeClr val="bg1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30D80FCE-6E96-4DB0-963B-3A64F3B4A12A}"/>
              </a:ext>
            </a:extLst>
          </p:cNvPr>
          <p:cNvSpPr/>
          <p:nvPr/>
        </p:nvSpPr>
        <p:spPr>
          <a:xfrm>
            <a:off x="11470115" y="17534800"/>
            <a:ext cx="7243023" cy="1798827"/>
          </a:xfrm>
          <a:prstGeom prst="roundRect">
            <a:avLst>
              <a:gd name="adj" fmla="val 6579"/>
            </a:avLst>
          </a:prstGeom>
          <a:solidFill>
            <a:srgbClr val="EFF4F8"/>
          </a:solidFill>
          <a:ln w="190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A04736E-F502-410D-A29E-35A0C2ABDCE9}"/>
              </a:ext>
            </a:extLst>
          </p:cNvPr>
          <p:cNvSpPr txBox="1"/>
          <p:nvPr/>
        </p:nvSpPr>
        <p:spPr>
          <a:xfrm>
            <a:off x="11766326" y="17740483"/>
            <a:ext cx="7033898" cy="2182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</a:rPr>
              <a:t>    {} |- 1 =&gt; 1                   {x: 1} |- x + 2 =&gt; 3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</a:rPr>
              <a:t>---------------------       ------------------------------------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</a:rPr>
              <a:t>{} |- x = 1; =&gt; {x: 1}      {x: 1} |- y = x + 2; =&gt; {x: 1, y: 3}</a:t>
            </a:r>
            <a:endParaRPr lang="ko-KR" altLang="en-US" sz="1500">
              <a:latin typeface="Consolas" panose="020B0609020204030204" pitchFamily="49" charset="0"/>
            </a:endParaRPr>
          </a:p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----------------------------------------------------------------</a:t>
            </a:r>
          </a:p>
          <a:p>
            <a:pPr>
              <a:lnSpc>
                <a:spcPct val="115000"/>
              </a:lnSpc>
            </a:pPr>
            <a:r>
              <a:rPr lang="en-US" altLang="ko-KR" sz="1500">
                <a:latin typeface="Consolas" panose="020B0609020204030204" pitchFamily="49" charset="0"/>
                <a:ea typeface="맑은 고딕" panose="020B0503020000020004" pitchFamily="50" charset="-127"/>
              </a:rPr>
              <a:t>            {} |- x = 1; y = x + 2; =&gt; {x: 1, y: 3}</a:t>
            </a:r>
            <a:endParaRPr lang="ko-KR" altLang="en-US" sz="1500"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1FEBE87-A8AF-46C2-80EF-43563B916BCB}"/>
              </a:ext>
            </a:extLst>
          </p:cNvPr>
          <p:cNvSpPr/>
          <p:nvPr/>
        </p:nvSpPr>
        <p:spPr>
          <a:xfrm>
            <a:off x="13406664" y="18231758"/>
            <a:ext cx="705757" cy="349479"/>
          </a:xfrm>
          <a:prstGeom prst="rect">
            <a:avLst/>
          </a:prstGeom>
          <a:noFill/>
          <a:ln w="2857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9FD01AD6-13AA-49E5-B389-66A585B1EC1D}"/>
              </a:ext>
            </a:extLst>
          </p:cNvPr>
          <p:cNvSpPr/>
          <p:nvPr/>
        </p:nvSpPr>
        <p:spPr>
          <a:xfrm>
            <a:off x="14654792" y="18231758"/>
            <a:ext cx="705757" cy="349479"/>
          </a:xfrm>
          <a:prstGeom prst="rect">
            <a:avLst/>
          </a:prstGeom>
          <a:noFill/>
          <a:ln w="2857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15CAADB2-773D-42C0-AC27-CC1807EC8F29}"/>
              </a:ext>
            </a:extLst>
          </p:cNvPr>
          <p:cNvCxnSpPr>
            <a:stCxn id="5" idx="3"/>
            <a:endCxn id="125" idx="1"/>
          </p:cNvCxnSpPr>
          <p:nvPr/>
        </p:nvCxnSpPr>
        <p:spPr>
          <a:xfrm>
            <a:off x="14112421" y="18406498"/>
            <a:ext cx="542371" cy="0"/>
          </a:xfrm>
          <a:prstGeom prst="line">
            <a:avLst/>
          </a:prstGeom>
          <a:ln w="2857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1D7CA2DE-2DE4-4EDC-A32E-01185EE48AD9}"/>
              </a:ext>
            </a:extLst>
          </p:cNvPr>
          <p:cNvCxnSpPr/>
          <p:nvPr/>
        </p:nvCxnSpPr>
        <p:spPr>
          <a:xfrm>
            <a:off x="12915900" y="17141347"/>
            <a:ext cx="228600" cy="3903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380084E3-35AF-4AEF-A94E-81B33715959D}"/>
              </a:ext>
            </a:extLst>
          </p:cNvPr>
          <p:cNvCxnSpPr>
            <a:cxnSpLocks/>
          </p:cNvCxnSpPr>
          <p:nvPr/>
        </p:nvCxnSpPr>
        <p:spPr>
          <a:xfrm flipH="1">
            <a:off x="16535792" y="17143787"/>
            <a:ext cx="165100" cy="3985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96971102-E68D-48A2-87F5-9396ADA7F066}"/>
              </a:ext>
            </a:extLst>
          </p:cNvPr>
          <p:cNvSpPr txBox="1"/>
          <p:nvPr/>
        </p:nvSpPr>
        <p:spPr>
          <a:xfrm>
            <a:off x="19278600" y="16387557"/>
            <a:ext cx="1838653" cy="5295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500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작은 증명나무들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916AE62-3798-41F6-A2F0-43C82B16B072}"/>
              </a:ext>
            </a:extLst>
          </p:cNvPr>
          <p:cNvSpPr txBox="1"/>
          <p:nvPr/>
        </p:nvSpPr>
        <p:spPr>
          <a:xfrm>
            <a:off x="19278600" y="18246147"/>
            <a:ext cx="1838653" cy="5295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500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합성된 증명나무</a:t>
            </a:r>
          </a:p>
        </p:txBody>
      </p:sp>
      <p:sp>
        <p:nvSpPr>
          <p:cNvPr id="18" name="TextBox 17" descr="poster_insert:formula_native">
            <a:extLst>
              <a:ext uri="{FF2B5EF4-FFF2-40B4-BE49-F238E27FC236}">
                <a16:creationId xmlns:a16="http://schemas.microsoft.com/office/drawing/2014/main" id="{EEB34EB7-5672-4B2E-82AD-163547160553}"/>
              </a:ext>
            </a:extLst>
          </p:cNvPr>
          <p:cNvSpPr txBox="1"/>
          <p:nvPr/>
        </p:nvSpPr>
        <p:spPr>
          <a:xfrm>
            <a:off x="939800" y="14478000"/>
            <a:ext cx="94107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2400" b="1">
                <a:solidFill>
                  <a:srgbClr val="00397F"/>
                </a:solidFill>
                <a:latin typeface="Cambria Math" panose="02040503050406030204" pitchFamily="18" charset="0"/>
                <a:ea typeface="맑은 고딕" panose="020B0503020000020004" pitchFamily="50" charset="-127"/>
              </a:rPr>
              <a:t>∃</a:t>
            </a:r>
            <a:r>
              <a:rPr lang="ko-KR" altLang="en-US" sz="22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 지점 </a:t>
            </a:r>
            <a:r>
              <a:rPr lang="en-US" altLang="ko-KR" sz="2200" b="1">
                <a:solidFill>
                  <a:srgbClr val="00397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ℓ</a:t>
            </a:r>
            <a:r>
              <a:rPr lang="en-US" altLang="ko-KR" sz="22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, </a:t>
            </a:r>
            <a:r>
              <a:rPr lang="ko-KR" altLang="en-US" sz="22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변수 </a:t>
            </a:r>
            <a:r>
              <a:rPr lang="en-US" altLang="ko-KR" sz="2200" b="1">
                <a:solidFill>
                  <a:srgbClr val="00397F"/>
                </a:solidFill>
                <a:latin typeface="Consolas" panose="020B0609020204030204" pitchFamily="49" charset="0"/>
                <a:ea typeface="Cambria Math" panose="02040503050406030204" pitchFamily="18" charset="0"/>
              </a:rPr>
              <a:t>x</a:t>
            </a:r>
            <a:r>
              <a:rPr lang="en-US" altLang="ko-KR" sz="22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.       C(</a:t>
            </a:r>
            <a:r>
              <a:rPr lang="en-US" altLang="ko-KR" sz="2200" b="1">
                <a:solidFill>
                  <a:srgbClr val="00397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ℓ</a:t>
            </a:r>
            <a:r>
              <a:rPr lang="en-US" altLang="ko-KR" sz="22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)(</a:t>
            </a:r>
            <a:r>
              <a:rPr lang="en-US" altLang="ko-KR" sz="2200" b="1">
                <a:solidFill>
                  <a:srgbClr val="00397F"/>
                </a:solidFill>
                <a:latin typeface="Consolas" panose="020B0609020204030204" pitchFamily="49" charset="0"/>
                <a:ea typeface="Cambria Math" panose="02040503050406030204" pitchFamily="18" charset="0"/>
              </a:rPr>
              <a:t>x</a:t>
            </a:r>
            <a:r>
              <a:rPr lang="en-US" altLang="ko-KR" sz="22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)  </a:t>
            </a:r>
            <a:r>
              <a:rPr lang="en-US" altLang="ko-KR" sz="2600" b="1">
                <a:solidFill>
                  <a:srgbClr val="00397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⊄</a:t>
            </a:r>
            <a:r>
              <a:rPr lang="en-US" altLang="ko-KR" sz="22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  A(</a:t>
            </a:r>
            <a:r>
              <a:rPr lang="en-US" altLang="ko-KR" sz="2200" b="1">
                <a:solidFill>
                  <a:srgbClr val="00397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ℓ</a:t>
            </a:r>
            <a:r>
              <a:rPr lang="en-US" altLang="ko-KR" sz="22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)(</a:t>
            </a:r>
            <a:r>
              <a:rPr lang="en-US" altLang="ko-KR" sz="2200" b="1">
                <a:solidFill>
                  <a:srgbClr val="00397F"/>
                </a:solidFill>
                <a:latin typeface="Consolas" panose="020B0609020204030204" pitchFamily="49" charset="0"/>
                <a:ea typeface="Cambria Math" panose="02040503050406030204" pitchFamily="18" charset="0"/>
              </a:rPr>
              <a:t>x</a:t>
            </a:r>
            <a:r>
              <a:rPr lang="en-US" altLang="ko-KR" sz="22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)       →   </a:t>
            </a:r>
            <a:r>
              <a:rPr lang="ko-KR" altLang="en-US" sz="2200" b="1">
                <a:solidFill>
                  <a:srgbClr val="00397F"/>
                </a:solidFill>
                <a:latin typeface="Aptos" panose="02110004020202020204"/>
                <a:ea typeface="맑은 고딕" panose="020B0503020000020004" pitchFamily="50" charset="-127"/>
              </a:rPr>
              <a:t>공격 성공</a:t>
            </a:r>
          </a:p>
        </p:txBody>
      </p:sp>
      <p:sp>
        <p:nvSpPr>
          <p:cNvPr id="22" name="TextBox 21" descr="poster_insert:formula_caption_native">
            <a:extLst>
              <a:ext uri="{FF2B5EF4-FFF2-40B4-BE49-F238E27FC236}">
                <a16:creationId xmlns:a16="http://schemas.microsoft.com/office/drawing/2014/main" id="{514C0DF6-297A-4C0A-8E6B-D9BDD8E32659}"/>
              </a:ext>
            </a:extLst>
          </p:cNvPr>
          <p:cNvSpPr txBox="1"/>
          <p:nvPr/>
        </p:nvSpPr>
        <p:spPr>
          <a:xfrm>
            <a:off x="939800" y="15151100"/>
            <a:ext cx="9410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>
                <a:solidFill>
                  <a:srgbClr val="7C8A99"/>
                </a:solidFill>
                <a:latin typeface="Aptos" panose="02110004020202020204"/>
                <a:ea typeface="맑은 고딕" panose="020B0503020000020004" pitchFamily="50" charset="-127"/>
              </a:rPr>
              <a:t>분석기가 위치</a:t>
            </a:r>
            <a:r>
              <a:rPr lang="en-US" altLang="ko-KR" sz="1200">
                <a:solidFill>
                  <a:srgbClr val="7C8A99"/>
                </a:solidFill>
                <a:latin typeface="Aptos" panose="02110004020202020204"/>
                <a:ea typeface="맑은 고딕" panose="020B0503020000020004" pitchFamily="50" charset="-127"/>
              </a:rPr>
              <a:t>·</a:t>
            </a:r>
            <a:r>
              <a:rPr lang="ko-KR" altLang="en-US" sz="1200">
                <a:solidFill>
                  <a:srgbClr val="7C8A99"/>
                </a:solidFill>
                <a:latin typeface="Aptos" panose="02110004020202020204"/>
                <a:ea typeface="맑은 고딕" panose="020B0503020000020004" pitchFamily="50" charset="-127"/>
              </a:rPr>
              <a:t>변수 단위로 분석한다는 가정 아래의 정의</a:t>
            </a:r>
            <a:r>
              <a:rPr lang="en-US" altLang="ko-KR" sz="1200">
                <a:solidFill>
                  <a:srgbClr val="7C8A99"/>
                </a:solidFill>
                <a:latin typeface="Aptos" panose="02110004020202020204"/>
                <a:ea typeface="맑은 고딕" panose="020B0503020000020004" pitchFamily="50" charset="-127"/>
              </a:rPr>
              <a:t>. </a:t>
            </a:r>
            <a:r>
              <a:rPr lang="ko-KR" altLang="en-US" sz="1200">
                <a:solidFill>
                  <a:srgbClr val="7C8A99"/>
                </a:solidFill>
                <a:latin typeface="Aptos" panose="02110004020202020204"/>
                <a:ea typeface="맑은 고딕" panose="020B0503020000020004" pitchFamily="50" charset="-127"/>
              </a:rPr>
              <a:t>범용 분석기엔 그대로 안 맞지만</a:t>
            </a:r>
            <a:r>
              <a:rPr lang="en-US" altLang="ko-KR" sz="1200">
                <a:solidFill>
                  <a:srgbClr val="7C8A99"/>
                </a:solidFill>
                <a:latin typeface="Aptos" panose="02110004020202020204"/>
                <a:ea typeface="맑은 고딕" panose="020B0503020000020004" pitchFamily="50" charset="-127"/>
              </a:rPr>
              <a:t>, </a:t>
            </a:r>
            <a:r>
              <a:rPr lang="ko-KR" altLang="en-US" sz="1200">
                <a:solidFill>
                  <a:srgbClr val="7C8A99"/>
                </a:solidFill>
                <a:latin typeface="Aptos" panose="02110004020202020204"/>
                <a:ea typeface="맑은 고딕" panose="020B0503020000020004" pitchFamily="50" charset="-127"/>
              </a:rPr>
              <a:t>편의상 이렇게 정한다</a:t>
            </a:r>
            <a:r>
              <a:rPr lang="en-US" altLang="ko-KR" sz="1200">
                <a:solidFill>
                  <a:srgbClr val="7C8A99"/>
                </a:solidFill>
                <a:latin typeface="Aptos" panose="02110004020202020204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7C8A99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DE7BF8F-9703-4B5B-B720-D758B92CC694}"/>
              </a:ext>
            </a:extLst>
          </p:cNvPr>
          <p:cNvSpPr txBox="1"/>
          <p:nvPr/>
        </p:nvSpPr>
        <p:spPr>
          <a:xfrm>
            <a:off x="1136708" y="16884650"/>
            <a:ext cx="2470092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이렇게 공격을 성공해야 하는데</a:t>
            </a:r>
            <a:r>
              <a:rPr lang="en-US" altLang="ko-KR" sz="1300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…</a:t>
            </a:r>
            <a:endParaRPr lang="ko-KR" altLang="en-US" sz="1300">
              <a:solidFill>
                <a:srgbClr val="1A222B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7CA6FB14-2BAB-4FC4-9060-D765BA8637EE}"/>
              </a:ext>
            </a:extLst>
          </p:cNvPr>
          <p:cNvSpPr/>
          <p:nvPr/>
        </p:nvSpPr>
        <p:spPr>
          <a:xfrm>
            <a:off x="4139817" y="16316559"/>
            <a:ext cx="2306108" cy="1199155"/>
          </a:xfrm>
          <a:prstGeom prst="roundRect">
            <a:avLst>
              <a:gd name="adj" fmla="val 13043"/>
            </a:avLst>
          </a:prstGeom>
          <a:solidFill>
            <a:srgbClr val="D6DEEB"/>
          </a:solidFill>
          <a:ln w="12700">
            <a:solidFill>
              <a:srgbClr val="3A72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40F47FF-A745-4EEF-B478-F1677E402109}"/>
              </a:ext>
            </a:extLst>
          </p:cNvPr>
          <p:cNvSpPr txBox="1"/>
          <p:nvPr/>
        </p:nvSpPr>
        <p:spPr>
          <a:xfrm>
            <a:off x="4744125" y="16487247"/>
            <a:ext cx="10414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000">
                <a:solidFill>
                  <a:srgbClr val="3A72B8"/>
                </a:solidFill>
                <a:latin typeface="Aptos" panose="02110004020202020204"/>
                <a:ea typeface="맑은 고딕" panose="020B0503020000020004" pitchFamily="50" charset="-127"/>
              </a:rPr>
              <a:t>요약 실행의미</a:t>
            </a: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1650ED10-0523-4C0D-ABE0-8B5E7712744B}"/>
              </a:ext>
            </a:extLst>
          </p:cNvPr>
          <p:cNvSpPr/>
          <p:nvPr/>
        </p:nvSpPr>
        <p:spPr>
          <a:xfrm>
            <a:off x="5683925" y="17009319"/>
            <a:ext cx="101600" cy="101600"/>
          </a:xfrm>
          <a:prstGeom prst="ellipse">
            <a:avLst/>
          </a:prstGeom>
          <a:solidFill>
            <a:srgbClr val="D2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D734532-A9CA-4287-898D-355FC598FECD}"/>
              </a:ext>
            </a:extLst>
          </p:cNvPr>
          <p:cNvSpPr txBox="1"/>
          <p:nvPr/>
        </p:nvSpPr>
        <p:spPr>
          <a:xfrm>
            <a:off x="5342169" y="17212465"/>
            <a:ext cx="764866" cy="19253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900">
                <a:solidFill>
                  <a:srgbClr val="7C8A99"/>
                </a:solidFill>
                <a:latin typeface="Aptos" panose="02110004020202020204"/>
                <a:ea typeface="맑은 고딕" panose="020B0503020000020004" pitchFamily="50" charset="-127"/>
              </a:rPr>
              <a:t>실제 실행의미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7C6662E-678C-4C0A-9361-48E97FDDF910}"/>
              </a:ext>
            </a:extLst>
          </p:cNvPr>
          <p:cNvSpPr txBox="1"/>
          <p:nvPr/>
        </p:nvSpPr>
        <p:spPr>
          <a:xfrm>
            <a:off x="8058149" y="16884650"/>
            <a:ext cx="355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200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⇒  정밀도</a:t>
            </a:r>
            <a:r>
              <a:rPr lang="en-US" altLang="ko-KR" sz="1200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 </a:t>
            </a:r>
            <a:r>
              <a:rPr lang="ko-KR" altLang="en-US" sz="1200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깨짐 </a:t>
            </a:r>
            <a:r>
              <a:rPr lang="en-US" altLang="ko-KR" sz="1200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(</a:t>
            </a:r>
            <a:r>
              <a:rPr lang="ko-KR" altLang="en-US" sz="1200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공격 성공</a:t>
            </a:r>
            <a:r>
              <a:rPr lang="en-US" altLang="ko-KR" sz="1200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?)</a:t>
            </a:r>
            <a:endParaRPr lang="ko-KR" altLang="en-US" sz="1200">
              <a:solidFill>
                <a:srgbClr val="1A222B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FBE4E6A-6D8A-4789-859C-610DEE9FAB7A}"/>
              </a:ext>
            </a:extLst>
          </p:cNvPr>
          <p:cNvSpPr txBox="1"/>
          <p:nvPr/>
        </p:nvSpPr>
        <p:spPr>
          <a:xfrm>
            <a:off x="1041400" y="18110200"/>
            <a:ext cx="2706914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비결정성 때문에 안전하지도 않다고</a:t>
            </a:r>
            <a:r>
              <a:rPr lang="en-US" altLang="ko-KR" sz="1300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?</a:t>
            </a:r>
            <a:endParaRPr lang="ko-KR" altLang="en-US" sz="1300">
              <a:solidFill>
                <a:srgbClr val="1A222B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84E9A6DB-9109-4AD6-A58B-EBD47CFAD08C}"/>
              </a:ext>
            </a:extLst>
          </p:cNvPr>
          <p:cNvSpPr txBox="1"/>
          <p:nvPr/>
        </p:nvSpPr>
        <p:spPr>
          <a:xfrm>
            <a:off x="8066441" y="18116287"/>
            <a:ext cx="355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200">
                <a:solidFill>
                  <a:srgbClr val="1A222B"/>
                </a:solidFill>
              </a:rPr>
              <a:t>⇒ 우선 안전성부터 깨짐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65295CE-A480-4142-9373-DD040D8E7133}"/>
              </a:ext>
            </a:extLst>
          </p:cNvPr>
          <p:cNvSpPr txBox="1"/>
          <p:nvPr/>
        </p:nvSpPr>
        <p:spPr>
          <a:xfrm>
            <a:off x="939800" y="15767050"/>
            <a:ext cx="94107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프로그램 실행의 비결정성</a:t>
            </a:r>
            <a:r>
              <a:rPr lang="en-US" altLang="ko-KR" sz="1292">
                <a:solidFill>
                  <a:srgbClr val="7C8A99"/>
                </a:solidFill>
                <a:latin typeface="Aptos" panose="02110004020202020204"/>
                <a:ea typeface="맑은 고딕" panose="020B0503020000020004" pitchFamily="50" charset="-127"/>
              </a:rPr>
              <a:t>nondeterminism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을 없애야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, </a:t>
            </a:r>
            <a:r>
              <a:rPr lang="ko-KR" altLang="en-US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실행의미가 유일하게 정해지고 정밀도를 따지는 일이 뜻을 가진다</a:t>
            </a:r>
            <a:r>
              <a:rPr lang="en-US" altLang="ko-KR" sz="1900" b="1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.</a:t>
            </a:r>
            <a:endParaRPr lang="ko-KR" altLang="en-US" sz="1900" b="1">
              <a:solidFill>
                <a:srgbClr val="1A222B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A548F8BE-F126-4641-A498-D02E6B5949DD}"/>
              </a:ext>
            </a:extLst>
          </p:cNvPr>
          <p:cNvSpPr/>
          <p:nvPr/>
        </p:nvSpPr>
        <p:spPr>
          <a:xfrm>
            <a:off x="4139817" y="17666927"/>
            <a:ext cx="2306108" cy="1199155"/>
          </a:xfrm>
          <a:prstGeom prst="roundRect">
            <a:avLst>
              <a:gd name="adj" fmla="val 13043"/>
            </a:avLst>
          </a:prstGeom>
          <a:solidFill>
            <a:srgbClr val="D6DEEB"/>
          </a:solidFill>
          <a:ln w="12700">
            <a:solidFill>
              <a:srgbClr val="3A72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78E181A-94B0-472E-A7F5-4C8283814BF9}"/>
              </a:ext>
            </a:extLst>
          </p:cNvPr>
          <p:cNvSpPr txBox="1"/>
          <p:nvPr/>
        </p:nvSpPr>
        <p:spPr>
          <a:xfrm>
            <a:off x="4744125" y="17818565"/>
            <a:ext cx="10414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000">
                <a:solidFill>
                  <a:srgbClr val="3A72B8"/>
                </a:solidFill>
                <a:latin typeface="Aptos" panose="02110004020202020204"/>
                <a:ea typeface="맑은 고딕" panose="020B0503020000020004" pitchFamily="50" charset="-127"/>
              </a:rPr>
              <a:t>요약 실행의미</a:t>
            </a:r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1EA13FF1-456D-4CF7-9039-7D717365CC5F}"/>
              </a:ext>
            </a:extLst>
          </p:cNvPr>
          <p:cNvSpPr/>
          <p:nvPr/>
        </p:nvSpPr>
        <p:spPr>
          <a:xfrm>
            <a:off x="5683925" y="18359687"/>
            <a:ext cx="101600" cy="101600"/>
          </a:xfrm>
          <a:prstGeom prst="ellipse">
            <a:avLst/>
          </a:prstGeom>
          <a:solidFill>
            <a:srgbClr val="D2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495A2060-BF0C-4EC1-A0D1-B6D9A1B1270D}"/>
              </a:ext>
            </a:extLst>
          </p:cNvPr>
          <p:cNvSpPr txBox="1"/>
          <p:nvPr/>
        </p:nvSpPr>
        <p:spPr>
          <a:xfrm>
            <a:off x="5342169" y="18562833"/>
            <a:ext cx="764866" cy="19253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900">
                <a:solidFill>
                  <a:srgbClr val="7C8A99"/>
                </a:solidFill>
                <a:latin typeface="Aptos" panose="02110004020202020204"/>
                <a:ea typeface="맑은 고딕" panose="020B0503020000020004" pitchFamily="50" charset="-127"/>
              </a:rPr>
              <a:t>실제 실행의미</a:t>
            </a:r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FAED85DE-A04D-4BE7-9761-65EB2619F721}"/>
              </a:ext>
            </a:extLst>
          </p:cNvPr>
          <p:cNvSpPr/>
          <p:nvPr/>
        </p:nvSpPr>
        <p:spPr>
          <a:xfrm>
            <a:off x="6994186" y="18359687"/>
            <a:ext cx="101600" cy="101600"/>
          </a:xfrm>
          <a:prstGeom prst="ellipse">
            <a:avLst/>
          </a:prstGeom>
          <a:solidFill>
            <a:srgbClr val="D23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79870A5C-8F16-4ADD-B3FA-4D8CB5FB9FE7}"/>
              </a:ext>
            </a:extLst>
          </p:cNvPr>
          <p:cNvSpPr txBox="1"/>
          <p:nvPr/>
        </p:nvSpPr>
        <p:spPr>
          <a:xfrm>
            <a:off x="6421449" y="18562833"/>
            <a:ext cx="1226828" cy="19253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900">
                <a:solidFill>
                  <a:srgbClr val="7C8A99"/>
                </a:solidFill>
                <a:latin typeface="Aptos" panose="02110004020202020204"/>
                <a:ea typeface="맑은 고딕" panose="020B0503020000020004" pitchFamily="50" charset="-127"/>
              </a:rPr>
              <a:t>또다른 실행의미</a:t>
            </a:r>
          </a:p>
        </p:txBody>
      </p:sp>
      <p:sp>
        <p:nvSpPr>
          <p:cNvPr id="139" name="TextBox 138" descr="poster_insert:formula_caption_native">
            <a:extLst>
              <a:ext uri="{FF2B5EF4-FFF2-40B4-BE49-F238E27FC236}">
                <a16:creationId xmlns:a16="http://schemas.microsoft.com/office/drawing/2014/main" id="{C61FEEB8-A820-41B4-B5A2-3804B2CBF740}"/>
              </a:ext>
            </a:extLst>
          </p:cNvPr>
          <p:cNvSpPr txBox="1"/>
          <p:nvPr/>
        </p:nvSpPr>
        <p:spPr>
          <a:xfrm>
            <a:off x="939800" y="19081750"/>
            <a:ext cx="9410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400" b="1">
                <a:latin typeface="Aptos" panose="02110004020202020204"/>
                <a:ea typeface="맑은 고딕" panose="020B0503020000020004" pitchFamily="50" charset="-127"/>
              </a:rPr>
              <a:t>따라서 실행의미의 비결정성을 제거한 </a:t>
            </a:r>
            <a:r>
              <a:rPr lang="en-US" altLang="ko-KR" sz="1400" b="1">
                <a:latin typeface="Aptos" panose="02110004020202020204"/>
                <a:ea typeface="맑은 고딕" panose="020B0503020000020004" pitchFamily="50" charset="-127"/>
              </a:rPr>
              <a:t>CIL– </a:t>
            </a:r>
            <a:r>
              <a:rPr lang="ko-KR" altLang="en-US" sz="1400" b="1">
                <a:latin typeface="Aptos" panose="02110004020202020204"/>
                <a:ea typeface="맑은 고딕" panose="020B0503020000020004" pitchFamily="50" charset="-127"/>
              </a:rPr>
              <a:t>언어를 합성의 대상으로 삼는다</a:t>
            </a:r>
            <a:r>
              <a:rPr lang="en-US" altLang="ko-KR" sz="1400" b="1">
                <a:latin typeface="Aptos" panose="02110004020202020204"/>
                <a:ea typeface="맑은 고딕" panose="020B0503020000020004" pitchFamily="50" charset="-127"/>
              </a:rPr>
              <a:t>.</a:t>
            </a:r>
            <a:endParaRPr lang="ko-KR" altLang="en-US" sz="1400" b="1"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25A1ABE-E915-48DE-9501-547EFA1A2010}"/>
              </a:ext>
            </a:extLst>
          </p:cNvPr>
          <p:cNvSpPr txBox="1"/>
          <p:nvPr/>
        </p:nvSpPr>
        <p:spPr>
          <a:xfrm>
            <a:off x="5252125" y="11362195"/>
            <a:ext cx="4905310" cy="5295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500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분석기가 </a:t>
            </a:r>
            <a:r>
              <a:rPr lang="en-US" altLang="ko-KR" sz="1500">
                <a:latin typeface="Consolas" panose="020B0609020204030204" pitchFamily="49" charset="0"/>
              </a:rPr>
              <a:t>x</a:t>
            </a:r>
            <a:r>
              <a:rPr lang="ko-KR" altLang="en-US" sz="1500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의 값을 구간</a:t>
            </a:r>
            <a:r>
              <a:rPr lang="en-US" altLang="ko-KR" sz="1100">
                <a:solidFill>
                  <a:srgbClr val="7C8A99"/>
                </a:solidFill>
              </a:rPr>
              <a:t>interval</a:t>
            </a:r>
            <a:r>
              <a:rPr lang="en-US" altLang="ko-KR" sz="1600">
                <a:solidFill>
                  <a:srgbClr val="3E4A57"/>
                </a:solidFill>
              </a:rPr>
              <a:t> </a:t>
            </a:r>
            <a:r>
              <a:rPr lang="ko-KR" altLang="en-US" sz="1500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으로 요약하기 때문에 실제로 </a:t>
            </a:r>
            <a:r>
              <a:rPr lang="en-US" altLang="ko-KR" sz="1500">
                <a:latin typeface="Consolas" panose="020B0609020204030204" pitchFamily="49" charset="0"/>
              </a:rPr>
              <a:t>x</a:t>
            </a:r>
            <a:r>
              <a:rPr lang="ko-KR" altLang="en-US" sz="1500">
                <a:latin typeface="Consolas" panose="020B0609020204030204" pitchFamily="49" charset="0"/>
              </a:rPr>
              <a:t>가</a:t>
            </a:r>
            <a:r>
              <a:rPr lang="ko-KR" altLang="en-US" sz="1500">
                <a:solidFill>
                  <a:srgbClr val="1A222B"/>
                </a:solidFill>
              </a:rPr>
              <a:t> </a:t>
            </a:r>
            <a:r>
              <a:rPr lang="ko-KR" altLang="en-US" sz="1500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될 수 없는 값인 </a:t>
            </a:r>
            <a:r>
              <a:rPr lang="en-US" altLang="ko-KR" sz="1500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0</a:t>
            </a:r>
            <a:r>
              <a:rPr lang="ko-KR" altLang="en-US" sz="1500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이 될 수도 있다고 어림잡는다</a:t>
            </a:r>
            <a:r>
              <a:rPr lang="en-US" altLang="ko-KR" sz="1500">
                <a:solidFill>
                  <a:srgbClr val="1A222B"/>
                </a:solidFill>
                <a:latin typeface="Aptos" panose="02110004020202020204"/>
                <a:ea typeface="맑은 고딕" panose="020B0503020000020004" pitchFamily="50" charset="-127"/>
              </a:rPr>
              <a:t>.</a:t>
            </a:r>
            <a:endParaRPr lang="ko-KR" altLang="en-US" sz="1500">
              <a:solidFill>
                <a:srgbClr val="1A222B"/>
              </a:solidFill>
              <a:latin typeface="Aptos" panose="0211000402020202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423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192</TotalTime>
  <Words>1006</Words>
  <Application>Microsoft Office PowerPoint</Application>
  <PresentationFormat>사용자 지정</PresentationFormat>
  <Paragraphs>143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맑은 고딕</vt:lpstr>
      <vt:lpstr>Arial</vt:lpstr>
      <vt:lpstr>Cambria Math</vt:lpstr>
      <vt:lpstr>Consolas</vt:lpstr>
      <vt:lpstr>Times New Roman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JungWonJun</dc:creator>
  <cp:lastModifiedBy>JungWonJun</cp:lastModifiedBy>
  <cp:revision>107</cp:revision>
  <dcterms:created xsi:type="dcterms:W3CDTF">2026-08-20T07:14:27Z</dcterms:created>
  <dcterms:modified xsi:type="dcterms:W3CDTF">2026-08-23T20:51:55Z</dcterms:modified>
</cp:coreProperties>
</file>