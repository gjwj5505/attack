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26" d="100"/>
          <a:sy n="26" d="100"/>
        </p:scale>
        <p:origin x="25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2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85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61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1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66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85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010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3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10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5E9ED-F255-485F-A6F0-6D5D0758477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E5A9-6931-47B6-AA3A-0BC992307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80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E55A29-50CC-3F3C-543B-1367541A0707}"/>
              </a:ext>
            </a:extLst>
          </p:cNvPr>
          <p:cNvSpPr/>
          <p:nvPr/>
        </p:nvSpPr>
        <p:spPr>
          <a:xfrm>
            <a:off x="0" y="0"/>
            <a:ext cx="15119350" cy="21383625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D3F22F-5254-32AD-191B-64313A885DEF}"/>
              </a:ext>
            </a:extLst>
          </p:cNvPr>
          <p:cNvSpPr/>
          <p:nvPr/>
        </p:nvSpPr>
        <p:spPr>
          <a:xfrm>
            <a:off x="0" y="0"/>
            <a:ext cx="15119350" cy="26162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C218E4-73C8-431F-3917-2317EE00DFDB}"/>
              </a:ext>
            </a:extLst>
          </p:cNvPr>
          <p:cNvSpPr/>
          <p:nvPr/>
        </p:nvSpPr>
        <p:spPr>
          <a:xfrm>
            <a:off x="0" y="2540000"/>
            <a:ext cx="15119350" cy="76200"/>
          </a:xfrm>
          <a:prstGeom prst="rect">
            <a:avLst/>
          </a:prstGeom>
          <a:solidFill>
            <a:srgbClr val="3E7C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2AE8CB-3003-6742-2617-8C73134AB01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787400"/>
            <a:ext cx="1041400" cy="1079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0A2659-F489-1911-5FEF-5D84DD5B8D4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400" y="927100"/>
            <a:ext cx="838200" cy="838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118F45-B939-ED82-5F80-621A59F89A72}"/>
              </a:ext>
            </a:extLst>
          </p:cNvPr>
          <p:cNvSpPr txBox="1"/>
          <p:nvPr/>
        </p:nvSpPr>
        <p:spPr>
          <a:xfrm>
            <a:off x="1905000" y="533400"/>
            <a:ext cx="11303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100" b="1" spc="2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SIGPL </a:t>
            </a:r>
            <a:r>
              <a:rPr lang="ko-KR" altLang="en-US" sz="1100" b="1" spc="2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여름학교 </a:t>
            </a:r>
            <a:r>
              <a:rPr lang="en-US" altLang="ko-KR" sz="1100" b="1" spc="2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2026   ·   </a:t>
            </a:r>
            <a:r>
              <a:rPr lang="ko-KR" altLang="en-US" sz="1100" b="1" spc="2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포스터 세션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8C65A-CBAF-9F52-D52D-36AC416D55A9}"/>
              </a:ext>
            </a:extLst>
          </p:cNvPr>
          <p:cNvSpPr txBox="1"/>
          <p:nvPr/>
        </p:nvSpPr>
        <p:spPr>
          <a:xfrm>
            <a:off x="1905000" y="812800"/>
            <a:ext cx="11303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34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 </a:t>
            </a:r>
            <a:r>
              <a:rPr lang="ko-KR" altLang="en-US" sz="34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 합성을 통한 정적 분석기 공격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806A6-91C3-D4E7-1790-BB0D82F64895}"/>
              </a:ext>
            </a:extLst>
          </p:cNvPr>
          <p:cNvSpPr txBox="1"/>
          <p:nvPr/>
        </p:nvSpPr>
        <p:spPr>
          <a:xfrm>
            <a:off x="1905000" y="1473200"/>
            <a:ext cx="11303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5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프로그램이 아니라</a:t>
            </a:r>
            <a:r>
              <a:rPr lang="en-US" altLang="ko-KR" sz="15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프로그램의 실행 의미를 합성한다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B50E9A2-B77B-E560-DD27-41431851D52E}"/>
              </a:ext>
            </a:extLst>
          </p:cNvPr>
          <p:cNvCxnSpPr/>
          <p:nvPr/>
        </p:nvCxnSpPr>
        <p:spPr>
          <a:xfrm>
            <a:off x="5080000" y="1879600"/>
            <a:ext cx="4953000" cy="0"/>
          </a:xfrm>
          <a:prstGeom prst="line">
            <a:avLst/>
          </a:prstGeom>
          <a:ln w="12700">
            <a:solidFill>
              <a:srgbClr val="3E7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186ED38-901C-957E-884C-149CA58DE476}"/>
              </a:ext>
            </a:extLst>
          </p:cNvPr>
          <p:cNvSpPr txBox="1"/>
          <p:nvPr/>
        </p:nvSpPr>
        <p:spPr>
          <a:xfrm>
            <a:off x="1905000" y="2006600"/>
            <a:ext cx="11303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25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정원준     지도교수  이광근     서울대학교 프로그래밍 연구실 </a:t>
            </a:r>
            <a:r>
              <a:rPr lang="en-US" altLang="ko-KR" sz="125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ROPAS</a:t>
            </a:r>
            <a:endParaRPr lang="ko-KR" altLang="en-US" sz="1250">
              <a:solidFill>
                <a:srgbClr val="E2ECF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A6783E-4BB6-ECC4-8900-CE4009E0C538}"/>
              </a:ext>
            </a:extLst>
          </p:cNvPr>
          <p:cNvSpPr txBox="1"/>
          <p:nvPr/>
        </p:nvSpPr>
        <p:spPr>
          <a:xfrm>
            <a:off x="660400" y="2895600"/>
            <a:ext cx="381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 b="1" spc="2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왜 증명나무를 합성하는가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98B0F7-775E-D3BD-3E1A-E12E2F70EDAB}"/>
              </a:ext>
            </a:extLst>
          </p:cNvPr>
          <p:cNvSpPr txBox="1"/>
          <p:nvPr/>
        </p:nvSpPr>
        <p:spPr>
          <a:xfrm>
            <a:off x="660400" y="3175000"/>
            <a:ext cx="13792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21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프로그램을 먼저 합성하면</a:t>
            </a:r>
            <a:r>
              <a:rPr lang="en-US" altLang="ko-KR" sz="21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21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프로그램에 실행 의미가 있는지조차 알 수 없다</a:t>
            </a:r>
            <a:r>
              <a:rPr lang="en-US" altLang="ko-KR" sz="21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2150" b="1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A05E4-2478-2D9F-39F7-EB2ED844A1B1}"/>
              </a:ext>
            </a:extLst>
          </p:cNvPr>
          <p:cNvSpPr txBox="1"/>
          <p:nvPr/>
        </p:nvSpPr>
        <p:spPr>
          <a:xfrm>
            <a:off x="660400" y="3657600"/>
            <a:ext cx="13792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그래서 프로그램 대신 실행 의미 </a:t>
            </a:r>
            <a:r>
              <a:rPr lang="en-US" altLang="ko-KR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Big-Step </a:t>
            </a:r>
            <a:r>
              <a:rPr lang="ko-KR" altLang="en-US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 </a:t>
            </a:r>
            <a:r>
              <a:rPr lang="en-US" altLang="ko-KR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합성한다</a:t>
            </a:r>
            <a:r>
              <a:rPr lang="en-US" altLang="ko-KR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프로그램은 그 증명의 결론으로 따라 나온다</a:t>
            </a:r>
            <a:r>
              <a:rPr lang="en-US" altLang="ko-KR" sz="14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4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8C7C36-A650-9A05-1DF8-EC316C20030B}"/>
              </a:ext>
            </a:extLst>
          </p:cNvPr>
          <p:cNvSpPr txBox="1"/>
          <p:nvPr/>
        </p:nvSpPr>
        <p:spPr>
          <a:xfrm>
            <a:off x="660400" y="3987800"/>
            <a:ext cx="13792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프로그램이 멈추는지조차 미리 알 수 없다 </a:t>
            </a:r>
            <a:r>
              <a:rPr lang="en-US" altLang="ko-KR" sz="110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(Rice's Theorem). </a:t>
            </a:r>
            <a:r>
              <a:rPr lang="ko-KR" altLang="en-US" sz="110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반대로 유한한 증명나무가 있다는 것은 곧 그 실행이 존재한다는 뜻이다</a:t>
            </a:r>
            <a:r>
              <a:rPr lang="en-US" altLang="ko-KR" sz="110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E92A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B00C1E8-6368-0FE6-00AE-B80C6410C667}"/>
              </a:ext>
            </a:extLst>
          </p:cNvPr>
          <p:cNvCxnSpPr/>
          <p:nvPr/>
        </p:nvCxnSpPr>
        <p:spPr>
          <a:xfrm>
            <a:off x="660400" y="4445000"/>
            <a:ext cx="4368800" cy="0"/>
          </a:xfrm>
          <a:prstGeom prst="line">
            <a:avLst/>
          </a:prstGeom>
          <a:ln w="3175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B7E2BD9-EB42-F239-AC69-0900175C35D0}"/>
              </a:ext>
            </a:extLst>
          </p:cNvPr>
          <p:cNvSpPr txBox="1"/>
          <p:nvPr/>
        </p:nvSpPr>
        <p:spPr>
          <a:xfrm>
            <a:off x="660400" y="4610100"/>
            <a:ext cx="53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01</a:t>
            </a:r>
            <a:endParaRPr lang="ko-KR" altLang="en-US" sz="24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E7F3E9-7B54-0B11-52CC-50E8BE7A0405}"/>
              </a:ext>
            </a:extLst>
          </p:cNvPr>
          <p:cNvSpPr txBox="1"/>
          <p:nvPr/>
        </p:nvSpPr>
        <p:spPr>
          <a:xfrm>
            <a:off x="1244600" y="4597400"/>
            <a:ext cx="378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문제 설정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26B8C5-4163-23A1-4D49-02F6049BF94F}"/>
              </a:ext>
            </a:extLst>
          </p:cNvPr>
          <p:cNvSpPr txBox="1"/>
          <p:nvPr/>
        </p:nvSpPr>
        <p:spPr>
          <a:xfrm>
            <a:off x="660400" y="5080000"/>
            <a:ext cx="4368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분석기가 가짜 경보를 내거나 안전성을 잃는 가장 작은 프로그램을</a:t>
            </a:r>
            <a:r>
              <a:rPr lang="en-US" altLang="ko-KR" sz="13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3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사람 없이 자동으로 찾는다</a:t>
            </a:r>
            <a:r>
              <a:rPr lang="en-US" altLang="ko-KR" sz="13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350" b="1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7C836E-B284-5E06-03B5-DB9F36A1F635}"/>
              </a:ext>
            </a:extLst>
          </p:cNvPr>
          <p:cNvSpPr txBox="1"/>
          <p:nvPr/>
        </p:nvSpPr>
        <p:spPr>
          <a:xfrm>
            <a:off x="660400" y="5791200"/>
            <a:ext cx="43688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분석기는 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분석하지만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분석은 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단순화한 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과 그로부터 만든 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위에서 일어난다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모든 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문법이 공격에 필요한 것은 아니다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C6C2A7-FC1B-50B8-7EBD-43C7B8DB26FC}"/>
              </a:ext>
            </a:extLst>
          </p:cNvPr>
          <p:cNvSpPr txBox="1"/>
          <p:nvPr/>
        </p:nvSpPr>
        <p:spPr>
          <a:xfrm>
            <a:off x="660400" y="65532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분석 경로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14DDA98-3931-4D47-BF74-89C77F7EF271}"/>
              </a:ext>
            </a:extLst>
          </p:cNvPr>
          <p:cNvSpPr/>
          <p:nvPr/>
        </p:nvSpPr>
        <p:spPr>
          <a:xfrm>
            <a:off x="660400" y="6807200"/>
            <a:ext cx="6096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E3677A-95D0-5192-18ED-31BDD7F0F88D}"/>
              </a:ext>
            </a:extLst>
          </p:cNvPr>
          <p:cNvSpPr txBox="1"/>
          <p:nvPr/>
        </p:nvSpPr>
        <p:spPr>
          <a:xfrm>
            <a:off x="660400" y="6807200"/>
            <a:ext cx="609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endParaRPr lang="ko-KR" altLang="en-US" sz="1200" b="1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81F08DA-70E0-829F-2E6B-A1BEE464E5D8}"/>
              </a:ext>
            </a:extLst>
          </p:cNvPr>
          <p:cNvCxnSpPr/>
          <p:nvPr/>
        </p:nvCxnSpPr>
        <p:spPr>
          <a:xfrm>
            <a:off x="1320800" y="6997700"/>
            <a:ext cx="177800" cy="0"/>
          </a:xfrm>
          <a:prstGeom prst="line">
            <a:avLst/>
          </a:prstGeom>
          <a:ln w="1524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3C885D-CDAF-0FA1-4A0F-E43DE34E58D8}"/>
              </a:ext>
            </a:extLst>
          </p:cNvPr>
          <p:cNvSpPr/>
          <p:nvPr/>
        </p:nvSpPr>
        <p:spPr>
          <a:xfrm>
            <a:off x="1549400" y="6807200"/>
            <a:ext cx="7112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5608B4-AE19-0F25-510C-2C9A360B5B9D}"/>
              </a:ext>
            </a:extLst>
          </p:cNvPr>
          <p:cNvSpPr txBox="1"/>
          <p:nvPr/>
        </p:nvSpPr>
        <p:spPr>
          <a:xfrm>
            <a:off x="1549400" y="6807200"/>
            <a:ext cx="711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endParaRPr lang="ko-KR" altLang="en-US" sz="1200" b="1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B749382-C2E9-0108-3182-FC6BEB328B27}"/>
              </a:ext>
            </a:extLst>
          </p:cNvPr>
          <p:cNvCxnSpPr/>
          <p:nvPr/>
        </p:nvCxnSpPr>
        <p:spPr>
          <a:xfrm>
            <a:off x="2311400" y="6997700"/>
            <a:ext cx="177800" cy="0"/>
          </a:xfrm>
          <a:prstGeom prst="line">
            <a:avLst/>
          </a:prstGeom>
          <a:ln w="1524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CDB6A3-1956-CCF3-060D-1B80FD2F437E}"/>
              </a:ext>
            </a:extLst>
          </p:cNvPr>
          <p:cNvSpPr/>
          <p:nvPr/>
        </p:nvSpPr>
        <p:spPr>
          <a:xfrm>
            <a:off x="2540000" y="6807200"/>
            <a:ext cx="7366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EB84B5-11C6-F5B4-6251-A5AACB82A079}"/>
              </a:ext>
            </a:extLst>
          </p:cNvPr>
          <p:cNvSpPr txBox="1"/>
          <p:nvPr/>
        </p:nvSpPr>
        <p:spPr>
          <a:xfrm>
            <a:off x="2540000" y="6807200"/>
            <a:ext cx="73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</a:t>
            </a:r>
            <a:endParaRPr lang="ko-KR" altLang="en-US" sz="1200" b="1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E060F57-13A9-8420-5093-C9B3A237CF9E}"/>
              </a:ext>
            </a:extLst>
          </p:cNvPr>
          <p:cNvCxnSpPr/>
          <p:nvPr/>
        </p:nvCxnSpPr>
        <p:spPr>
          <a:xfrm>
            <a:off x="3327400" y="6997700"/>
            <a:ext cx="177800" cy="0"/>
          </a:xfrm>
          <a:prstGeom prst="line">
            <a:avLst/>
          </a:prstGeom>
          <a:ln w="1524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AAD8EAD-C307-0CDA-2A33-09BFE7CF9F85}"/>
              </a:ext>
            </a:extLst>
          </p:cNvPr>
          <p:cNvSpPr/>
          <p:nvPr/>
        </p:nvSpPr>
        <p:spPr>
          <a:xfrm>
            <a:off x="3556000" y="6807200"/>
            <a:ext cx="965200" cy="3810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68617D-EEF2-5573-67DE-017C6B90EFD3}"/>
              </a:ext>
            </a:extLst>
          </p:cNvPr>
          <p:cNvSpPr txBox="1"/>
          <p:nvPr/>
        </p:nvSpPr>
        <p:spPr>
          <a:xfrm>
            <a:off x="3556000" y="6807200"/>
            <a:ext cx="96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115C3-58CE-C83D-248B-BE2232D1565E}"/>
              </a:ext>
            </a:extLst>
          </p:cNvPr>
          <p:cNvSpPr txBox="1"/>
          <p:nvPr/>
        </p:nvSpPr>
        <p:spPr>
          <a:xfrm>
            <a:off x="660400" y="7315200"/>
            <a:ext cx="4368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대상은 </a:t>
            </a:r>
            <a:r>
              <a:rPr lang="en-US" altLang="ko-KR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아니라</a:t>
            </a:r>
            <a:r>
              <a:rPr lang="en-US" altLang="ko-KR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아래로 내려간 </a:t>
            </a:r>
            <a:r>
              <a:rPr lang="en-US" altLang="ko-KR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과 </a:t>
            </a:r>
            <a:r>
              <a:rPr lang="en-US" altLang="ko-KR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CFG</a:t>
            </a:r>
            <a:r>
              <a:rPr lang="ko-KR" altLang="en-US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다</a:t>
            </a:r>
            <a:r>
              <a:rPr lang="en-US" altLang="ko-KR" sz="105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7E92A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FEFEC19-7B4E-DE68-DFD9-29B4F6610511}"/>
              </a:ext>
            </a:extLst>
          </p:cNvPr>
          <p:cNvSpPr/>
          <p:nvPr/>
        </p:nvSpPr>
        <p:spPr>
          <a:xfrm>
            <a:off x="660400" y="7696200"/>
            <a:ext cx="4368800" cy="736600"/>
          </a:xfrm>
          <a:prstGeom prst="rect">
            <a:avLst/>
          </a:prstGeom>
          <a:solidFill>
            <a:srgbClr val="E2E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700FEA-71B8-E11F-34E5-240037502321}"/>
              </a:ext>
            </a:extLst>
          </p:cNvPr>
          <p:cNvSpPr txBox="1"/>
          <p:nvPr/>
        </p:nvSpPr>
        <p:spPr>
          <a:xfrm>
            <a:off x="863600" y="7696200"/>
            <a:ext cx="3962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그래서 공격에 필요한 만큼만 담은 더 작은 언어 </a:t>
            </a:r>
            <a:r>
              <a:rPr lang="en-US" altLang="ko-KR" sz="12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2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새로 정의한다</a:t>
            </a:r>
            <a:r>
              <a:rPr lang="en-US" altLang="ko-KR" sz="12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250" b="1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E6CEEB-3651-B283-9E1E-9C62AE09F5AF}"/>
              </a:ext>
            </a:extLst>
          </p:cNvPr>
          <p:cNvSpPr txBox="1"/>
          <p:nvPr/>
        </p:nvSpPr>
        <p:spPr>
          <a:xfrm>
            <a:off x="660400" y="8559800"/>
            <a:ext cx="436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찾아낸 공격은 분석기를 강화하는 지침이 되고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거꾸로 난독화에도 쓸 수 있다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72132FE-0582-A0FF-0DA7-25E23E265DBE}"/>
              </a:ext>
            </a:extLst>
          </p:cNvPr>
          <p:cNvCxnSpPr/>
          <p:nvPr/>
        </p:nvCxnSpPr>
        <p:spPr>
          <a:xfrm>
            <a:off x="5359400" y="4445000"/>
            <a:ext cx="4368800" cy="0"/>
          </a:xfrm>
          <a:prstGeom prst="line">
            <a:avLst/>
          </a:prstGeom>
          <a:ln w="3175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66FCA38-382E-B6AE-55A3-F382F06933F7}"/>
              </a:ext>
            </a:extLst>
          </p:cNvPr>
          <p:cNvSpPr txBox="1"/>
          <p:nvPr/>
        </p:nvSpPr>
        <p:spPr>
          <a:xfrm>
            <a:off x="5359400" y="4610100"/>
            <a:ext cx="53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02</a:t>
            </a:r>
            <a:endParaRPr lang="ko-KR" altLang="en-US" sz="24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E1D6E1-CD76-52BD-D72D-5AA02CCFD214}"/>
              </a:ext>
            </a:extLst>
          </p:cNvPr>
          <p:cNvSpPr txBox="1"/>
          <p:nvPr/>
        </p:nvSpPr>
        <p:spPr>
          <a:xfrm>
            <a:off x="5943600" y="4597400"/>
            <a:ext cx="378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언어</a:t>
            </a:r>
            <a:r>
              <a:rPr lang="en-US" altLang="ko-KR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: CIL--</a:t>
            </a:r>
            <a:endParaRPr lang="ko-KR" altLang="en-US" sz="1900" b="1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62303EE-7CC8-6E33-8761-B47D8CD5998B}"/>
              </a:ext>
            </a:extLst>
          </p:cNvPr>
          <p:cNvSpPr/>
          <p:nvPr/>
        </p:nvSpPr>
        <p:spPr>
          <a:xfrm>
            <a:off x="5359400" y="5080000"/>
            <a:ext cx="4368800" cy="685800"/>
          </a:xfrm>
          <a:prstGeom prst="rect">
            <a:avLst/>
          </a:prstGeom>
          <a:solidFill>
            <a:srgbClr val="E2E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8FC8F2-09F7-BE46-E4D4-9D1BC972C509}"/>
              </a:ext>
            </a:extLst>
          </p:cNvPr>
          <p:cNvSpPr txBox="1"/>
          <p:nvPr/>
        </p:nvSpPr>
        <p:spPr>
          <a:xfrm>
            <a:off x="5537200" y="5080000"/>
            <a:ext cx="40132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대상 분석기는 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Sparrow. C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 1.7.3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으로 낮춘 뒤 그 위에서 분석한다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CIL--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는 그 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부분집합이자 합성 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증명의 기준 언어다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6139AF-C657-0A78-2442-ABF3449F9CD8}"/>
              </a:ext>
            </a:extLst>
          </p:cNvPr>
          <p:cNvSpPr txBox="1"/>
          <p:nvPr/>
        </p:nvSpPr>
        <p:spPr>
          <a:xfrm>
            <a:off x="5359400" y="59182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포함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F03D4D-C19C-219D-8D7E-73EF56654315}"/>
              </a:ext>
            </a:extLst>
          </p:cNvPr>
          <p:cNvSpPr txBox="1"/>
          <p:nvPr/>
        </p:nvSpPr>
        <p:spPr>
          <a:xfrm>
            <a:off x="5359400" y="6121400"/>
            <a:ext cx="43688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0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int / unsigned int
</a:t>
            </a:r>
            <a:r>
              <a:rPr lang="ko-KR" altLang="en-US" sz="110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직접 함수 호출 </a:t>
            </a:r>
            <a:r>
              <a:rPr lang="en-US" altLang="ko-KR" sz="110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110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재귀와 상호재귀
</a:t>
            </a:r>
            <a:r>
              <a:rPr lang="en-US" altLang="ko-KR" sz="110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if · loop · break · continue · return
</a:t>
            </a:r>
            <a:r>
              <a:rPr lang="ko-KR" altLang="en-US" sz="110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포인터와 배열 문법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97CB2A-211D-C804-8FE4-E5F40FE3EE32}"/>
              </a:ext>
            </a:extLst>
          </p:cNvPr>
          <p:cNvSpPr txBox="1"/>
          <p:nvPr/>
        </p:nvSpPr>
        <p:spPr>
          <a:xfrm>
            <a:off x="5359400" y="70358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제외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3EC023-85BA-FE1D-A6C5-98F61B9F0B83}"/>
              </a:ext>
            </a:extLst>
          </p:cNvPr>
          <p:cNvSpPr txBox="1"/>
          <p:nvPr/>
        </p:nvSpPr>
        <p:spPr>
          <a:xfrm>
            <a:off x="5359400" y="7239000"/>
            <a:ext cx="4368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cast · float · struct/union ·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문자열
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switch · goto · varargs · typedef · enum</a:t>
            </a:r>
            <a:endParaRPr lang="ko-KR" altLang="en-US" sz="11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D020DCC-1290-48AB-D47A-4F19387BFAFB}"/>
              </a:ext>
            </a:extLst>
          </p:cNvPr>
          <p:cNvSpPr/>
          <p:nvPr/>
        </p:nvSpPr>
        <p:spPr>
          <a:xfrm>
            <a:off x="5359400" y="7772400"/>
            <a:ext cx="43688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644BAD7-FBD6-C0E9-2981-0EB029AEF6BE}"/>
              </a:ext>
            </a:extLst>
          </p:cNvPr>
          <p:cNvSpPr/>
          <p:nvPr/>
        </p:nvSpPr>
        <p:spPr>
          <a:xfrm>
            <a:off x="5359400" y="7772400"/>
            <a:ext cx="50800" cy="711200"/>
          </a:xfrm>
          <a:prstGeom prst="rect">
            <a:avLst/>
          </a:prstGeom>
          <a:solidFill>
            <a:srgbClr val="3E7C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38940C-C10C-91AD-419D-1516250EFE35}"/>
              </a:ext>
            </a:extLst>
          </p:cNvPr>
          <p:cNvSpPr txBox="1"/>
          <p:nvPr/>
        </p:nvSpPr>
        <p:spPr>
          <a:xfrm>
            <a:off x="5588000" y="78486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cast-free</a:t>
            </a:r>
            <a:endParaRPr lang="ko-KR" altLang="en-US" sz="10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9ABE41-5F7E-970D-7C20-5F229D149320}"/>
              </a:ext>
            </a:extLst>
          </p:cNvPr>
          <p:cNvSpPr txBox="1"/>
          <p:nvPr/>
        </p:nvSpPr>
        <p:spPr>
          <a:xfrm>
            <a:off x="5588000" y="8051800"/>
            <a:ext cx="393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명시적 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cast</a:t>
            </a: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와 프론트엔드가 몰래 넣는 암묵 변환을 구분할 필요가 없도록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CastE</a:t>
            </a: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아예 두지 않는다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9CD707-A245-0AFA-C854-39F30DFA6655}"/>
              </a:ext>
            </a:extLst>
          </p:cNvPr>
          <p:cNvSpPr txBox="1"/>
          <p:nvPr/>
        </p:nvSpPr>
        <p:spPr>
          <a:xfrm>
            <a:off x="5359400" y="8585200"/>
            <a:ext cx="279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하나의 </a:t>
            </a:r>
            <a:r>
              <a:rPr lang="en-US" altLang="ko-KR" sz="950" b="1" spc="12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GADT, </a:t>
            </a:r>
            <a:r>
              <a:rPr lang="ko-KR" altLang="en-US" sz="950" b="1" spc="12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두 개의 </a:t>
            </a:r>
            <a:r>
              <a:rPr lang="en-US" altLang="ko-KR" sz="950" b="1" spc="12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mode</a:t>
            </a:r>
            <a:endParaRPr lang="ko-KR" altLang="en-US" sz="950" b="1" spc="120">
              <a:solidFill>
                <a:srgbClr val="7E92A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5CEDBF5-7712-EFFA-6631-F4487CDC5C54}"/>
              </a:ext>
            </a:extLst>
          </p:cNvPr>
          <p:cNvSpPr/>
          <p:nvPr/>
        </p:nvSpPr>
        <p:spPr>
          <a:xfrm>
            <a:off x="5359400" y="8788400"/>
            <a:ext cx="21082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1A4916-DC0D-93BF-F161-770BD4C87AC0}"/>
              </a:ext>
            </a:extLst>
          </p:cNvPr>
          <p:cNvSpPr txBox="1"/>
          <p:nvPr/>
        </p:nvSpPr>
        <p:spPr>
          <a:xfrm>
            <a:off x="5435600" y="8890000"/>
            <a:ext cx="195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Syntax.ground</a:t>
            </a:r>
            <a:endParaRPr lang="ko-KR" altLang="en-US" sz="1200" b="1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FA9D93-1A53-FBD6-252F-14C9EB111C59}"/>
              </a:ext>
            </a:extLst>
          </p:cNvPr>
          <p:cNvSpPr txBox="1"/>
          <p:nvPr/>
        </p:nvSpPr>
        <p:spPr>
          <a:xfrm>
            <a:off x="5461000" y="9118600"/>
            <a:ext cx="1905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불가 </a:t>
            </a:r>
            <a:r>
              <a:rPr lang="en-US" altLang="ko-KR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</a:t>
            </a:r>
            <a:r>
              <a:rPr lang="en-US" altLang="ko-KR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 </a:t>
            </a: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A1C0B76-168E-0582-7DDE-5A48D5959579}"/>
              </a:ext>
            </a:extLst>
          </p:cNvPr>
          <p:cNvSpPr/>
          <p:nvPr/>
        </p:nvSpPr>
        <p:spPr>
          <a:xfrm>
            <a:off x="7620000" y="8788400"/>
            <a:ext cx="2108200" cy="558800"/>
          </a:xfrm>
          <a:prstGeom prst="rect">
            <a:avLst/>
          </a:prstGeom>
          <a:solidFill>
            <a:srgbClr val="E2ECF6"/>
          </a:solidFill>
          <a:ln w="12700">
            <a:solidFill>
              <a:srgbClr val="E2E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3041BE-0761-FD34-C143-F50BB879DAEE}"/>
              </a:ext>
            </a:extLst>
          </p:cNvPr>
          <p:cNvSpPr txBox="1"/>
          <p:nvPr/>
        </p:nvSpPr>
        <p:spPr>
          <a:xfrm>
            <a:off x="7696200" y="8890000"/>
            <a:ext cx="195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Syntax.holed</a:t>
            </a:r>
            <a:endParaRPr lang="ko-KR" altLang="en-US" sz="1200" b="1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3C0BB4-E0DC-BE40-D26A-13E49C283E17}"/>
              </a:ext>
            </a:extLst>
          </p:cNvPr>
          <p:cNvSpPr txBox="1"/>
          <p:nvPr/>
        </p:nvSpPr>
        <p:spPr>
          <a:xfrm>
            <a:off x="7721600" y="9118600"/>
            <a:ext cx="1905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ExpHole · StmtSeqHole</a:t>
            </a:r>
            <a:endParaRPr lang="ko-KR" altLang="en-US" sz="9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E482D6E-F2EF-76C9-15AC-3B061F18D0EF}"/>
              </a:ext>
            </a:extLst>
          </p:cNvPr>
          <p:cNvCxnSpPr/>
          <p:nvPr/>
        </p:nvCxnSpPr>
        <p:spPr>
          <a:xfrm>
            <a:off x="10058400" y="4445000"/>
            <a:ext cx="4368800" cy="0"/>
          </a:xfrm>
          <a:prstGeom prst="line">
            <a:avLst/>
          </a:prstGeom>
          <a:ln w="3175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84CD3F4-B897-759B-ADE9-65C4D71D2104}"/>
              </a:ext>
            </a:extLst>
          </p:cNvPr>
          <p:cNvSpPr txBox="1"/>
          <p:nvPr/>
        </p:nvSpPr>
        <p:spPr>
          <a:xfrm>
            <a:off x="10058400" y="4610100"/>
            <a:ext cx="53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03</a:t>
            </a:r>
            <a:endParaRPr lang="ko-KR" altLang="en-US" sz="24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BEEB71-0CB0-F734-9791-B8A400DD2EC7}"/>
              </a:ext>
            </a:extLst>
          </p:cNvPr>
          <p:cNvSpPr txBox="1"/>
          <p:nvPr/>
        </p:nvSpPr>
        <p:spPr>
          <a:xfrm>
            <a:off x="10642600" y="4597400"/>
            <a:ext cx="378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공격의 정의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D4D451-8DF1-F7A2-F556-C9440FAEE1D9}"/>
              </a:ext>
            </a:extLst>
          </p:cNvPr>
          <p:cNvSpPr txBox="1"/>
          <p:nvPr/>
        </p:nvSpPr>
        <p:spPr>
          <a:xfrm>
            <a:off x="10058400" y="5080000"/>
            <a:ext cx="4368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main</a:t>
            </a:r>
            <a:r>
              <a:rPr lang="ko-KR" altLang="en-US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</a:t>
            </a:r>
            <a:r>
              <a:rPr lang="en-US" altLang="ko-KR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</a:t>
            </a:r>
            <a:r>
              <a:rPr lang="ko-KR" altLang="en-US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반환하며 정상 종료한 실행만 비교한다</a:t>
            </a:r>
            <a:r>
              <a:rPr lang="en-US" altLang="ko-KR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 시점에 살아 있는 모든 지역 </a:t>
            </a:r>
            <a:r>
              <a:rPr lang="en-US" altLang="ko-KR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memory binding</a:t>
            </a:r>
            <a:r>
              <a:rPr lang="ko-KR" altLang="en-US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관찰 대상</a:t>
            </a:r>
            <a:r>
              <a:rPr lang="en-US" altLang="ko-KR" sz="125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250" b="1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C217D84-03DF-664A-4278-88DF28EC650E}"/>
              </a:ext>
            </a:extLst>
          </p:cNvPr>
          <p:cNvSpPr/>
          <p:nvPr/>
        </p:nvSpPr>
        <p:spPr>
          <a:xfrm>
            <a:off x="10058400" y="5867400"/>
            <a:ext cx="4368800" cy="4064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989871-37A9-A4BE-93FE-BFE9698E32A4}"/>
              </a:ext>
            </a:extLst>
          </p:cNvPr>
          <p:cNvSpPr txBox="1"/>
          <p:nvPr/>
        </p:nvSpPr>
        <p:spPr>
          <a:xfrm>
            <a:off x="10236200" y="5867400"/>
            <a:ext cx="1270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안전성 실패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7D45B3-C9DF-CEB9-103E-C09418B96B6E}"/>
              </a:ext>
            </a:extLst>
          </p:cNvPr>
          <p:cNvSpPr txBox="1"/>
          <p:nvPr/>
        </p:nvSpPr>
        <p:spPr>
          <a:xfrm>
            <a:off x="11557000" y="5867400"/>
            <a:ext cx="2692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1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 ∉ 분석 결과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A96496A-D24A-CE93-12F7-5C20B8EEB93A}"/>
              </a:ext>
            </a:extLst>
          </p:cNvPr>
          <p:cNvSpPr/>
          <p:nvPr/>
        </p:nvSpPr>
        <p:spPr>
          <a:xfrm>
            <a:off x="10058400" y="6324600"/>
            <a:ext cx="4368800" cy="406400"/>
          </a:xfrm>
          <a:prstGeom prst="rect">
            <a:avLst/>
          </a:prstGeom>
          <a:solidFill>
            <a:srgbClr val="E2E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CBD23C-8333-35A0-CE13-0B18F89C7809}"/>
              </a:ext>
            </a:extLst>
          </p:cNvPr>
          <p:cNvSpPr txBox="1"/>
          <p:nvPr/>
        </p:nvSpPr>
        <p:spPr>
          <a:xfrm>
            <a:off x="10236200" y="6324600"/>
            <a:ext cx="1270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실패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04807F-EB87-827C-D721-313BCBEB5A62}"/>
              </a:ext>
            </a:extLst>
          </p:cNvPr>
          <p:cNvSpPr txBox="1"/>
          <p:nvPr/>
        </p:nvSpPr>
        <p:spPr>
          <a:xfrm>
            <a:off x="11557000" y="6324600"/>
            <a:ext cx="2692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100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결과 ⊋ </a:t>
            </a:r>
            <a:r>
              <a:rPr lang="en-US" altLang="ko-KR" sz="1100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{</a:t>
            </a:r>
            <a:r>
              <a:rPr lang="ko-KR" altLang="en-US" sz="1100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</a:t>
            </a:r>
            <a:r>
              <a:rPr lang="en-US" altLang="ko-KR" sz="1100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}</a:t>
            </a:r>
            <a:endParaRPr lang="ko-KR" altLang="en-US" sz="1100">
              <a:solidFill>
                <a:srgbClr val="003870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2633AB-C753-3212-5525-3B4CE6CE1B8F}"/>
              </a:ext>
            </a:extLst>
          </p:cNvPr>
          <p:cNvSpPr txBox="1"/>
          <p:nvPr/>
        </p:nvSpPr>
        <p:spPr>
          <a:xfrm>
            <a:off x="10058400" y="68580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50" b="1" spc="12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찾아낸 공격 예시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0555912-D858-F5C9-A7ED-E5FB4B120582}"/>
              </a:ext>
            </a:extLst>
          </p:cNvPr>
          <p:cNvSpPr/>
          <p:nvPr/>
        </p:nvSpPr>
        <p:spPr>
          <a:xfrm>
            <a:off x="10058400" y="7086600"/>
            <a:ext cx="4368800" cy="863600"/>
          </a:xfrm>
          <a:prstGeom prst="rect">
            <a:avLst/>
          </a:prstGeom>
          <a:solidFill>
            <a:srgbClr val="08182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469DD9-1416-B6EC-4B9D-1BC31AE2BB7E}"/>
              </a:ext>
            </a:extLst>
          </p:cNvPr>
          <p:cNvSpPr txBox="1"/>
          <p:nvPr/>
        </p:nvSpPr>
        <p:spPr>
          <a:xfrm>
            <a:off x="10287000" y="7213600"/>
            <a:ext cx="39116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00">
                <a:solidFill>
                  <a:srgbClr val="DAE8F4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= 1;
while (-x) { x = 0; }
x = x * x;</a:t>
            </a:r>
            <a:endParaRPr lang="ko-KR" altLang="en-US" sz="1100">
              <a:solidFill>
                <a:srgbClr val="DAE8F4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588E33-962C-2A36-F565-5BC3A172D87C}"/>
              </a:ext>
            </a:extLst>
          </p:cNvPr>
          <p:cNvSpPr txBox="1"/>
          <p:nvPr/>
        </p:nvSpPr>
        <p:spPr>
          <a:xfrm>
            <a:off x="10058400" y="8051800"/>
            <a:ext cx="203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구체 실행  </a:t>
            </a:r>
            <a:r>
              <a:rPr lang="en-US" altLang="ko-KR" sz="105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= 0</a:t>
            </a:r>
            <a:endParaRPr lang="ko-KR" altLang="en-US" sz="1050" b="1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52C423-B5C6-1CA5-A22F-D48505725927}"/>
              </a:ext>
            </a:extLst>
          </p:cNvPr>
          <p:cNvSpPr txBox="1"/>
          <p:nvPr/>
        </p:nvSpPr>
        <p:spPr>
          <a:xfrm>
            <a:off x="12090400" y="8051800"/>
            <a:ext cx="2336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95000"/>
              </a:lnSpc>
            </a:pPr>
            <a:r>
              <a:rPr lang="ko-KR" altLang="en-US" sz="1050" b="1">
                <a:solidFill>
                  <a:srgbClr val="3E7CB4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분석 결과  </a:t>
            </a:r>
            <a:r>
              <a:rPr lang="en-US" altLang="ko-KR" sz="1050" b="1">
                <a:solidFill>
                  <a:srgbClr val="3E7CB4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x |-&gt; [-inf, inf]</a:t>
            </a:r>
            <a:endParaRPr lang="ko-KR" altLang="en-US" sz="1050" b="1">
              <a:solidFill>
                <a:srgbClr val="3E7CB4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E82DAF-B3AB-1035-3C45-177C2E4B8382}"/>
              </a:ext>
            </a:extLst>
          </p:cNvPr>
          <p:cNvSpPr txBox="1"/>
          <p:nvPr/>
        </p:nvSpPr>
        <p:spPr>
          <a:xfrm>
            <a:off x="10058400" y="8356600"/>
            <a:ext cx="4368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guard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x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아니라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-x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라 종료 후 필터가 약하고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x * x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는 두 피연산자가 같은 변수라는 상관관계를 잃는다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E876F8-77C2-6E8C-AAAE-72197FA492E2}"/>
              </a:ext>
            </a:extLst>
          </p:cNvPr>
          <p:cNvSpPr txBox="1"/>
          <p:nvPr/>
        </p:nvSpPr>
        <p:spPr>
          <a:xfrm>
            <a:off x="10058400" y="8864600"/>
            <a:ext cx="4368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7E92A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* 이전 자체 분석기 엔진에서 발견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50B90FF-9A55-BA2F-FECB-F8853AE44979}"/>
              </a:ext>
            </a:extLst>
          </p:cNvPr>
          <p:cNvSpPr/>
          <p:nvPr/>
        </p:nvSpPr>
        <p:spPr>
          <a:xfrm>
            <a:off x="0" y="9626600"/>
            <a:ext cx="15119350" cy="3454400"/>
          </a:xfrm>
          <a:prstGeom prst="rect">
            <a:avLst/>
          </a:prstGeom>
          <a:solidFill>
            <a:srgbClr val="F1F6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3286807-1001-B2DD-E5A6-E404A77448BC}"/>
              </a:ext>
            </a:extLst>
          </p:cNvPr>
          <p:cNvCxnSpPr/>
          <p:nvPr/>
        </p:nvCxnSpPr>
        <p:spPr>
          <a:xfrm>
            <a:off x="660400" y="9906000"/>
            <a:ext cx="13792200" cy="0"/>
          </a:xfrm>
          <a:prstGeom prst="line">
            <a:avLst/>
          </a:prstGeom>
          <a:ln w="3175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231FB0C-25C2-E5D8-3723-1AD1C819084A}"/>
              </a:ext>
            </a:extLst>
          </p:cNvPr>
          <p:cNvSpPr txBox="1"/>
          <p:nvPr/>
        </p:nvSpPr>
        <p:spPr>
          <a:xfrm>
            <a:off x="660400" y="10071100"/>
            <a:ext cx="53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04</a:t>
            </a:r>
            <a:endParaRPr lang="ko-KR" altLang="en-US" sz="24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F96B51D-287C-44A9-ED0A-AAC67551E7A4}"/>
              </a:ext>
            </a:extLst>
          </p:cNvPr>
          <p:cNvSpPr txBox="1"/>
          <p:nvPr/>
        </p:nvSpPr>
        <p:spPr>
          <a:xfrm>
            <a:off x="1244600" y="10058400"/>
            <a:ext cx="132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잎에서 뿌리로</a:t>
            </a:r>
            <a:r>
              <a:rPr lang="en-US" altLang="ko-KR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작은 조각부터 쌓아 올린다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DFD9F50-3A3E-59CD-ADFF-07904E006ECD}"/>
              </a:ext>
            </a:extLst>
          </p:cNvPr>
          <p:cNvSpPr/>
          <p:nvPr/>
        </p:nvSpPr>
        <p:spPr>
          <a:xfrm>
            <a:off x="660400" y="10541000"/>
            <a:ext cx="2667000" cy="1346200"/>
          </a:xfrm>
          <a:prstGeom prst="rect">
            <a:avLst/>
          </a:prstGeom>
          <a:solidFill>
            <a:srgbClr val="08182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4212CB-86BB-B1B2-5EB3-64FED161BE07}"/>
              </a:ext>
            </a:extLst>
          </p:cNvPr>
          <p:cNvSpPr txBox="1"/>
          <p:nvPr/>
        </p:nvSpPr>
        <p:spPr>
          <a:xfrm>
            <a:off x="914400" y="10668000"/>
            <a:ext cx="21590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00">
                <a:solidFill>
                  <a:srgbClr val="DAE8F4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 main() {
  int x;
  x = 1;
  return x;
}</a:t>
            </a:r>
            <a:endParaRPr lang="ko-KR" altLang="en-US" sz="1100">
              <a:solidFill>
                <a:srgbClr val="DAE8F4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F48A3D-36A2-07BE-0609-4C046461375D}"/>
              </a:ext>
            </a:extLst>
          </p:cNvPr>
          <p:cNvSpPr txBox="1"/>
          <p:nvPr/>
        </p:nvSpPr>
        <p:spPr>
          <a:xfrm>
            <a:off x="660400" y="12014200"/>
            <a:ext cx="33528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EConst, LVar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같은 가장 작은 조각에서 시작해 뿌리까지 올라간다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그림의 위에서 아래가 합성 순서다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프로그램은 뿌리의 결론으로 따라 나온다</a:t>
            </a:r>
            <a:r>
              <a:rPr lang="en-US" altLang="ko-KR" sz="11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FA406B4-E51C-1900-E449-39B02A82431C}"/>
              </a:ext>
            </a:extLst>
          </p:cNvPr>
          <p:cNvCxnSpPr/>
          <p:nvPr/>
        </p:nvCxnSpPr>
        <p:spPr>
          <a:xfrm>
            <a:off x="4445000" y="10541000"/>
            <a:ext cx="11176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EF2EE98-DB0E-04CF-D516-70AE3895430C}"/>
              </a:ext>
            </a:extLst>
          </p:cNvPr>
          <p:cNvCxnSpPr/>
          <p:nvPr/>
        </p:nvCxnSpPr>
        <p:spPr>
          <a:xfrm>
            <a:off x="5689600" y="10541000"/>
            <a:ext cx="11176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8383B6EE-1006-6D73-1441-2FA52F9AD3D3}"/>
              </a:ext>
            </a:extLst>
          </p:cNvPr>
          <p:cNvCxnSpPr/>
          <p:nvPr/>
        </p:nvCxnSpPr>
        <p:spPr>
          <a:xfrm>
            <a:off x="7950200" y="10541000"/>
            <a:ext cx="11176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5C51A00-EA3C-D1B5-B1E5-9F31B75809A5}"/>
              </a:ext>
            </a:extLst>
          </p:cNvPr>
          <p:cNvSpPr txBox="1"/>
          <p:nvPr/>
        </p:nvSpPr>
        <p:spPr>
          <a:xfrm>
            <a:off x="4445000" y="10591800"/>
            <a:ext cx="111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425466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[LVar] x =&gt; s0+0</a:t>
            </a:r>
            <a:endParaRPr lang="ko-KR" altLang="en-US" sz="1000">
              <a:solidFill>
                <a:srgbClr val="425466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70699F8-8476-3F83-C47A-122162AA9506}"/>
              </a:ext>
            </a:extLst>
          </p:cNvPr>
          <p:cNvSpPr txBox="1"/>
          <p:nvPr/>
        </p:nvSpPr>
        <p:spPr>
          <a:xfrm>
            <a:off x="5689600" y="10591800"/>
            <a:ext cx="111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425466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[EConst] 1 =&gt; 1</a:t>
            </a:r>
            <a:endParaRPr lang="ko-KR" altLang="en-US" sz="1000">
              <a:solidFill>
                <a:srgbClr val="425466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21516F1-4A25-D6F5-753F-F5F00DD86485}"/>
              </a:ext>
            </a:extLst>
          </p:cNvPr>
          <p:cNvSpPr txBox="1"/>
          <p:nvPr/>
        </p:nvSpPr>
        <p:spPr>
          <a:xfrm>
            <a:off x="7950200" y="10591800"/>
            <a:ext cx="1117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425466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[LVar] x =&gt; s0+0</a:t>
            </a:r>
            <a:endParaRPr lang="ko-KR" altLang="en-US" sz="1000">
              <a:solidFill>
                <a:srgbClr val="425466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C61F1EED-75BA-A9AC-1561-95BC29B10320}"/>
              </a:ext>
            </a:extLst>
          </p:cNvPr>
          <p:cNvCxnSpPr/>
          <p:nvPr/>
        </p:nvCxnSpPr>
        <p:spPr>
          <a:xfrm>
            <a:off x="4432300" y="10858500"/>
            <a:ext cx="23622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93896269-A82F-0A7D-C9E9-053F262D9957}"/>
              </a:ext>
            </a:extLst>
          </p:cNvPr>
          <p:cNvSpPr txBox="1"/>
          <p:nvPr/>
        </p:nvSpPr>
        <p:spPr>
          <a:xfrm>
            <a:off x="4051300" y="10883900"/>
            <a:ext cx="31242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fi-FI" altLang="ko-KR" sz="1000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[ISet] x = 1; =&gt; {x |-&gt; 1}</a:t>
            </a:r>
            <a:endParaRPr lang="ko-KR" altLang="en-US" sz="1000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02A43360-5A3A-90A6-090A-03AB33888B2C}"/>
              </a:ext>
            </a:extLst>
          </p:cNvPr>
          <p:cNvCxnSpPr/>
          <p:nvPr/>
        </p:nvCxnSpPr>
        <p:spPr>
          <a:xfrm>
            <a:off x="7264400" y="10858500"/>
            <a:ext cx="25400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4A63E5D-2A53-D115-5ADB-ADAAE2152B2A}"/>
              </a:ext>
            </a:extLst>
          </p:cNvPr>
          <p:cNvSpPr txBox="1"/>
          <p:nvPr/>
        </p:nvSpPr>
        <p:spPr>
          <a:xfrm>
            <a:off x="6883400" y="10883900"/>
            <a:ext cx="3302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[ELval] x =&gt; 1</a:t>
            </a:r>
            <a:endParaRPr lang="ko-KR" altLang="en-US" sz="1000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7CA76FE-762B-4F2E-9D03-F326603073DD}"/>
              </a:ext>
            </a:extLst>
          </p:cNvPr>
          <p:cNvCxnSpPr/>
          <p:nvPr/>
        </p:nvCxnSpPr>
        <p:spPr>
          <a:xfrm>
            <a:off x="4432300" y="11125200"/>
            <a:ext cx="23622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5273891-A151-5F0E-9D5A-AC09D6B3A834}"/>
              </a:ext>
            </a:extLst>
          </p:cNvPr>
          <p:cNvSpPr txBox="1"/>
          <p:nvPr/>
        </p:nvSpPr>
        <p:spPr>
          <a:xfrm>
            <a:off x="4051300" y="11150600"/>
            <a:ext cx="31242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[SInstr] instr[1] =&gt; Normal</a:t>
            </a:r>
            <a:endParaRPr lang="ko-KR" altLang="en-US" sz="1000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38F724F-22D3-BAE7-741A-B187BA6A63FC}"/>
              </a:ext>
            </a:extLst>
          </p:cNvPr>
          <p:cNvCxnSpPr/>
          <p:nvPr/>
        </p:nvCxnSpPr>
        <p:spPr>
          <a:xfrm>
            <a:off x="7264400" y="11125200"/>
            <a:ext cx="25400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CBBB5C9-04C1-928C-DC93-5FD7E7F75ACA}"/>
              </a:ext>
            </a:extLst>
          </p:cNvPr>
          <p:cNvSpPr txBox="1"/>
          <p:nvPr/>
        </p:nvSpPr>
        <p:spPr>
          <a:xfrm>
            <a:off x="6883400" y="11150600"/>
            <a:ext cx="3302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[SReturnSome] return x; =&gt; Return(1)</a:t>
            </a:r>
            <a:endParaRPr lang="ko-KR" altLang="en-US" sz="1000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EABDC66-8654-9D20-AFE5-7DC6FB37B5EB}"/>
              </a:ext>
            </a:extLst>
          </p:cNvPr>
          <p:cNvCxnSpPr/>
          <p:nvPr/>
        </p:nvCxnSpPr>
        <p:spPr>
          <a:xfrm>
            <a:off x="4445000" y="11391900"/>
            <a:ext cx="54610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3561E3C-C6A3-FFBF-106C-FA28EC06A8D9}"/>
              </a:ext>
            </a:extLst>
          </p:cNvPr>
          <p:cNvSpPr txBox="1"/>
          <p:nvPr/>
        </p:nvSpPr>
        <p:spPr>
          <a:xfrm>
            <a:off x="4064000" y="11417300"/>
            <a:ext cx="622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[BSeq] block[2] =&gt; Return(1)</a:t>
            </a:r>
            <a:endParaRPr lang="ko-KR" altLang="en-US" sz="1000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0D6F3AE2-20DB-C042-012E-C4CCC17A579A}"/>
              </a:ext>
            </a:extLst>
          </p:cNvPr>
          <p:cNvCxnSpPr/>
          <p:nvPr/>
        </p:nvCxnSpPr>
        <p:spPr>
          <a:xfrm>
            <a:off x="4445000" y="11658600"/>
            <a:ext cx="546100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4DF17EA-C231-0049-FC35-0CE4A0FD5502}"/>
              </a:ext>
            </a:extLst>
          </p:cNvPr>
          <p:cNvSpPr txBox="1"/>
          <p:nvPr/>
        </p:nvSpPr>
        <p:spPr>
          <a:xfrm>
            <a:off x="4064000" y="11684000"/>
            <a:ext cx="622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[FReturn] main() =&gt; Return(1)</a:t>
            </a:r>
            <a:endParaRPr lang="ko-KR" altLang="en-US" sz="1000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0F581F23-FDFB-8850-A207-C7E4D9F96350}"/>
              </a:ext>
            </a:extLst>
          </p:cNvPr>
          <p:cNvCxnSpPr/>
          <p:nvPr/>
        </p:nvCxnSpPr>
        <p:spPr>
          <a:xfrm>
            <a:off x="4445000" y="11925300"/>
            <a:ext cx="5461000" cy="0"/>
          </a:xfrm>
          <a:prstGeom prst="line">
            <a:avLst/>
          </a:prstGeom>
          <a:ln w="2540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BA177EB-B586-4DB0-5196-84A3E3DE51F5}"/>
              </a:ext>
            </a:extLst>
          </p:cNvPr>
          <p:cNvSpPr txBox="1"/>
          <p:nvPr/>
        </p:nvSpPr>
        <p:spPr>
          <a:xfrm>
            <a:off x="4064000" y="11950700"/>
            <a:ext cx="6223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100">
                <a:solidFill>
                  <a:srgbClr val="003870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[PMainReturn] main() =&gt; 1</a:t>
            </a:r>
            <a:endParaRPr lang="ko-KR" altLang="en-US" sz="1100">
              <a:solidFill>
                <a:srgbClr val="003870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FDBDFF48-D718-93EB-DB3A-94748D12C625}"/>
              </a:ext>
            </a:extLst>
          </p:cNvPr>
          <p:cNvCxnSpPr/>
          <p:nvPr/>
        </p:nvCxnSpPr>
        <p:spPr>
          <a:xfrm>
            <a:off x="4445000" y="12192000"/>
            <a:ext cx="5461000" cy="0"/>
          </a:xfrm>
          <a:prstGeom prst="line">
            <a:avLst/>
          </a:prstGeom>
          <a:ln w="2540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6C7458A-8F0B-4C22-A3EB-B4FC62220E55}"/>
              </a:ext>
            </a:extLst>
          </p:cNvPr>
          <p:cNvSpPr txBox="1"/>
          <p:nvPr/>
        </p:nvSpPr>
        <p:spPr>
          <a:xfrm>
            <a:off x="4445000" y="12268200"/>
            <a:ext cx="546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7E92A6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proof_size(t) = 1 + sum of premise sizes</a:t>
            </a:r>
            <a:endParaRPr lang="ko-KR" altLang="en-US" sz="950">
              <a:solidFill>
                <a:srgbClr val="7E92A6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AE60769-17F2-8AE0-76C4-039AE239FFB6}"/>
              </a:ext>
            </a:extLst>
          </p:cNvPr>
          <p:cNvSpPr/>
          <p:nvPr/>
        </p:nvSpPr>
        <p:spPr>
          <a:xfrm>
            <a:off x="10312400" y="10541000"/>
            <a:ext cx="41402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E3D65A3A-0A78-DBA9-8D27-637A9BD5293D}"/>
              </a:ext>
            </a:extLst>
          </p:cNvPr>
          <p:cNvSpPr/>
          <p:nvPr/>
        </p:nvSpPr>
        <p:spPr>
          <a:xfrm>
            <a:off x="10312400" y="10541000"/>
            <a:ext cx="50800" cy="9652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83C663-FDD1-63A5-0817-0566C97FF216}"/>
              </a:ext>
            </a:extLst>
          </p:cNvPr>
          <p:cNvSpPr txBox="1"/>
          <p:nvPr/>
        </p:nvSpPr>
        <p:spPr>
          <a:xfrm>
            <a:off x="10566400" y="106426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크기 순서대로 </a:t>
            </a:r>
            <a:r>
              <a:rPr lang="en-US" altLang="ko-KR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pool</a:t>
            </a:r>
            <a:r>
              <a:rPr lang="ko-KR" altLang="en-US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 쌓는다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33A07A8-826B-1F81-5C78-CFB01BBB08CE}"/>
              </a:ext>
            </a:extLst>
          </p:cNvPr>
          <p:cNvSpPr txBox="1"/>
          <p:nvPr/>
        </p:nvSpPr>
        <p:spPr>
          <a:xfrm>
            <a:off x="10566400" y="10896600"/>
            <a:ext cx="368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규칙마다 이미 만들어 둔 더 작은 조각만 꺼내 쓴다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호출된 함수의 증명도 언제나 진부분나무이므로 재귀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·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상호재귀가 잘 정의된다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6AC959BE-03C2-92DA-59A6-9185B8C876A5}"/>
              </a:ext>
            </a:extLst>
          </p:cNvPr>
          <p:cNvSpPr/>
          <p:nvPr/>
        </p:nvSpPr>
        <p:spPr>
          <a:xfrm>
            <a:off x="10312400" y="11658600"/>
            <a:ext cx="41402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1B56B28-5356-2A9F-7A07-61A83F8241BF}"/>
              </a:ext>
            </a:extLst>
          </p:cNvPr>
          <p:cNvSpPr/>
          <p:nvPr/>
        </p:nvSpPr>
        <p:spPr>
          <a:xfrm>
            <a:off x="10312400" y="11658600"/>
            <a:ext cx="50800" cy="10668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675348D-22C7-33D7-0FEA-BD5ABFEB653F}"/>
              </a:ext>
            </a:extLst>
          </p:cNvPr>
          <p:cNvSpPr txBox="1"/>
          <p:nvPr/>
        </p:nvSpPr>
        <p:spPr>
          <a:xfrm>
            <a:off x="10566400" y="11760200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2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메모리가 항상 따라 붙는다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C6D13A9-71F6-5F3B-FE30-AE3080044D0E}"/>
              </a:ext>
            </a:extLst>
          </p:cNvPr>
          <p:cNvSpPr txBox="1"/>
          <p:nvPr/>
        </p:nvSpPr>
        <p:spPr>
          <a:xfrm>
            <a:off x="10566400" y="12014200"/>
            <a:ext cx="3683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완전한 프로그램은 스스로 메모리를 정하지만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조각은 앞뒤 메모리의 관계만 안다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메모리를 나중으로 미루면 정지 문제에 빠지므로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조각을 만들 때 전후 메모리를 확정한다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50BB090A-F846-B0D6-B717-1C6CF2238305}"/>
              </a:ext>
            </a:extLst>
          </p:cNvPr>
          <p:cNvCxnSpPr/>
          <p:nvPr/>
        </p:nvCxnSpPr>
        <p:spPr>
          <a:xfrm>
            <a:off x="660400" y="13385800"/>
            <a:ext cx="4368800" cy="0"/>
          </a:xfrm>
          <a:prstGeom prst="line">
            <a:avLst/>
          </a:prstGeom>
          <a:ln w="3175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2A0B2E3E-FD46-FA64-C9E7-3C3D938D5FE1}"/>
              </a:ext>
            </a:extLst>
          </p:cNvPr>
          <p:cNvSpPr txBox="1"/>
          <p:nvPr/>
        </p:nvSpPr>
        <p:spPr>
          <a:xfrm>
            <a:off x="660400" y="13550900"/>
            <a:ext cx="53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05</a:t>
            </a:r>
            <a:endParaRPr lang="ko-KR" altLang="en-US" sz="24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E0BB15D-4D0F-1CAD-F371-113346C3BB73}"/>
              </a:ext>
            </a:extLst>
          </p:cNvPr>
          <p:cNvSpPr txBox="1"/>
          <p:nvPr/>
        </p:nvSpPr>
        <p:spPr>
          <a:xfrm>
            <a:off x="1244600" y="13538200"/>
            <a:ext cx="3784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안 된 자리는 </a:t>
            </a:r>
            <a:r>
              <a:rPr lang="en-US" altLang="ko-KR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로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5C2DEBCE-FC6A-D91C-2DDC-56FA59D0D775}"/>
              </a:ext>
            </a:extLst>
          </p:cNvPr>
          <p:cNvSpPr/>
          <p:nvPr/>
        </p:nvSpPr>
        <p:spPr>
          <a:xfrm>
            <a:off x="660400" y="14020800"/>
            <a:ext cx="2921000" cy="1270000"/>
          </a:xfrm>
          <a:prstGeom prst="rect">
            <a:avLst/>
          </a:prstGeom>
          <a:solidFill>
            <a:srgbClr val="08182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30E494E-8FD3-F269-52D5-9C852E2E947D}"/>
              </a:ext>
            </a:extLst>
          </p:cNvPr>
          <p:cNvSpPr txBox="1"/>
          <p:nvPr/>
        </p:nvSpPr>
        <p:spPr>
          <a:xfrm>
            <a:off x="914400" y="14147800"/>
            <a:ext cx="24130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00">
                <a:solidFill>
                  <a:srgbClr val="DAE8F4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if (x || ?H1) {
  return 0;
} else {
  ?H2
}</a:t>
            </a:r>
            <a:endParaRPr lang="ko-KR" altLang="en-US" sz="1100">
              <a:solidFill>
                <a:srgbClr val="DAE8F4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C6CC6393-7808-776B-26E3-C9B88B443B57}"/>
              </a:ext>
            </a:extLst>
          </p:cNvPr>
          <p:cNvSpPr/>
          <p:nvPr/>
        </p:nvSpPr>
        <p:spPr>
          <a:xfrm>
            <a:off x="660400" y="15443200"/>
            <a:ext cx="558800" cy="2794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F0BD001-9176-46DC-AC5D-84A58A4A027E}"/>
              </a:ext>
            </a:extLst>
          </p:cNvPr>
          <p:cNvSpPr txBox="1"/>
          <p:nvPr/>
        </p:nvSpPr>
        <p:spPr>
          <a:xfrm>
            <a:off x="660400" y="15443200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?H1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1AAA9C4-B15D-69EF-E131-F4F2120C13EE}"/>
              </a:ext>
            </a:extLst>
          </p:cNvPr>
          <p:cNvSpPr txBox="1"/>
          <p:nvPr/>
        </p:nvSpPr>
        <p:spPr>
          <a:xfrm>
            <a:off x="1346200" y="15443200"/>
            <a:ext cx="3683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short-circuit</a:t>
            </a: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로 평가되지 않은 오른쪽 피연산자 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ExpHole</a:t>
            </a:r>
            <a:endParaRPr lang="ko-KR" altLang="en-US" sz="1050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8172610B-98C7-1503-BECB-9AB62F8CA9B2}"/>
              </a:ext>
            </a:extLst>
          </p:cNvPr>
          <p:cNvSpPr/>
          <p:nvPr/>
        </p:nvSpPr>
        <p:spPr>
          <a:xfrm>
            <a:off x="660400" y="15925800"/>
            <a:ext cx="558800" cy="279400"/>
          </a:xfrm>
          <a:prstGeom prst="rect">
            <a:avLst/>
          </a:prstGeom>
          <a:solidFill>
            <a:srgbClr val="3E7CB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1212308-70B0-ECF2-4E62-DD2F0B74B6D6}"/>
              </a:ext>
            </a:extLst>
          </p:cNvPr>
          <p:cNvSpPr txBox="1"/>
          <p:nvPr/>
        </p:nvSpPr>
        <p:spPr>
          <a:xfrm>
            <a:off x="660400" y="15925800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000" b="1">
                <a:solidFill>
                  <a:srgbClr val="FFFF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?H2</a:t>
            </a:r>
            <a:endParaRPr lang="ko-KR" altLang="en-US" sz="1000" b="1">
              <a:solidFill>
                <a:srgbClr val="FFFFFF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81E0627-1FCC-64CA-ACB9-2B94BF8DCB70}"/>
              </a:ext>
            </a:extLst>
          </p:cNvPr>
          <p:cNvSpPr txBox="1"/>
          <p:nvPr/>
        </p:nvSpPr>
        <p:spPr>
          <a:xfrm>
            <a:off x="1346200" y="15925800"/>
            <a:ext cx="3683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선택되지 않은 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branch, </a:t>
            </a: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또는 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return · break · continue </a:t>
            </a: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뒤에 잘린 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block </a:t>
            </a:r>
            <a:r>
              <a:rPr lang="ko-KR" altLang="en-US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꼬리 </a:t>
            </a:r>
            <a:r>
              <a:rPr lang="en-US" altLang="ko-KR" sz="10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StmtSeqHole</a:t>
            </a:r>
            <a:endParaRPr lang="ko-KR" altLang="en-US" sz="1050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225BED0B-EB29-5D51-6FA1-F8A24F9AAE03}"/>
              </a:ext>
            </a:extLst>
          </p:cNvPr>
          <p:cNvSpPr/>
          <p:nvPr/>
        </p:nvSpPr>
        <p:spPr>
          <a:xfrm>
            <a:off x="660400" y="16560800"/>
            <a:ext cx="4368800" cy="3810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FEB50E4-2C0A-D32C-0638-4E9DB1136FBA}"/>
              </a:ext>
            </a:extLst>
          </p:cNvPr>
          <p:cNvSpPr txBox="1"/>
          <p:nvPr/>
        </p:nvSpPr>
        <p:spPr>
          <a:xfrm>
            <a:off x="838200" y="16560800"/>
            <a:ext cx="4013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실행된 자리에는 </a:t>
            </a:r>
            <a:r>
              <a:rPr lang="en-US" altLang="ko-KR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 남을 수 없다</a:t>
            </a:r>
            <a:r>
              <a:rPr lang="en-US" altLang="ko-KR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1">
              <a:solidFill>
                <a:srgbClr val="FFFFFF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4D92A9F-D7C9-2379-5A88-D2A22D584C10}"/>
              </a:ext>
            </a:extLst>
          </p:cNvPr>
          <p:cNvSpPr txBox="1"/>
          <p:nvPr/>
        </p:nvSpPr>
        <p:spPr>
          <a:xfrm>
            <a:off x="660400" y="17043400"/>
            <a:ext cx="43688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같은 정적 위치가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loop ·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재귀로 여러 번 실행되면 그 조각들이 서로 맞아야 한다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타입 추론에서와 같은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unification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으로 맞추고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나무와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substitution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따로 들고 다닌다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FE53FD74-1CE0-A927-66BE-7743A1FA88A7}"/>
              </a:ext>
            </a:extLst>
          </p:cNvPr>
          <p:cNvCxnSpPr/>
          <p:nvPr/>
        </p:nvCxnSpPr>
        <p:spPr>
          <a:xfrm>
            <a:off x="5359400" y="13385800"/>
            <a:ext cx="9067800" cy="0"/>
          </a:xfrm>
          <a:prstGeom prst="line">
            <a:avLst/>
          </a:prstGeom>
          <a:ln w="3175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7927F3EF-5EE7-14F8-A1CB-69E0C4BCC6CE}"/>
              </a:ext>
            </a:extLst>
          </p:cNvPr>
          <p:cNvSpPr txBox="1"/>
          <p:nvPr/>
        </p:nvSpPr>
        <p:spPr>
          <a:xfrm>
            <a:off x="5359400" y="13550900"/>
            <a:ext cx="53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06</a:t>
            </a:r>
            <a:endParaRPr lang="ko-KR" altLang="en-US" sz="24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B0116F9-F92F-9FDE-967C-F47392ABBC14}"/>
              </a:ext>
            </a:extLst>
          </p:cNvPr>
          <p:cNvSpPr txBox="1"/>
          <p:nvPr/>
        </p:nvSpPr>
        <p:spPr>
          <a:xfrm>
            <a:off x="5943600" y="13538200"/>
            <a:ext cx="848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을 채워 분석기에 넣는다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E24C2A9-6F89-EBB5-C6AE-0829845743A6}"/>
              </a:ext>
            </a:extLst>
          </p:cNvPr>
          <p:cNvSpPr txBox="1"/>
          <p:nvPr/>
        </p:nvSpPr>
        <p:spPr>
          <a:xfrm>
            <a:off x="5359400" y="14020800"/>
            <a:ext cx="9067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자리는 어차피 실행되지 않았다</a:t>
            </a:r>
            <a:r>
              <a:rPr lang="en-US" altLang="ko-KR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그래서 아무 코드나 채워 넣어도 이 증명나무가 말하는 실행 의미는 바뀌지 않는다</a:t>
            </a:r>
            <a:r>
              <a:rPr lang="en-US" altLang="ko-KR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문맥이 맞을 필요도 없다</a:t>
            </a:r>
            <a:r>
              <a:rPr lang="en-US" altLang="ko-KR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새로운 실행이 생기지 않도록 함수 호출만 넣지 않는다</a:t>
            </a:r>
            <a:r>
              <a:rPr lang="en-US" altLang="ko-KR" sz="1150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150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15AF6B2-3C88-DB11-2951-3B57204646D8}"/>
              </a:ext>
            </a:extLst>
          </p:cNvPr>
          <p:cNvSpPr/>
          <p:nvPr/>
        </p:nvSpPr>
        <p:spPr>
          <a:xfrm>
            <a:off x="5359400" y="14605000"/>
            <a:ext cx="193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61CA606-8124-1FF6-E799-D833A2367E0C}"/>
              </a:ext>
            </a:extLst>
          </p:cNvPr>
          <p:cNvSpPr txBox="1"/>
          <p:nvPr/>
        </p:nvSpPr>
        <p:spPr>
          <a:xfrm>
            <a:off x="5435600" y="14706600"/>
            <a:ext cx="177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완성된 </a:t>
            </a:r>
            <a:r>
              <a:rPr lang="en-US" altLang="ko-KR" sz="11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holed </a:t>
            </a:r>
            <a:r>
              <a:rPr lang="ko-KR" altLang="en-US" sz="11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5DFA275-9181-198B-2F3C-8A68A6C9D575}"/>
              </a:ext>
            </a:extLst>
          </p:cNvPr>
          <p:cNvSpPr txBox="1"/>
          <p:nvPr/>
        </p:nvSpPr>
        <p:spPr>
          <a:xfrm>
            <a:off x="5461000" y="14935200"/>
            <a:ext cx="17272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미실행 자리는 아직 </a:t>
            </a:r>
            <a:r>
              <a:rPr lang="en-US" altLang="ko-KR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</a:t>
            </a:r>
            <a:endParaRPr lang="ko-KR" altLang="en-US" sz="9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DCB82B3D-A794-9045-C30B-0577F9CB655C}"/>
              </a:ext>
            </a:extLst>
          </p:cNvPr>
          <p:cNvCxnSpPr/>
          <p:nvPr/>
        </p:nvCxnSpPr>
        <p:spPr>
          <a:xfrm>
            <a:off x="7340600" y="14947900"/>
            <a:ext cx="203200" cy="0"/>
          </a:xfrm>
          <a:prstGeom prst="line">
            <a:avLst/>
          </a:prstGeom>
          <a:ln w="1778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644B7B9-953F-D363-0AFF-367967D00879}"/>
              </a:ext>
            </a:extLst>
          </p:cNvPr>
          <p:cNvSpPr/>
          <p:nvPr/>
        </p:nvSpPr>
        <p:spPr>
          <a:xfrm>
            <a:off x="7569200" y="14605000"/>
            <a:ext cx="1752600" cy="685800"/>
          </a:xfrm>
          <a:prstGeom prst="rect">
            <a:avLst/>
          </a:prstGeom>
          <a:solidFill>
            <a:srgbClr val="E2ECF6"/>
          </a:solidFill>
          <a:ln w="12700">
            <a:solidFill>
              <a:srgbClr val="E2E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A33B66A-40B1-61CC-B534-0CF078ED745A}"/>
              </a:ext>
            </a:extLst>
          </p:cNvPr>
          <p:cNvSpPr txBox="1"/>
          <p:nvPr/>
        </p:nvSpPr>
        <p:spPr>
          <a:xfrm>
            <a:off x="7645400" y="14706600"/>
            <a:ext cx="1600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11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115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채우기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624A2FF-C41F-0FDC-68FF-9F537B086BF0}"/>
              </a:ext>
            </a:extLst>
          </p:cNvPr>
          <p:cNvSpPr txBox="1"/>
          <p:nvPr/>
        </p:nvSpPr>
        <p:spPr>
          <a:xfrm>
            <a:off x="7670800" y="14935200"/>
            <a:ext cx="1549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아무 코드나 </a:t>
            </a:r>
            <a:r>
              <a:rPr lang="en-US" altLang="ko-KR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— </a:t>
            </a: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호출만 제외</a:t>
            </a: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4D365CFC-A965-DCAC-F453-AD996BBDD6E3}"/>
              </a:ext>
            </a:extLst>
          </p:cNvPr>
          <p:cNvCxnSpPr/>
          <p:nvPr/>
        </p:nvCxnSpPr>
        <p:spPr>
          <a:xfrm>
            <a:off x="9372600" y="14947900"/>
            <a:ext cx="203200" cy="0"/>
          </a:xfrm>
          <a:prstGeom prst="line">
            <a:avLst/>
          </a:prstGeom>
          <a:ln w="1778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EF7946B-BE49-31FA-9E26-B727AAAB1360}"/>
              </a:ext>
            </a:extLst>
          </p:cNvPr>
          <p:cNvSpPr/>
          <p:nvPr/>
        </p:nvSpPr>
        <p:spPr>
          <a:xfrm>
            <a:off x="9601200" y="14605000"/>
            <a:ext cx="1778000" cy="685800"/>
          </a:xfrm>
          <a:prstGeom prst="rect">
            <a:avLst/>
          </a:prstGeom>
          <a:solidFill>
            <a:srgbClr val="003870"/>
          </a:solidFill>
          <a:ln w="12700">
            <a:solidFill>
              <a:srgbClr val="003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B0BB287-0DF8-8C31-0126-38874783051C}"/>
              </a:ext>
            </a:extLst>
          </p:cNvPr>
          <p:cNvSpPr txBox="1"/>
          <p:nvPr/>
        </p:nvSpPr>
        <p:spPr>
          <a:xfrm>
            <a:off x="9677400" y="14706600"/>
            <a:ext cx="162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 </a:t>
            </a:r>
            <a:r>
              <a:rPr lang="en-US" altLang="ko-KR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 </a:t>
            </a:r>
            <a:r>
              <a:rPr lang="ko-KR" altLang="en-US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프로그램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B88F588-BD96-D2BF-09B9-24A43B2689ED}"/>
              </a:ext>
            </a:extLst>
          </p:cNvPr>
          <p:cNvSpPr txBox="1"/>
          <p:nvPr/>
        </p:nvSpPr>
        <p:spPr>
          <a:xfrm>
            <a:off x="9702800" y="14935200"/>
            <a:ext cx="1574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altLang="ko-KR" sz="95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hole </a:t>
            </a:r>
            <a:r>
              <a:rPr lang="ko-KR" altLang="en-US" sz="95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없는 완성된 코드</a:t>
            </a:r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8B9A972E-9EA9-E96F-8E92-D53D051AA392}"/>
              </a:ext>
            </a:extLst>
          </p:cNvPr>
          <p:cNvCxnSpPr/>
          <p:nvPr/>
        </p:nvCxnSpPr>
        <p:spPr>
          <a:xfrm flipV="1">
            <a:off x="11404600" y="14554200"/>
            <a:ext cx="228600" cy="304800"/>
          </a:xfrm>
          <a:prstGeom prst="line">
            <a:avLst/>
          </a:prstGeom>
          <a:ln w="1778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75960147-BC9C-9F54-A2D0-E315E5AC819B}"/>
              </a:ext>
            </a:extLst>
          </p:cNvPr>
          <p:cNvCxnSpPr/>
          <p:nvPr/>
        </p:nvCxnSpPr>
        <p:spPr>
          <a:xfrm>
            <a:off x="11404600" y="15036800"/>
            <a:ext cx="228600" cy="304800"/>
          </a:xfrm>
          <a:prstGeom prst="line">
            <a:avLst/>
          </a:prstGeom>
          <a:ln w="1778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F55D289-D53E-3774-A0A9-843318AF4505}"/>
              </a:ext>
            </a:extLst>
          </p:cNvPr>
          <p:cNvSpPr/>
          <p:nvPr/>
        </p:nvSpPr>
        <p:spPr>
          <a:xfrm>
            <a:off x="11658600" y="14249400"/>
            <a:ext cx="1651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C4B1A07-F2BC-E50D-B2B7-08C055C8D70C}"/>
              </a:ext>
            </a:extLst>
          </p:cNvPr>
          <p:cNvSpPr txBox="1"/>
          <p:nvPr/>
        </p:nvSpPr>
        <p:spPr>
          <a:xfrm>
            <a:off x="11734800" y="14351000"/>
            <a:ext cx="149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증명나무의 구체값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8A22695-A90E-7F03-71B3-D9F0E0F2BA03}"/>
              </a:ext>
            </a:extLst>
          </p:cNvPr>
          <p:cNvSpPr txBox="1"/>
          <p:nvPr/>
        </p:nvSpPr>
        <p:spPr>
          <a:xfrm>
            <a:off x="11760200" y="14579600"/>
            <a:ext cx="1447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실제 실행 의미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81ADEE44-5AFA-AC58-F412-631567A11E3B}"/>
              </a:ext>
            </a:extLst>
          </p:cNvPr>
          <p:cNvSpPr/>
          <p:nvPr/>
        </p:nvSpPr>
        <p:spPr>
          <a:xfrm>
            <a:off x="11658600" y="15062200"/>
            <a:ext cx="1651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B0B1D2D-A4B7-AD0A-0213-47B0ED638E26}"/>
              </a:ext>
            </a:extLst>
          </p:cNvPr>
          <p:cNvSpPr txBox="1"/>
          <p:nvPr/>
        </p:nvSpPr>
        <p:spPr>
          <a:xfrm>
            <a:off x="11734800" y="15163800"/>
            <a:ext cx="149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분석기의 분석 결과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E9FC873-D1D4-9EF7-FEC1-DBB6B16279DF}"/>
              </a:ext>
            </a:extLst>
          </p:cNvPr>
          <p:cNvSpPr txBox="1"/>
          <p:nvPr/>
        </p:nvSpPr>
        <p:spPr>
          <a:xfrm>
            <a:off x="11760200" y="15392400"/>
            <a:ext cx="1447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9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어림잡은 값</a:t>
            </a: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46F5E01E-037B-8E26-3328-9284C2071E65}"/>
              </a:ext>
            </a:extLst>
          </p:cNvPr>
          <p:cNvCxnSpPr/>
          <p:nvPr/>
        </p:nvCxnSpPr>
        <p:spPr>
          <a:xfrm>
            <a:off x="13335000" y="14554200"/>
            <a:ext cx="228600" cy="304800"/>
          </a:xfrm>
          <a:prstGeom prst="line">
            <a:avLst/>
          </a:prstGeom>
          <a:ln w="1778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47B88365-72A7-65FA-0FF7-CD655429DAB9}"/>
              </a:ext>
            </a:extLst>
          </p:cNvPr>
          <p:cNvCxnSpPr/>
          <p:nvPr/>
        </p:nvCxnSpPr>
        <p:spPr>
          <a:xfrm flipV="1">
            <a:off x="13335000" y="15036800"/>
            <a:ext cx="228600" cy="304800"/>
          </a:xfrm>
          <a:prstGeom prst="line">
            <a:avLst/>
          </a:prstGeom>
          <a:ln w="17780">
            <a:solidFill>
              <a:srgbClr val="3E7CB4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04C3FE01-1ADF-137E-C810-226685FE422B}"/>
              </a:ext>
            </a:extLst>
          </p:cNvPr>
          <p:cNvSpPr/>
          <p:nvPr/>
        </p:nvSpPr>
        <p:spPr>
          <a:xfrm>
            <a:off x="13563600" y="14605000"/>
            <a:ext cx="863600" cy="6858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66AAB76-5EBC-CCCA-9DE1-219E8A5A92B4}"/>
              </a:ext>
            </a:extLst>
          </p:cNvPr>
          <p:cNvSpPr txBox="1"/>
          <p:nvPr/>
        </p:nvSpPr>
        <p:spPr>
          <a:xfrm>
            <a:off x="13563600" y="14605000"/>
            <a:ext cx="863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 sz="12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비교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F9FAAFE-38B6-9845-168F-E5D4D617680D}"/>
              </a:ext>
            </a:extLst>
          </p:cNvPr>
          <p:cNvSpPr/>
          <p:nvPr/>
        </p:nvSpPr>
        <p:spPr>
          <a:xfrm>
            <a:off x="5359400" y="15748000"/>
            <a:ext cx="4445000" cy="3810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AC4527F-5F76-8FB6-A31E-22E995BDFF3E}"/>
              </a:ext>
            </a:extLst>
          </p:cNvPr>
          <p:cNvSpPr txBox="1"/>
          <p:nvPr/>
        </p:nvSpPr>
        <p:spPr>
          <a:xfrm>
            <a:off x="5537200" y="15748000"/>
            <a:ext cx="408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 ∉ 분석 결과   →   안전성 공격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5F10BCD6-D821-24FA-3F0D-55EB59F4A57D}"/>
              </a:ext>
            </a:extLst>
          </p:cNvPr>
          <p:cNvSpPr/>
          <p:nvPr/>
        </p:nvSpPr>
        <p:spPr>
          <a:xfrm>
            <a:off x="9982200" y="15748000"/>
            <a:ext cx="4445000" cy="381000"/>
          </a:xfrm>
          <a:prstGeom prst="rect">
            <a:avLst/>
          </a:prstGeom>
          <a:solidFill>
            <a:srgbClr val="E2E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5B9A00E-3224-2DBC-24FC-662331DA8C92}"/>
              </a:ext>
            </a:extLst>
          </p:cNvPr>
          <p:cNvSpPr txBox="1"/>
          <p:nvPr/>
        </p:nvSpPr>
        <p:spPr>
          <a:xfrm>
            <a:off x="10160000" y="15748000"/>
            <a:ext cx="4089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 결과 ⊋ 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{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구체값</a:t>
            </a:r>
            <a:r>
              <a:rPr lang="en-US" altLang="ko-KR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}   →   </a:t>
            </a:r>
            <a:r>
              <a:rPr lang="ko-KR" altLang="en-US" sz="11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공격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7D5CDAD-6769-3173-20E6-EC290AF1C343}"/>
              </a:ext>
            </a:extLst>
          </p:cNvPr>
          <p:cNvSpPr txBox="1"/>
          <p:nvPr/>
        </p:nvSpPr>
        <p:spPr>
          <a:xfrm>
            <a:off x="5359400" y="16256000"/>
            <a:ext cx="9067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정밀도 공격은 튜링 완전한 부분집합이기만 하면 반드시 존재한다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(Rice's Theorem).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안전성 공격은 버그를 찾는 일이라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언어 기능이 많을수록 유리하다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7CBC2E51-D8DA-5670-87B8-48F7B82A5132}"/>
              </a:ext>
            </a:extLst>
          </p:cNvPr>
          <p:cNvCxnSpPr/>
          <p:nvPr/>
        </p:nvCxnSpPr>
        <p:spPr>
          <a:xfrm>
            <a:off x="660400" y="17780000"/>
            <a:ext cx="13792200" cy="0"/>
          </a:xfrm>
          <a:prstGeom prst="line">
            <a:avLst/>
          </a:prstGeom>
          <a:ln w="3175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2D5E19F0-F9FD-FBC9-86C0-22FA7329B73F}"/>
              </a:ext>
            </a:extLst>
          </p:cNvPr>
          <p:cNvSpPr txBox="1"/>
          <p:nvPr/>
        </p:nvSpPr>
        <p:spPr>
          <a:xfrm>
            <a:off x="660400" y="17945100"/>
            <a:ext cx="533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2400" b="1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07</a:t>
            </a:r>
            <a:endParaRPr lang="ko-KR" altLang="en-US" sz="2400" b="1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B680F62-655D-5E5B-2E60-E2361784FE58}"/>
              </a:ext>
            </a:extLst>
          </p:cNvPr>
          <p:cNvSpPr txBox="1"/>
          <p:nvPr/>
        </p:nvSpPr>
        <p:spPr>
          <a:xfrm>
            <a:off x="1244600" y="17932400"/>
            <a:ext cx="132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9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정말 올바른 공격인가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2D273C5-5758-F236-1187-13D88A28F6F5}"/>
              </a:ext>
            </a:extLst>
          </p:cNvPr>
          <p:cNvSpPr txBox="1"/>
          <p:nvPr/>
        </p:nvSpPr>
        <p:spPr>
          <a:xfrm>
            <a:off x="660400" y="18415000"/>
            <a:ext cx="13792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3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공격이 성공했다고 말하려면</a:t>
            </a:r>
            <a:r>
              <a:rPr lang="en-US" altLang="ko-KR" sz="13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3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분석기가 전제하는 실행 의미와 우리가 </a:t>
            </a:r>
            <a:r>
              <a:rPr lang="en-US" altLang="ko-KR" sz="13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3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 준 실행 의미가 같아야 한다</a:t>
            </a:r>
            <a:r>
              <a:rPr lang="en-US" altLang="ko-KR" sz="1300" b="1">
                <a:solidFill>
                  <a:srgbClr val="121E2C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300" b="1">
              <a:solidFill>
                <a:srgbClr val="121E2C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F2178401-82BC-D893-7390-BE0805168741}"/>
              </a:ext>
            </a:extLst>
          </p:cNvPr>
          <p:cNvSpPr/>
          <p:nvPr/>
        </p:nvSpPr>
        <p:spPr>
          <a:xfrm>
            <a:off x="660400" y="18821400"/>
            <a:ext cx="4318000" cy="1066800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4CDFD4B-9EFD-FFAC-C9B3-8D6AD8D2061B}"/>
              </a:ext>
            </a:extLst>
          </p:cNvPr>
          <p:cNvSpPr txBox="1"/>
          <p:nvPr/>
        </p:nvSpPr>
        <p:spPr>
          <a:xfrm>
            <a:off x="889000" y="18923000"/>
            <a:ext cx="386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150" b="1">
                <a:solidFill>
                  <a:srgbClr val="FFFFFF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아무도 실행 의미를 엄밀히 적어두지 않았다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E3D3B54-2713-F3A1-60F7-456AB04C00EF}"/>
              </a:ext>
            </a:extLst>
          </p:cNvPr>
          <p:cNvSpPr txBox="1"/>
          <p:nvPr/>
        </p:nvSpPr>
        <p:spPr>
          <a:xfrm>
            <a:off x="889000" y="19177000"/>
            <a:ext cx="38608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r>
              <a:rPr lang="ko-KR" altLang="en-US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</a:t>
            </a:r>
            <a:r>
              <a:rPr lang="en-US" altLang="ko-KR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ISO </a:t>
            </a:r>
            <a:r>
              <a:rPr lang="ko-KR" altLang="en-US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표준은 자연어로 되어 있고</a:t>
            </a:r>
            <a:r>
              <a:rPr lang="en-US" altLang="ko-KR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CIL</a:t>
            </a:r>
            <a:r>
              <a:rPr lang="ko-KR" altLang="en-US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에도 엄밀한 실행 의미가 없다</a:t>
            </a:r>
            <a:r>
              <a:rPr lang="en-US" altLang="ko-KR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분석기 역시 </a:t>
            </a:r>
            <a:r>
              <a:rPr lang="en-US" altLang="ko-KR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sound in design</a:t>
            </a:r>
            <a:r>
              <a:rPr lang="ko-KR" altLang="en-US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이라고 말할 뿐 </a:t>
            </a:r>
            <a:r>
              <a:rPr lang="en-US" altLang="ko-KR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concrete semantics</a:t>
            </a:r>
            <a:r>
              <a:rPr lang="ko-KR" altLang="en-US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를 정의하지 않는다</a:t>
            </a:r>
            <a:r>
              <a:rPr lang="en-US" altLang="ko-KR" sz="1000">
                <a:solidFill>
                  <a:srgbClr val="E2ECF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>
              <a:solidFill>
                <a:srgbClr val="E2ECF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A6BD7DC-D5FB-44A9-1878-F1C0420E6D96}"/>
              </a:ext>
            </a:extLst>
          </p:cNvPr>
          <p:cNvSpPr txBox="1"/>
          <p:nvPr/>
        </p:nvSpPr>
        <p:spPr>
          <a:xfrm>
            <a:off x="660400" y="19989800"/>
            <a:ext cx="431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우리에게는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의 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Big-Step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실행 의미가 있다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비결정성이 남아 있으면 공격에 성공한 것처럼 보여도 사실은 비결정성 탓일 수 있으므로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하나씩 없앤다</a:t>
            </a:r>
            <a:r>
              <a:rPr lang="en-US" altLang="ko-KR" sz="105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.</a:t>
            </a:r>
            <a:endParaRPr lang="ko-KR" altLang="en-US" sz="105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5EEDCEBA-72BE-B27D-8AAF-F9D2C785B93E}"/>
              </a:ext>
            </a:extLst>
          </p:cNvPr>
          <p:cNvCxnSpPr/>
          <p:nvPr/>
        </p:nvCxnSpPr>
        <p:spPr>
          <a:xfrm>
            <a:off x="5232400" y="18821400"/>
            <a:ext cx="9220200" cy="0"/>
          </a:xfrm>
          <a:prstGeom prst="line">
            <a:avLst/>
          </a:prstGeom>
          <a:ln w="2032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5339E1A9-B5B6-FF2B-A56C-9CD00AE66A6D}"/>
              </a:ext>
            </a:extLst>
          </p:cNvPr>
          <p:cNvSpPr txBox="1"/>
          <p:nvPr/>
        </p:nvSpPr>
        <p:spPr>
          <a:xfrm>
            <a:off x="5283200" y="188722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 spc="1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C702554-F491-2F11-F3F8-4D3D663E9373}"/>
              </a:ext>
            </a:extLst>
          </p:cNvPr>
          <p:cNvSpPr txBox="1"/>
          <p:nvPr/>
        </p:nvSpPr>
        <p:spPr>
          <a:xfrm>
            <a:off x="7264400" y="18872200"/>
            <a:ext cx="2362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 spc="1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</a:t>
            </a:r>
            <a:endParaRPr lang="ko-KR" altLang="en-US" sz="900" b="1" spc="100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7460-4D46-2000-324A-B798F4687D5C}"/>
              </a:ext>
            </a:extLst>
          </p:cNvPr>
          <p:cNvSpPr txBox="1"/>
          <p:nvPr/>
        </p:nvSpPr>
        <p:spPr>
          <a:xfrm>
            <a:off x="9626600" y="18872200"/>
            <a:ext cx="226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 spc="1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</a:t>
            </a:r>
            <a:endParaRPr lang="ko-KR" altLang="en-US" sz="900" b="1" spc="100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37D3C97-CAEF-CF98-9152-060615470031}"/>
              </a:ext>
            </a:extLst>
          </p:cNvPr>
          <p:cNvSpPr txBox="1"/>
          <p:nvPr/>
        </p:nvSpPr>
        <p:spPr>
          <a:xfrm>
            <a:off x="11887200" y="18872200"/>
            <a:ext cx="261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 spc="100">
                <a:solidFill>
                  <a:srgbClr val="3E7CB4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CIL--</a:t>
            </a:r>
            <a:endParaRPr lang="ko-KR" altLang="en-US" sz="900" b="1" spc="100">
              <a:solidFill>
                <a:srgbClr val="3E7CB4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9DB3B6F1-CC24-C83D-7425-A81C2778CC10}"/>
              </a:ext>
            </a:extLst>
          </p:cNvPr>
          <p:cNvCxnSpPr/>
          <p:nvPr/>
        </p:nvCxnSpPr>
        <p:spPr>
          <a:xfrm>
            <a:off x="5232400" y="19088100"/>
            <a:ext cx="9220200" cy="0"/>
          </a:xfrm>
          <a:prstGeom prst="line">
            <a:avLst/>
          </a:prstGeom>
          <a:ln w="12700">
            <a:solidFill>
              <a:srgbClr val="00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4381D850-6279-B541-3339-E989383FA217}"/>
              </a:ext>
            </a:extLst>
          </p:cNvPr>
          <p:cNvSpPr txBox="1"/>
          <p:nvPr/>
        </p:nvSpPr>
        <p:spPr>
          <a:xfrm>
            <a:off x="5283200" y="191135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f() + g()</a:t>
            </a:r>
            <a:endParaRPr lang="ko-KR" altLang="en-US" sz="900" b="1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96172DE-8A39-4FCF-CBD7-3AE5940C19BC}"/>
              </a:ext>
            </a:extLst>
          </p:cNvPr>
          <p:cNvSpPr txBox="1"/>
          <p:nvPr/>
        </p:nvSpPr>
        <p:spPr>
          <a:xfrm>
            <a:off x="7264400" y="19113500"/>
            <a:ext cx="2362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계산 순서가 정해지지 않음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5BDFAC7-33F1-FCD9-FA4B-0FF97F1399F9}"/>
              </a:ext>
            </a:extLst>
          </p:cNvPr>
          <p:cNvSpPr txBox="1"/>
          <p:nvPr/>
        </p:nvSpPr>
        <p:spPr>
          <a:xfrm>
            <a:off x="9626600" y="19113500"/>
            <a:ext cx="226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호출이 식에 들어가지 않음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C348824-D5B4-A7E3-CB79-3680CF3C33E1}"/>
              </a:ext>
            </a:extLst>
          </p:cNvPr>
          <p:cNvSpPr txBox="1"/>
          <p:nvPr/>
        </p:nvSpPr>
        <p:spPr>
          <a:xfrm>
            <a:off x="11887200" y="19113500"/>
            <a:ext cx="261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없앰</a:t>
            </a:r>
          </a:p>
        </p:txBody>
      </p: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7DF79833-3AB6-7204-4EE8-3F6D811FE766}"/>
              </a:ext>
            </a:extLst>
          </p:cNvPr>
          <p:cNvCxnSpPr/>
          <p:nvPr/>
        </p:nvCxnSpPr>
        <p:spPr>
          <a:xfrm>
            <a:off x="5232400" y="19329400"/>
            <a:ext cx="9220200" cy="0"/>
          </a:xfrm>
          <a:prstGeom prst="line">
            <a:avLst/>
          </a:prstGeom>
          <a:ln w="9525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BFBA9D4B-D3F1-0AC6-D722-F11A7ADDF748}"/>
              </a:ext>
            </a:extLst>
          </p:cNvPr>
          <p:cNvSpPr txBox="1"/>
          <p:nvPr/>
        </p:nvSpPr>
        <p:spPr>
          <a:xfrm>
            <a:off x="5283200" y="193294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 = i++ + 1;</a:t>
            </a:r>
            <a:endParaRPr lang="ko-KR" altLang="en-US" sz="900" b="1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60E84F4-0EB6-2B40-84D3-B81FFAA7B4B8}"/>
              </a:ext>
            </a:extLst>
          </p:cNvPr>
          <p:cNvSpPr txBox="1"/>
          <p:nvPr/>
        </p:nvSpPr>
        <p:spPr>
          <a:xfrm>
            <a:off x="7264400" y="19329400"/>
            <a:ext cx="2362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undefined behavior</a:t>
            </a:r>
            <a:endParaRPr lang="ko-KR" altLang="en-US" sz="9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5380B51-2FEE-09B0-7ADC-88C4760F5C1E}"/>
              </a:ext>
            </a:extLst>
          </p:cNvPr>
          <p:cNvSpPr txBox="1"/>
          <p:nvPr/>
        </p:nvSpPr>
        <p:spPr>
          <a:xfrm>
            <a:off x="9626600" y="19329400"/>
            <a:ext cx="226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i++ </a:t>
            </a: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문법이 없음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5F47B42-2C95-E574-BE09-D1F9AD473FCE}"/>
              </a:ext>
            </a:extLst>
          </p:cNvPr>
          <p:cNvSpPr txBox="1"/>
          <p:nvPr/>
        </p:nvSpPr>
        <p:spPr>
          <a:xfrm>
            <a:off x="11887200" y="19329400"/>
            <a:ext cx="261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없앰</a:t>
            </a:r>
          </a:p>
        </p:txBody>
      </p: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F99B19B1-EAB3-DFE6-098C-9561210DADBD}"/>
              </a:ext>
            </a:extLst>
          </p:cNvPr>
          <p:cNvCxnSpPr/>
          <p:nvPr/>
        </p:nvCxnSpPr>
        <p:spPr>
          <a:xfrm>
            <a:off x="5232400" y="19545300"/>
            <a:ext cx="9220200" cy="0"/>
          </a:xfrm>
          <a:prstGeom prst="line">
            <a:avLst/>
          </a:prstGeom>
          <a:ln w="9525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6184BB3C-37DB-DE12-A6EB-95B72747BFB8}"/>
              </a:ext>
            </a:extLst>
          </p:cNvPr>
          <p:cNvSpPr txBox="1"/>
          <p:nvPr/>
        </p:nvSpPr>
        <p:spPr>
          <a:xfrm>
            <a:off x="5283200" y="195453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int x; use(x);</a:t>
            </a:r>
            <a:endParaRPr lang="ko-KR" altLang="en-US" sz="900" b="1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DFCAC4F-2853-FD8A-DF4F-AF236FA5A00F}"/>
              </a:ext>
            </a:extLst>
          </p:cNvPr>
          <p:cNvSpPr txBox="1"/>
          <p:nvPr/>
        </p:nvSpPr>
        <p:spPr>
          <a:xfrm>
            <a:off x="7264400" y="19545300"/>
            <a:ext cx="2362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indeterminate value</a:t>
            </a:r>
            <a:endParaRPr lang="ko-KR" altLang="en-US" sz="9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41B01E3-963D-F0E8-25AB-0BE65F254688}"/>
              </a:ext>
            </a:extLst>
          </p:cNvPr>
          <p:cNvSpPr txBox="1"/>
          <p:nvPr/>
        </p:nvSpPr>
        <p:spPr>
          <a:xfrm>
            <a:off x="9626600" y="19545300"/>
            <a:ext cx="226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indeterminate value</a:t>
            </a:r>
            <a:endParaRPr lang="ko-KR" altLang="en-US" sz="9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3B5BB64-3755-57CF-5681-964662231B11}"/>
              </a:ext>
            </a:extLst>
          </p:cNvPr>
          <p:cNvSpPr txBox="1"/>
          <p:nvPr/>
        </p:nvSpPr>
        <p:spPr>
          <a:xfrm>
            <a:off x="11887200" y="19545300"/>
            <a:ext cx="261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합성 시 만들지 않음</a:t>
            </a:r>
          </a:p>
        </p:txBody>
      </p: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ADDD551C-BDDF-3E2B-2CB6-34808666DC8F}"/>
              </a:ext>
            </a:extLst>
          </p:cNvPr>
          <p:cNvCxnSpPr/>
          <p:nvPr/>
        </p:nvCxnSpPr>
        <p:spPr>
          <a:xfrm>
            <a:off x="5232400" y="19761200"/>
            <a:ext cx="9220200" cy="0"/>
          </a:xfrm>
          <a:prstGeom prst="line">
            <a:avLst/>
          </a:prstGeom>
          <a:ln w="9525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9175B1A0-DF00-9F2E-91CE-A43D15887E92}"/>
              </a:ext>
            </a:extLst>
          </p:cNvPr>
          <p:cNvSpPr txBox="1"/>
          <p:nvPr/>
        </p:nvSpPr>
        <p:spPr>
          <a:xfrm>
            <a:off x="5283200" y="197612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"a" == "a"</a:t>
            </a:r>
            <a:endParaRPr lang="ko-KR" altLang="en-US" sz="900" b="1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E077FDC-D9D8-D78B-6B32-D401D7491F83}"/>
              </a:ext>
            </a:extLst>
          </p:cNvPr>
          <p:cNvSpPr txBox="1"/>
          <p:nvPr/>
        </p:nvSpPr>
        <p:spPr>
          <a:xfrm>
            <a:off x="7264400" y="19761200"/>
            <a:ext cx="2362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true / false </a:t>
            </a: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모두 가능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C5588D2-C365-52F0-F467-23758BF7D321}"/>
              </a:ext>
            </a:extLst>
          </p:cNvPr>
          <p:cNvSpPr txBox="1"/>
          <p:nvPr/>
        </p:nvSpPr>
        <p:spPr>
          <a:xfrm>
            <a:off x="9626600" y="19761200"/>
            <a:ext cx="226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여전히 비결정적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C5B3AEE-1AAE-ABBE-05A9-F470328EC7FC}"/>
              </a:ext>
            </a:extLst>
          </p:cNvPr>
          <p:cNvSpPr txBox="1"/>
          <p:nvPr/>
        </p:nvSpPr>
        <p:spPr>
          <a:xfrm>
            <a:off x="11887200" y="19761200"/>
            <a:ext cx="261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문자열이 없음</a:t>
            </a: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ED1263E7-64F8-C425-14BF-DB19A41AC666}"/>
              </a:ext>
            </a:extLst>
          </p:cNvPr>
          <p:cNvCxnSpPr/>
          <p:nvPr/>
        </p:nvCxnSpPr>
        <p:spPr>
          <a:xfrm>
            <a:off x="5232400" y="19977100"/>
            <a:ext cx="9220200" cy="0"/>
          </a:xfrm>
          <a:prstGeom prst="line">
            <a:avLst/>
          </a:prstGeom>
          <a:ln w="9525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072B57A1-11B1-B68E-6CE9-945B926EE3A6}"/>
              </a:ext>
            </a:extLst>
          </p:cNvPr>
          <p:cNvSpPr txBox="1"/>
          <p:nvPr/>
        </p:nvSpPr>
        <p:spPr>
          <a:xfrm>
            <a:off x="5283200" y="199771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char c = -1;</a:t>
            </a:r>
            <a:endParaRPr lang="ko-KR" altLang="en-US" sz="900" b="1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65D0154-F223-C1AB-287F-156C21344FFA}"/>
              </a:ext>
            </a:extLst>
          </p:cNvPr>
          <p:cNvSpPr txBox="1"/>
          <p:nvPr/>
        </p:nvSpPr>
        <p:spPr>
          <a:xfrm>
            <a:off x="7264400" y="19977100"/>
            <a:ext cx="2362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-1 </a:t>
            </a: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또는 </a:t>
            </a: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255</a:t>
            </a:r>
            <a:endParaRPr lang="ko-KR" altLang="en-US" sz="9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1697DB-2C46-ED95-F90E-3E180E78FCE1}"/>
              </a:ext>
            </a:extLst>
          </p:cNvPr>
          <p:cNvSpPr txBox="1"/>
          <p:nvPr/>
        </p:nvSpPr>
        <p:spPr>
          <a:xfrm>
            <a:off x="9626600" y="19977100"/>
            <a:ext cx="226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여전히 비결정적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DAF804A-B129-DEFF-753C-910133111990}"/>
              </a:ext>
            </a:extLst>
          </p:cNvPr>
          <p:cNvSpPr txBox="1"/>
          <p:nvPr/>
        </p:nvSpPr>
        <p:spPr>
          <a:xfrm>
            <a:off x="11887200" y="19977100"/>
            <a:ext cx="261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char</a:t>
            </a:r>
            <a:r>
              <a:rPr lang="ko-KR" altLang="en-US" sz="9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가 없음</a:t>
            </a:r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D8E23328-46B0-5912-A563-34B34DA308EA}"/>
              </a:ext>
            </a:extLst>
          </p:cNvPr>
          <p:cNvCxnSpPr/>
          <p:nvPr/>
        </p:nvCxnSpPr>
        <p:spPr>
          <a:xfrm>
            <a:off x="5232400" y="20193000"/>
            <a:ext cx="9220200" cy="0"/>
          </a:xfrm>
          <a:prstGeom prst="line">
            <a:avLst/>
          </a:prstGeom>
          <a:ln w="9525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25B4DDA7-8646-935D-9402-933906B51668}"/>
              </a:ext>
            </a:extLst>
          </p:cNvPr>
          <p:cNvSpPr txBox="1"/>
          <p:nvPr/>
        </p:nvSpPr>
        <p:spPr>
          <a:xfrm>
            <a:off x="5283200" y="20193000"/>
            <a:ext cx="1981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 b="1">
                <a:solidFill>
                  <a:srgbClr val="121E2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malloc(n)</a:t>
            </a:r>
            <a:endParaRPr lang="ko-KR" altLang="en-US" sz="900" b="1">
              <a:solidFill>
                <a:srgbClr val="121E2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6CB9890-6EAF-44AC-F97C-79F5A2828CDC}"/>
              </a:ext>
            </a:extLst>
          </p:cNvPr>
          <p:cNvSpPr txBox="1"/>
          <p:nvPr/>
        </p:nvSpPr>
        <p:spPr>
          <a:xfrm>
            <a:off x="7264400" y="20193000"/>
            <a:ext cx="2362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주소가 비결정적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B5B1874-6FF1-85BB-E1C9-248ED2BC4A65}"/>
              </a:ext>
            </a:extLst>
          </p:cNvPr>
          <p:cNvSpPr txBox="1"/>
          <p:nvPr/>
        </p:nvSpPr>
        <p:spPr>
          <a:xfrm>
            <a:off x="9626600" y="20193000"/>
            <a:ext cx="2260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ko-KR" sz="900">
                <a:solidFill>
                  <a:srgbClr val="425466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fresh object</a:t>
            </a:r>
            <a:endParaRPr lang="ko-KR" altLang="en-US" sz="900">
              <a:solidFill>
                <a:srgbClr val="425466"/>
              </a:solidFill>
              <a:latin typeface="Aptos" panose="020B00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4A52B335-9120-B266-EE63-062A0782DCA8}"/>
              </a:ext>
            </a:extLst>
          </p:cNvPr>
          <p:cNvSpPr txBox="1"/>
          <p:nvPr/>
        </p:nvSpPr>
        <p:spPr>
          <a:xfrm>
            <a:off x="11887200" y="20193000"/>
            <a:ext cx="2616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ko-KR" altLang="en-US" sz="900" b="1">
                <a:solidFill>
                  <a:srgbClr val="003870"/>
                </a:solidFill>
                <a:latin typeface="Aptos" panose="020B0004020202020204" pitchFamily="34" charset="0"/>
                <a:ea typeface="맑은 고딕" panose="020B0503020000020004" pitchFamily="50" charset="-127"/>
              </a:rPr>
              <a:t>포인터가 없음</a:t>
            </a:r>
          </a:p>
        </p:txBody>
      </p:sp>
      <p:cxnSp>
        <p:nvCxnSpPr>
          <p:cNvPr id="202" name="직선 연결선 201">
            <a:extLst>
              <a:ext uri="{FF2B5EF4-FFF2-40B4-BE49-F238E27FC236}">
                <a16:creationId xmlns:a16="http://schemas.microsoft.com/office/drawing/2014/main" id="{712F7BFC-5BAA-60AD-7C5E-F3E68BEF4EFE}"/>
              </a:ext>
            </a:extLst>
          </p:cNvPr>
          <p:cNvCxnSpPr/>
          <p:nvPr/>
        </p:nvCxnSpPr>
        <p:spPr>
          <a:xfrm>
            <a:off x="5232400" y="20408900"/>
            <a:ext cx="9220200" cy="0"/>
          </a:xfrm>
          <a:prstGeom prst="line">
            <a:avLst/>
          </a:prstGeom>
          <a:ln w="9525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8D68D233-AC6A-9999-6810-60A2D918933E}"/>
              </a:ext>
            </a:extLst>
          </p:cNvPr>
          <p:cNvSpPr/>
          <p:nvPr/>
        </p:nvSpPr>
        <p:spPr>
          <a:xfrm>
            <a:off x="0" y="20523200"/>
            <a:ext cx="15119350" cy="406400"/>
          </a:xfrm>
          <a:prstGeom prst="rect">
            <a:avLst/>
          </a:prstGeom>
          <a:solidFill>
            <a:srgbClr val="F1F6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E9A3C2B8-6789-B804-38E5-D5E540B87BB3}"/>
              </a:ext>
            </a:extLst>
          </p:cNvPr>
          <p:cNvCxnSpPr/>
          <p:nvPr/>
        </p:nvCxnSpPr>
        <p:spPr>
          <a:xfrm>
            <a:off x="0" y="20523200"/>
            <a:ext cx="15119350" cy="0"/>
          </a:xfrm>
          <a:prstGeom prst="line">
            <a:avLst/>
          </a:prstGeom>
          <a:ln w="12700">
            <a:solidFill>
              <a:srgbClr val="C6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0D1BB1D4-AE38-008A-18D9-04837DAE08A5}"/>
              </a:ext>
            </a:extLst>
          </p:cNvPr>
          <p:cNvSpPr/>
          <p:nvPr/>
        </p:nvSpPr>
        <p:spPr>
          <a:xfrm>
            <a:off x="0" y="20929600"/>
            <a:ext cx="15119350" cy="454025"/>
          </a:xfrm>
          <a:prstGeom prst="rect">
            <a:avLst/>
          </a:prstGeom>
          <a:solidFill>
            <a:srgbClr val="0038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23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</TotalTime>
  <Words>990</Words>
  <Application>Microsoft Office PowerPoint</Application>
  <PresentationFormat>사용자 지정</PresentationFormat>
  <Paragraphs>126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JungWonJun</dc:creator>
  <cp:lastModifiedBy>JungWonJun</cp:lastModifiedBy>
  <cp:revision>3</cp:revision>
  <dcterms:created xsi:type="dcterms:W3CDTF">2026-08-20T07:14:27Z</dcterms:created>
  <dcterms:modified xsi:type="dcterms:W3CDTF">2026-08-20T08:50:22Z</dcterms:modified>
</cp:coreProperties>
</file>