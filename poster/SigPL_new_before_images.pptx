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8C0D0"/>
    <a:srgbClr val="EBCB8B"/>
    <a:srgbClr val="7C8A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>
        <p:scale>
          <a:sx n="50" d="100"/>
          <a:sy n="50" d="100"/>
        </p:scale>
        <p:origin x="36" y="-45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7"/>
            <a:ext cx="18176082" cy="10540259"/>
          </a:xfrm>
        </p:spPr>
        <p:txBody>
          <a:bodyPr anchor="b"/>
          <a:lstStyle>
            <a:lvl1pPr algn="ctr">
              <a:defRPr sz="992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5" y="15901498"/>
            <a:ext cx="16037719" cy="7309500"/>
          </a:xfrm>
        </p:spPr>
        <p:txBody>
          <a:bodyPr/>
          <a:lstStyle>
            <a:lvl1pPr marL="0" indent="0" algn="ctr">
              <a:buNone/>
              <a:defRPr sz="3968"/>
            </a:lvl1pPr>
            <a:lvl2pPr marL="755980" indent="0" algn="ctr">
              <a:buNone/>
              <a:defRPr sz="3307"/>
            </a:lvl2pPr>
            <a:lvl3pPr marL="1511960" indent="0" algn="ctr">
              <a:buNone/>
              <a:defRPr sz="2976"/>
            </a:lvl3pPr>
            <a:lvl4pPr marL="2267941" indent="0" algn="ctr">
              <a:buNone/>
              <a:defRPr sz="2646"/>
            </a:lvl4pPr>
            <a:lvl5pPr marL="3023921" indent="0" algn="ctr">
              <a:buNone/>
              <a:defRPr sz="2646"/>
            </a:lvl5pPr>
            <a:lvl6pPr marL="3779901" indent="0" algn="ctr">
              <a:buNone/>
              <a:defRPr sz="2646"/>
            </a:lvl6pPr>
            <a:lvl7pPr marL="4535881" indent="0" algn="ctr">
              <a:buNone/>
              <a:defRPr sz="2646"/>
            </a:lvl7pPr>
            <a:lvl8pPr marL="5291861" indent="0" algn="ctr">
              <a:buNone/>
              <a:defRPr sz="2646"/>
            </a:lvl8pPr>
            <a:lvl9pPr marL="6047842" indent="0" algn="ctr">
              <a:buNone/>
              <a:defRPr sz="26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2326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0858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90" y="7547788"/>
            <a:ext cx="18443376" cy="12593645"/>
          </a:xfrm>
        </p:spPr>
        <p:txBody>
          <a:bodyPr anchor="b"/>
          <a:lstStyle>
            <a:lvl1pPr>
              <a:defRPr sz="992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90" y="20260573"/>
            <a:ext cx="18443376" cy="6622700"/>
          </a:xfrm>
        </p:spPr>
        <p:txBody>
          <a:bodyPr/>
          <a:lstStyle>
            <a:lvl1pPr marL="0" indent="0">
              <a:buNone/>
              <a:defRPr sz="3968">
                <a:solidFill>
                  <a:schemeClr val="tx1">
                    <a:tint val="82000"/>
                  </a:schemeClr>
                </a:solidFill>
              </a:defRPr>
            </a:lvl1pPr>
            <a:lvl2pPr marL="755980" indent="0">
              <a:buNone/>
              <a:defRPr sz="3307">
                <a:solidFill>
                  <a:schemeClr val="tx1">
                    <a:tint val="82000"/>
                  </a:schemeClr>
                </a:solidFill>
              </a:defRPr>
            </a:lvl2pPr>
            <a:lvl3pPr marL="1511960" indent="0">
              <a:buNone/>
              <a:defRPr sz="2976">
                <a:solidFill>
                  <a:schemeClr val="tx1">
                    <a:tint val="82000"/>
                  </a:schemeClr>
                </a:solidFill>
              </a:defRPr>
            </a:lvl3pPr>
            <a:lvl4pPr marL="226794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4pPr>
            <a:lvl5pPr marL="302392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5pPr>
            <a:lvl6pPr marL="377990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6pPr>
            <a:lvl7pPr marL="453588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7pPr>
            <a:lvl8pPr marL="529186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8pPr>
            <a:lvl9pPr marL="6047842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7615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5" y="8059374"/>
            <a:ext cx="9088041" cy="1920934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1" y="8059374"/>
            <a:ext cx="9088041" cy="1920934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1316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11" y="1611883"/>
            <a:ext cx="18443376" cy="585180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3" y="7421637"/>
            <a:ext cx="9046275" cy="3637228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3" y="11058862"/>
            <a:ext cx="9046275" cy="1626592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2" y="7421637"/>
            <a:ext cx="9090826" cy="3637228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2" y="11058862"/>
            <a:ext cx="9090826" cy="1626592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9663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5858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6048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10" y="2018350"/>
            <a:ext cx="6896776" cy="7064217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7" y="4359076"/>
            <a:ext cx="10825460" cy="21515025"/>
          </a:xfrm>
        </p:spPr>
        <p:txBody>
          <a:bodyPr/>
          <a:lstStyle>
            <a:lvl1pPr>
              <a:defRPr sz="5291"/>
            </a:lvl1pPr>
            <a:lvl2pPr>
              <a:defRPr sz="4630"/>
            </a:lvl2pPr>
            <a:lvl3pPr>
              <a:defRPr sz="3968"/>
            </a:lvl3pPr>
            <a:lvl4pPr>
              <a:defRPr sz="3307"/>
            </a:lvl4pPr>
            <a:lvl5pPr>
              <a:defRPr sz="3307"/>
            </a:lvl5pPr>
            <a:lvl6pPr>
              <a:defRPr sz="3307"/>
            </a:lvl6pPr>
            <a:lvl7pPr>
              <a:defRPr sz="3307"/>
            </a:lvl7pPr>
            <a:lvl8pPr>
              <a:defRPr sz="3307"/>
            </a:lvl8pPr>
            <a:lvl9pPr>
              <a:defRPr sz="3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10" y="9082567"/>
            <a:ext cx="6896776" cy="1682657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157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10" y="2018350"/>
            <a:ext cx="6896776" cy="7064217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7" y="4359076"/>
            <a:ext cx="10825460" cy="21515025"/>
          </a:xfrm>
        </p:spPr>
        <p:txBody>
          <a:bodyPr anchor="t"/>
          <a:lstStyle>
            <a:lvl1pPr marL="0" indent="0">
              <a:buNone/>
              <a:defRPr sz="5291"/>
            </a:lvl1pPr>
            <a:lvl2pPr marL="755980" indent="0">
              <a:buNone/>
              <a:defRPr sz="4630"/>
            </a:lvl2pPr>
            <a:lvl3pPr marL="1511960" indent="0">
              <a:buNone/>
              <a:defRPr sz="3968"/>
            </a:lvl3pPr>
            <a:lvl4pPr marL="2267941" indent="0">
              <a:buNone/>
              <a:defRPr sz="3307"/>
            </a:lvl4pPr>
            <a:lvl5pPr marL="3023921" indent="0">
              <a:buNone/>
              <a:defRPr sz="3307"/>
            </a:lvl5pPr>
            <a:lvl6pPr marL="3779901" indent="0">
              <a:buNone/>
              <a:defRPr sz="3307"/>
            </a:lvl6pPr>
            <a:lvl7pPr marL="4535881" indent="0">
              <a:buNone/>
              <a:defRPr sz="3307"/>
            </a:lvl7pPr>
            <a:lvl8pPr marL="5291861" indent="0">
              <a:buNone/>
              <a:defRPr sz="3307"/>
            </a:lvl8pPr>
            <a:lvl9pPr marL="6047842" indent="0">
              <a:buNone/>
              <a:defRPr sz="3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10" y="9082567"/>
            <a:ext cx="6896776" cy="1682657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7010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0834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8" cy="256568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2101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6" y="1611883"/>
            <a:ext cx="18443376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6" y="8059374"/>
            <a:ext cx="18443376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65E9ED-F255-485F-A6F0-6D5D0758477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7" y="28060644"/>
            <a:ext cx="7216974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580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511960" rtl="0" eaLnBrk="1" latinLnBrk="1" hangingPunct="1">
        <a:lnSpc>
          <a:spcPct val="90000"/>
        </a:lnSpc>
        <a:spcBef>
          <a:spcPct val="0"/>
        </a:spcBef>
        <a:buNone/>
        <a:defRPr sz="72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990" indent="-377990" algn="l" defTabSz="1511960" rtl="0" eaLnBrk="1" latinLnBrk="1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4630" kern="1200">
          <a:solidFill>
            <a:schemeClr val="tx1"/>
          </a:solidFill>
          <a:latin typeface="+mn-lt"/>
          <a:ea typeface="+mn-ea"/>
          <a:cs typeface="+mn-cs"/>
        </a:defRPr>
      </a:lvl1pPr>
      <a:lvl2pPr marL="1133970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1889951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3pPr>
      <a:lvl4pPr marL="2645931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401911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4157891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913871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669852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425832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55980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511960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3pPr>
      <a:lvl4pPr marL="2267941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023921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3779901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535881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291861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047842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955297DD-2AF7-23A0-CD3C-54DCECCE79B2}"/>
              </a:ext>
            </a:extLst>
          </p:cNvPr>
          <p:cNvSpPr>
            <a:spLocks/>
          </p:cNvSpPr>
          <p:nvPr/>
        </p:nvSpPr>
        <p:spPr>
          <a:xfrm>
            <a:off x="0" y="0"/>
            <a:ext cx="21384000" cy="3524333"/>
          </a:xfrm>
          <a:prstGeom prst="rect">
            <a:avLst/>
          </a:prstGeom>
          <a:solidFill>
            <a:srgbClr val="00397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CB84A9C9-0AE1-EFD7-6D7A-4717E12E9F8A}"/>
              </a:ext>
            </a:extLst>
          </p:cNvPr>
          <p:cNvSpPr txBox="1">
            <a:spLocks/>
          </p:cNvSpPr>
          <p:nvPr/>
        </p:nvSpPr>
        <p:spPr>
          <a:xfrm>
            <a:off x="934034" y="467514"/>
            <a:ext cx="19506950" cy="28770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626" b="1" spc="424" dirty="0">
                <a:solidFill>
                  <a:srgbClr val="A9C6E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SIGPL </a:t>
            </a:r>
            <a:r>
              <a:rPr lang="ko-KR" altLang="en-US" sz="1626" b="1" spc="424" dirty="0">
                <a:solidFill>
                  <a:srgbClr val="A9C6E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여름학교 </a:t>
            </a:r>
            <a:r>
              <a:rPr lang="en-US" altLang="ko-KR" sz="1626" b="1" spc="424" dirty="0">
                <a:solidFill>
                  <a:srgbClr val="A9C6E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2026   ·   </a:t>
            </a:r>
            <a:r>
              <a:rPr lang="ko-KR" altLang="en-US" sz="1626" b="1" spc="424" dirty="0">
                <a:solidFill>
                  <a:srgbClr val="A9C6E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포스터 세션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F1D16C82-1BA7-B2A5-C6F6-8A4C92430B06}"/>
              </a:ext>
            </a:extLst>
          </p:cNvPr>
          <p:cNvSpPr txBox="1">
            <a:spLocks/>
          </p:cNvSpPr>
          <p:nvPr/>
        </p:nvSpPr>
        <p:spPr>
          <a:xfrm>
            <a:off x="1796220" y="995392"/>
            <a:ext cx="17782578" cy="161831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2000"/>
              </a:lnSpc>
            </a:pPr>
            <a:r>
              <a:rPr lang="ko-KR" altLang="en-US" sz="5375" b="1">
                <a:solidFill>
                  <a:srgbClr val="FFFFF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큰보폭</a:t>
            </a:r>
            <a:r>
              <a:rPr lang="en-US" altLang="ko-KR" sz="2000" b="1">
                <a:solidFill>
                  <a:srgbClr val="7C8A99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Big-Step</a:t>
            </a:r>
            <a:r>
              <a:rPr lang="en-US" altLang="ko-KR" sz="5375" b="1">
                <a:solidFill>
                  <a:srgbClr val="FFFFF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 </a:t>
            </a:r>
            <a:r>
              <a:rPr lang="ko-KR" altLang="en-US" sz="5375" b="1" dirty="0">
                <a:solidFill>
                  <a:srgbClr val="FFFFF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증명나무 합성을 통한 정적 분석기 공격</a:t>
            </a:r>
          </a:p>
        </p:txBody>
      </p:sp>
      <p:cxnSp>
        <p:nvCxnSpPr>
          <p:cNvPr id="209" name="직선 연결선 208">
            <a:extLst>
              <a:ext uri="{FF2B5EF4-FFF2-40B4-BE49-F238E27FC236}">
                <a16:creationId xmlns:a16="http://schemas.microsoft.com/office/drawing/2014/main" id="{E6A308BA-FC33-4A8E-7513-181506A1050C}"/>
              </a:ext>
            </a:extLst>
          </p:cNvPr>
          <p:cNvCxnSpPr>
            <a:cxnSpLocks/>
          </p:cNvCxnSpPr>
          <p:nvPr/>
        </p:nvCxnSpPr>
        <p:spPr>
          <a:xfrm>
            <a:off x="7423418" y="2823782"/>
            <a:ext cx="6526745" cy="0"/>
          </a:xfrm>
          <a:prstGeom prst="line">
            <a:avLst/>
          </a:prstGeom>
          <a:ln w="17962">
            <a:solidFill>
              <a:srgbClr val="A9C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" name="TextBox 209">
            <a:extLst>
              <a:ext uri="{FF2B5EF4-FFF2-40B4-BE49-F238E27FC236}">
                <a16:creationId xmlns:a16="http://schemas.microsoft.com/office/drawing/2014/main" id="{262BDD8A-64ED-FF24-0B62-2897C0A88038}"/>
              </a:ext>
            </a:extLst>
          </p:cNvPr>
          <p:cNvSpPr txBox="1">
            <a:spLocks/>
          </p:cNvSpPr>
          <p:nvPr/>
        </p:nvSpPr>
        <p:spPr>
          <a:xfrm>
            <a:off x="945530" y="2942408"/>
            <a:ext cx="19506950" cy="35962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768" dirty="0">
                <a:solidFill>
                  <a:srgbClr val="D6DEE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정원준     지도교수  이광근     서울대학교 프로그래밍 연구실 </a:t>
            </a:r>
            <a:r>
              <a:rPr lang="en-US" altLang="ko-KR" sz="1768" dirty="0">
                <a:solidFill>
                  <a:srgbClr val="D6DEE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ROPAS</a:t>
            </a:r>
            <a:endParaRPr lang="ko-KR" altLang="en-US" sz="1768" dirty="0">
              <a:solidFill>
                <a:srgbClr val="D6DEEB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CB698670-33F3-8B93-8E3E-0D66EC5A83E1}"/>
              </a:ext>
            </a:extLst>
          </p:cNvPr>
          <p:cNvSpPr txBox="1">
            <a:spLocks/>
          </p:cNvSpPr>
          <p:nvPr/>
        </p:nvSpPr>
        <p:spPr>
          <a:xfrm>
            <a:off x="934034" y="4207622"/>
            <a:ext cx="19506950" cy="79117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3536" b="1" dirty="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“프로그램을 먼저 합성하면</a:t>
            </a:r>
            <a:r>
              <a:rPr lang="en-US" altLang="ko-KR" sz="3536" b="1" dirty="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3536" b="1" dirty="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그 프로그램에 실행 의미가</a:t>
            </a:r>
            <a:r>
              <a:rPr lang="en-US" altLang="ko-KR" sz="3536" b="1" dirty="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 </a:t>
            </a:r>
            <a:r>
              <a:rPr lang="ko-KR" altLang="en-US" sz="3536" b="1" dirty="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무엇인지 알 수 없다</a:t>
            </a:r>
            <a:r>
              <a:rPr lang="en-US" altLang="ko-KR" sz="3536" b="1" dirty="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.”</a:t>
            </a:r>
            <a:endParaRPr lang="ko-KR" altLang="en-US" sz="3536" b="1" dirty="0">
              <a:solidFill>
                <a:srgbClr val="1A222B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7AE4F518-777E-5EA5-6D52-AA4DDD9A20A9}"/>
              </a:ext>
            </a:extLst>
          </p:cNvPr>
          <p:cNvSpPr txBox="1">
            <a:spLocks/>
          </p:cNvSpPr>
          <p:nvPr/>
        </p:nvSpPr>
        <p:spPr>
          <a:xfrm>
            <a:off x="934034" y="4984414"/>
            <a:ext cx="19506950" cy="3955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909" dirty="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Rice’s Theorem</a:t>
            </a:r>
            <a:endParaRPr lang="ko-KR" altLang="en-US" sz="1909" dirty="0">
              <a:solidFill>
                <a:srgbClr val="3E4A57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pic>
        <p:nvPicPr>
          <p:cNvPr id="402" name="그림 401">
            <a:extLst>
              <a:ext uri="{FF2B5EF4-FFF2-40B4-BE49-F238E27FC236}">
                <a16:creationId xmlns:a16="http://schemas.microsoft.com/office/drawing/2014/main" id="{51BB0DBC-35EB-9E06-C78C-7171F22E885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069" y="28050815"/>
            <a:ext cx="1113656" cy="1150803"/>
          </a:xfrm>
          <a:prstGeom prst="rect">
            <a:avLst/>
          </a:prstGeom>
        </p:spPr>
      </p:pic>
      <p:sp>
        <p:nvSpPr>
          <p:cNvPr id="403" name="TextBox 402">
            <a:extLst>
              <a:ext uri="{FF2B5EF4-FFF2-40B4-BE49-F238E27FC236}">
                <a16:creationId xmlns:a16="http://schemas.microsoft.com/office/drawing/2014/main" id="{23C342E0-45CC-BC02-837E-CD8FDCA25CA4}"/>
              </a:ext>
            </a:extLst>
          </p:cNvPr>
          <p:cNvSpPr txBox="1">
            <a:spLocks/>
          </p:cNvSpPr>
          <p:nvPr/>
        </p:nvSpPr>
        <p:spPr>
          <a:xfrm>
            <a:off x="3197272" y="28086779"/>
            <a:ext cx="3592440" cy="3955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2404" b="1" spc="424">
                <a:solidFill>
                  <a:srgbClr val="00397F"/>
                </a:solidFill>
                <a:latin typeface="Times New Roman" panose="02020603050405020304" pitchFamily="18" charset="0"/>
                <a:ea typeface="맑은 고딕" panose="020B0503020000020004" pitchFamily="50" charset="-127"/>
              </a:rPr>
              <a:t>SEOUL</a:t>
            </a:r>
            <a:endParaRPr lang="ko-KR" altLang="en-US" sz="2404" b="1" spc="424">
              <a:solidFill>
                <a:srgbClr val="00397F"/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29161D58-DE33-7546-2513-A02E3B0D01F8}"/>
              </a:ext>
            </a:extLst>
          </p:cNvPr>
          <p:cNvSpPr txBox="1">
            <a:spLocks/>
          </p:cNvSpPr>
          <p:nvPr/>
        </p:nvSpPr>
        <p:spPr>
          <a:xfrm>
            <a:off x="3197272" y="28518327"/>
            <a:ext cx="3592440" cy="26971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485" spc="339">
                <a:solidFill>
                  <a:srgbClr val="00397F"/>
                </a:solidFill>
                <a:latin typeface="Times New Roman" panose="02020603050405020304" pitchFamily="18" charset="0"/>
                <a:ea typeface="맑은 고딕" panose="020B0503020000020004" pitchFamily="50" charset="-127"/>
              </a:rPr>
              <a:t>NATIONAL</a:t>
            </a:r>
            <a:endParaRPr lang="ko-KR" altLang="en-US" sz="1485" spc="339">
              <a:solidFill>
                <a:srgbClr val="00397F"/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405" name="TextBox 404">
            <a:extLst>
              <a:ext uri="{FF2B5EF4-FFF2-40B4-BE49-F238E27FC236}">
                <a16:creationId xmlns:a16="http://schemas.microsoft.com/office/drawing/2014/main" id="{3B766AA2-B385-EAA9-F739-CF4E4E06FB7F}"/>
              </a:ext>
            </a:extLst>
          </p:cNvPr>
          <p:cNvSpPr txBox="1">
            <a:spLocks/>
          </p:cNvSpPr>
          <p:nvPr/>
        </p:nvSpPr>
        <p:spPr>
          <a:xfrm>
            <a:off x="3197272" y="28806031"/>
            <a:ext cx="3592440" cy="26971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485" spc="339">
                <a:solidFill>
                  <a:srgbClr val="00397F"/>
                </a:solidFill>
                <a:latin typeface="Times New Roman" panose="02020603050405020304" pitchFamily="18" charset="0"/>
                <a:ea typeface="맑은 고딕" panose="020B0503020000020004" pitchFamily="50" charset="-127"/>
              </a:rPr>
              <a:t>UNIVERSITY</a:t>
            </a:r>
            <a:endParaRPr lang="ko-KR" altLang="en-US" sz="1485" spc="339">
              <a:solidFill>
                <a:srgbClr val="00397F"/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407" name="그림 406">
            <a:extLst>
              <a:ext uri="{FF2B5EF4-FFF2-40B4-BE49-F238E27FC236}">
                <a16:creationId xmlns:a16="http://schemas.microsoft.com/office/drawing/2014/main" id="{3B453273-3204-9336-920E-203456C4CC7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2419" y="27978891"/>
            <a:ext cx="1149581" cy="1168784"/>
          </a:xfrm>
          <a:prstGeom prst="rect">
            <a:avLst/>
          </a:prstGeom>
        </p:spPr>
      </p:pic>
      <p:sp>
        <p:nvSpPr>
          <p:cNvPr id="408" name="TextBox 407">
            <a:extLst>
              <a:ext uri="{FF2B5EF4-FFF2-40B4-BE49-F238E27FC236}">
                <a16:creationId xmlns:a16="http://schemas.microsoft.com/office/drawing/2014/main" id="{77911B3E-09BA-5EC5-B16F-9376BB02E13B}"/>
              </a:ext>
            </a:extLst>
          </p:cNvPr>
          <p:cNvSpPr txBox="1">
            <a:spLocks/>
          </p:cNvSpPr>
          <p:nvPr/>
        </p:nvSpPr>
        <p:spPr>
          <a:xfrm>
            <a:off x="7422879" y="29237580"/>
            <a:ext cx="5388660" cy="25173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202">
                <a:solidFill>
                  <a:srgbClr val="7C8A99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한국정보과학회 프로그래밍언어연구회</a:t>
            </a:r>
          </a:p>
        </p:txBody>
      </p:sp>
      <p:pic>
        <p:nvPicPr>
          <p:cNvPr id="410" name="그림 409">
            <a:extLst>
              <a:ext uri="{FF2B5EF4-FFF2-40B4-BE49-F238E27FC236}">
                <a16:creationId xmlns:a16="http://schemas.microsoft.com/office/drawing/2014/main" id="{B4FEA6C0-BDDF-B2DC-685F-0A2798A3C09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8586" y="28050815"/>
            <a:ext cx="1113656" cy="1114840"/>
          </a:xfrm>
          <a:prstGeom prst="rect">
            <a:avLst/>
          </a:prstGeom>
        </p:spPr>
      </p:pic>
      <p:sp>
        <p:nvSpPr>
          <p:cNvPr id="411" name="TextBox 410">
            <a:extLst>
              <a:ext uri="{FF2B5EF4-FFF2-40B4-BE49-F238E27FC236}">
                <a16:creationId xmlns:a16="http://schemas.microsoft.com/office/drawing/2014/main" id="{E18A5D3A-130B-4E63-804A-32DCFCA0756B}"/>
              </a:ext>
            </a:extLst>
          </p:cNvPr>
          <p:cNvSpPr txBox="1">
            <a:spLocks/>
          </p:cNvSpPr>
          <p:nvPr/>
        </p:nvSpPr>
        <p:spPr>
          <a:xfrm>
            <a:off x="17207788" y="28050815"/>
            <a:ext cx="3592440" cy="3955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2192" b="1">
                <a:solidFill>
                  <a:srgbClr val="791680"/>
                </a:solidFill>
                <a:latin typeface="Times New Roman" panose="02020603050405020304" pitchFamily="18" charset="0"/>
                <a:ea typeface="맑은 고딕" panose="020B0503020000020004" pitchFamily="50" charset="-127"/>
              </a:rPr>
              <a:t>Programming</a:t>
            </a:r>
            <a:endParaRPr lang="ko-KR" altLang="en-US" sz="2192" b="1">
              <a:solidFill>
                <a:srgbClr val="791680"/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412" name="TextBox 411">
            <a:extLst>
              <a:ext uri="{FF2B5EF4-FFF2-40B4-BE49-F238E27FC236}">
                <a16:creationId xmlns:a16="http://schemas.microsoft.com/office/drawing/2014/main" id="{781FB70D-076D-A01F-FE77-6644BF116DAF}"/>
              </a:ext>
            </a:extLst>
          </p:cNvPr>
          <p:cNvSpPr txBox="1">
            <a:spLocks/>
          </p:cNvSpPr>
          <p:nvPr/>
        </p:nvSpPr>
        <p:spPr>
          <a:xfrm>
            <a:off x="17207788" y="28482367"/>
            <a:ext cx="3592440" cy="3955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2192" b="1">
                <a:solidFill>
                  <a:srgbClr val="791680"/>
                </a:solidFill>
                <a:latin typeface="Times New Roman" panose="02020603050405020304" pitchFamily="18" charset="0"/>
                <a:ea typeface="맑은 고딕" panose="020B0503020000020004" pitchFamily="50" charset="-127"/>
              </a:rPr>
              <a:t>Research Laboratory</a:t>
            </a:r>
            <a:endParaRPr lang="ko-KR" altLang="en-US" sz="2192" b="1">
              <a:solidFill>
                <a:srgbClr val="791680"/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413" name="직사각형 412">
            <a:extLst>
              <a:ext uri="{FF2B5EF4-FFF2-40B4-BE49-F238E27FC236}">
                <a16:creationId xmlns:a16="http://schemas.microsoft.com/office/drawing/2014/main" id="{4271A4B3-7B2E-0F08-A0E9-66CD925801B0}"/>
              </a:ext>
            </a:extLst>
          </p:cNvPr>
          <p:cNvSpPr>
            <a:spLocks/>
          </p:cNvSpPr>
          <p:nvPr/>
        </p:nvSpPr>
        <p:spPr>
          <a:xfrm>
            <a:off x="0" y="29615187"/>
            <a:ext cx="21384000" cy="660812"/>
          </a:xfrm>
          <a:prstGeom prst="rect">
            <a:avLst/>
          </a:prstGeom>
          <a:solidFill>
            <a:srgbClr val="00397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B38438-D749-4DA4-B61F-EE1548A8001E}"/>
              </a:ext>
            </a:extLst>
          </p:cNvPr>
          <p:cNvSpPr txBox="1"/>
          <p:nvPr/>
        </p:nvSpPr>
        <p:spPr>
          <a:xfrm>
            <a:off x="939800" y="5740400"/>
            <a:ext cx="7874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3500" b="1">
                <a:solidFill>
                  <a:srgbClr val="3A72B8"/>
                </a:solidFill>
                <a:latin typeface="Aptos" panose="02110004020202020204"/>
                <a:ea typeface="맑은 고딕" panose="020B0503020000020004" pitchFamily="50" charset="-127"/>
              </a:rPr>
              <a:t>01</a:t>
            </a:r>
            <a:endParaRPr lang="ko-KR" altLang="en-US" sz="3500" b="1">
              <a:solidFill>
                <a:srgbClr val="3A72B8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ADCA70-4EB7-4AFA-954A-F9BAC00F36CC}"/>
              </a:ext>
            </a:extLst>
          </p:cNvPr>
          <p:cNvSpPr txBox="1"/>
          <p:nvPr/>
        </p:nvSpPr>
        <p:spPr>
          <a:xfrm>
            <a:off x="1828800" y="5740400"/>
            <a:ext cx="85217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35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분석기 공격이란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854E85-C9C4-4B0B-B487-2E961170DBA0}"/>
              </a:ext>
            </a:extLst>
          </p:cNvPr>
          <p:cNvSpPr txBox="1"/>
          <p:nvPr/>
        </p:nvSpPr>
        <p:spPr>
          <a:xfrm>
            <a:off x="939800" y="6502400"/>
            <a:ext cx="94107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Rice</a:t>
            </a: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 정리</a:t>
            </a:r>
            <a:r>
              <a:rPr lang="en-US" altLang="ko-KR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 </a:t>
            </a: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때문에 분석기는 안전성 </a:t>
            </a:r>
            <a:r>
              <a:rPr lang="en-US" altLang="ko-KR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· </a:t>
            </a: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유한성 </a:t>
            </a:r>
            <a:r>
              <a:rPr lang="en-US" altLang="ko-KR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· </a:t>
            </a: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정밀도 셋 중 하나는 반드시 포기한다</a:t>
            </a:r>
            <a:r>
              <a:rPr lang="en-US" altLang="ko-KR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.</a:t>
            </a:r>
            <a:endParaRPr lang="ko-KR" altLang="en-US" sz="1900" b="1">
              <a:solidFill>
                <a:srgbClr val="1A222B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D95E4F4-C2C2-41F0-91E7-EC8D8B7B204B}"/>
              </a:ext>
            </a:extLst>
          </p:cNvPr>
          <p:cNvSpPr/>
          <p:nvPr/>
        </p:nvSpPr>
        <p:spPr>
          <a:xfrm>
            <a:off x="939800" y="7302500"/>
            <a:ext cx="3001433" cy="889000"/>
          </a:xfrm>
          <a:prstGeom prst="roundRect">
            <a:avLst>
              <a:gd name="adj" fmla="val 15714"/>
            </a:avLst>
          </a:prstGeom>
          <a:solidFill>
            <a:srgbClr val="FFFFFF"/>
          </a:solidFill>
          <a:ln w="15240">
            <a:solidFill>
              <a:srgbClr val="C3CF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D19F17-D908-491E-8C92-51654EFA039A}"/>
              </a:ext>
            </a:extLst>
          </p:cNvPr>
          <p:cNvSpPr txBox="1"/>
          <p:nvPr/>
        </p:nvSpPr>
        <p:spPr>
          <a:xfrm>
            <a:off x="1041400" y="7505700"/>
            <a:ext cx="2798233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7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안전성</a:t>
            </a:r>
            <a:r>
              <a:rPr lang="en-US" altLang="ko-KR" sz="1290">
                <a:solidFill>
                  <a:srgbClr val="3E4A57"/>
                </a:solidFill>
              </a:rPr>
              <a:t>soundness</a:t>
            </a:r>
            <a:endParaRPr lang="ko-KR" altLang="en-US" sz="1290" b="1">
              <a:solidFill>
                <a:srgbClr val="00397F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E4B8C7-CB3F-4009-8B63-A0464472F469}"/>
              </a:ext>
            </a:extLst>
          </p:cNvPr>
          <p:cNvSpPr txBox="1"/>
          <p:nvPr/>
        </p:nvSpPr>
        <p:spPr>
          <a:xfrm>
            <a:off x="1066800" y="7823200"/>
            <a:ext cx="2747433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3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실제 값을 빠뜨리지 않음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B192DF3-AE09-4E13-B377-CA73F760F24D}"/>
              </a:ext>
            </a:extLst>
          </p:cNvPr>
          <p:cNvSpPr/>
          <p:nvPr/>
        </p:nvSpPr>
        <p:spPr>
          <a:xfrm>
            <a:off x="4144433" y="7302500"/>
            <a:ext cx="3001434" cy="889000"/>
          </a:xfrm>
          <a:prstGeom prst="roundRect">
            <a:avLst>
              <a:gd name="adj" fmla="val 15714"/>
            </a:avLst>
          </a:prstGeom>
          <a:solidFill>
            <a:srgbClr val="FFFFFF"/>
          </a:solidFill>
          <a:ln w="15240">
            <a:solidFill>
              <a:srgbClr val="C3CF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D8821B-E42E-4164-93CC-3893B3903EE6}"/>
              </a:ext>
            </a:extLst>
          </p:cNvPr>
          <p:cNvSpPr txBox="1"/>
          <p:nvPr/>
        </p:nvSpPr>
        <p:spPr>
          <a:xfrm>
            <a:off x="4246033" y="7505700"/>
            <a:ext cx="2798233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7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유한성</a:t>
            </a:r>
            <a:r>
              <a:rPr lang="en-US" altLang="ko-KR" sz="1290">
                <a:solidFill>
                  <a:srgbClr val="3E4A57"/>
                </a:solidFill>
              </a:rPr>
              <a:t>termination</a:t>
            </a:r>
            <a:endParaRPr lang="ko-KR" altLang="en-US" sz="1290" b="1">
              <a:solidFill>
                <a:srgbClr val="00397F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EADF57-B34C-417B-9F04-64C8294B03A5}"/>
              </a:ext>
            </a:extLst>
          </p:cNvPr>
          <p:cNvSpPr txBox="1"/>
          <p:nvPr/>
        </p:nvSpPr>
        <p:spPr>
          <a:xfrm>
            <a:off x="4271433" y="7823200"/>
            <a:ext cx="2747433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3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언젠간 멈춤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45CC197-DE6E-4BF6-9625-B8FEF0920D4F}"/>
              </a:ext>
            </a:extLst>
          </p:cNvPr>
          <p:cNvSpPr/>
          <p:nvPr/>
        </p:nvSpPr>
        <p:spPr>
          <a:xfrm>
            <a:off x="7349067" y="7298632"/>
            <a:ext cx="3001433" cy="889000"/>
          </a:xfrm>
          <a:prstGeom prst="roundRect">
            <a:avLst>
              <a:gd name="adj" fmla="val 15714"/>
            </a:avLst>
          </a:prstGeom>
          <a:solidFill>
            <a:srgbClr val="FFFFFF"/>
          </a:solidFill>
          <a:ln w="15240">
            <a:solidFill>
              <a:srgbClr val="C3CF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5E8705-8A3F-48F2-9061-11F8C7F45890}"/>
              </a:ext>
            </a:extLst>
          </p:cNvPr>
          <p:cNvSpPr txBox="1"/>
          <p:nvPr/>
        </p:nvSpPr>
        <p:spPr>
          <a:xfrm>
            <a:off x="7450667" y="7505700"/>
            <a:ext cx="2798233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7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정밀도</a:t>
            </a:r>
            <a:r>
              <a:rPr lang="en-US" altLang="ko-KR" sz="1290">
                <a:solidFill>
                  <a:srgbClr val="3E4A57"/>
                </a:solidFill>
              </a:rPr>
              <a:t>completeness</a:t>
            </a:r>
            <a:endParaRPr lang="ko-KR" altLang="en-US" sz="1290" b="1">
              <a:solidFill>
                <a:srgbClr val="00397F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B19F96-70CC-4E85-AB5A-DFBD6A038E3B}"/>
              </a:ext>
            </a:extLst>
          </p:cNvPr>
          <p:cNvSpPr txBox="1"/>
          <p:nvPr/>
        </p:nvSpPr>
        <p:spPr>
          <a:xfrm>
            <a:off x="7476067" y="7794172"/>
            <a:ext cx="2747433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3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실제 실행에서 벗어나는 값을 포함하지 않음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768F1D-1815-440F-936F-2A4EC9234172}"/>
              </a:ext>
            </a:extLst>
          </p:cNvPr>
          <p:cNvSpPr txBox="1"/>
          <p:nvPr/>
        </p:nvSpPr>
        <p:spPr>
          <a:xfrm>
            <a:off x="939799" y="8458200"/>
            <a:ext cx="94107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>
              <a:lnSpc>
                <a:spcPct val="95000"/>
              </a:lnSpc>
            </a:pPr>
            <a:r>
              <a:rPr lang="ko-KR" altLang="en-US" sz="15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보통의 분석기는 안전성과 유한성을 챙기는 대신 정밀도를 포기한다</a:t>
            </a:r>
            <a:r>
              <a:rPr lang="en-US" altLang="ko-KR" sz="15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. </a:t>
            </a:r>
            <a:r>
              <a:rPr lang="ko-KR" altLang="en-US" sz="15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실제로 어떤 코드 형태에서 정밀도가 손상되는지를 찾아낸다</a:t>
            </a:r>
            <a:r>
              <a:rPr lang="en-US" altLang="ko-KR" sz="15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.</a:t>
            </a:r>
            <a:endParaRPr lang="ko-KR" altLang="en-US" sz="1500">
              <a:solidFill>
                <a:srgbClr val="3E4A57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A0245E-11E5-4B85-8920-40E30F981457}"/>
              </a:ext>
            </a:extLst>
          </p:cNvPr>
          <p:cNvSpPr txBox="1"/>
          <p:nvPr/>
        </p:nvSpPr>
        <p:spPr>
          <a:xfrm>
            <a:off x="11036300" y="5740400"/>
            <a:ext cx="7874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3500" b="1">
                <a:solidFill>
                  <a:srgbClr val="3A72B8"/>
                </a:solidFill>
                <a:latin typeface="Aptos" panose="02110004020202020204"/>
                <a:ea typeface="맑은 고딕" panose="020B0503020000020004" pitchFamily="50" charset="-127"/>
              </a:rPr>
              <a:t>02</a:t>
            </a:r>
            <a:endParaRPr lang="ko-KR" altLang="en-US" sz="3500" b="1">
              <a:solidFill>
                <a:srgbClr val="3A72B8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2C98D1-601C-4E64-ADA3-2C6EF46716CE}"/>
              </a:ext>
            </a:extLst>
          </p:cNvPr>
          <p:cNvSpPr txBox="1"/>
          <p:nvPr/>
        </p:nvSpPr>
        <p:spPr>
          <a:xfrm>
            <a:off x="11925300" y="5740400"/>
            <a:ext cx="85217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35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분석기 개발 사이클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694B6D-3B17-4C53-B041-26AA4F3C2B04}"/>
              </a:ext>
            </a:extLst>
          </p:cNvPr>
          <p:cNvSpPr txBox="1"/>
          <p:nvPr/>
        </p:nvSpPr>
        <p:spPr>
          <a:xfrm>
            <a:off x="11036300" y="6502400"/>
            <a:ext cx="94107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분석기 공격은 개발 사이클의 한 단계가 될 수 있다</a:t>
            </a:r>
            <a:r>
              <a:rPr lang="en-US" altLang="ko-KR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. </a:t>
            </a: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공격을 통해 분석기의 약점을 찾고</a:t>
            </a:r>
            <a:r>
              <a:rPr lang="en-US" altLang="ko-KR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, </a:t>
            </a: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이를 다음 분석기의 설계로 되먹임하면서 보완한다</a:t>
            </a:r>
            <a:r>
              <a:rPr lang="en-US" altLang="ko-KR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.</a:t>
            </a:r>
            <a:endParaRPr lang="ko-KR" altLang="en-US" sz="1900" b="1">
              <a:solidFill>
                <a:srgbClr val="1A222B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C0DC302C-9319-483D-AC98-BEB56FFB0FC8}"/>
              </a:ext>
            </a:extLst>
          </p:cNvPr>
          <p:cNvSpPr/>
          <p:nvPr/>
        </p:nvSpPr>
        <p:spPr>
          <a:xfrm>
            <a:off x="11036300" y="7416800"/>
            <a:ext cx="9410700" cy="2489200"/>
          </a:xfrm>
          <a:prstGeom prst="roundRect">
            <a:avLst>
              <a:gd name="adj" fmla="val 8163"/>
            </a:avLst>
          </a:prstGeom>
          <a:solidFill>
            <a:srgbClr val="EFF4F8"/>
          </a:solidFill>
          <a:ln w="15240">
            <a:solidFill>
              <a:srgbClr val="C3CF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1B8AA8F-56A9-4105-AA39-CC0085DF6161}"/>
              </a:ext>
            </a:extLst>
          </p:cNvPr>
          <p:cNvSpPr/>
          <p:nvPr/>
        </p:nvSpPr>
        <p:spPr>
          <a:xfrm>
            <a:off x="11239500" y="7772400"/>
            <a:ext cx="1905000" cy="838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CF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B92A3FA-0D10-4789-9C9B-66F476F8CC94}"/>
              </a:ext>
            </a:extLst>
          </p:cNvPr>
          <p:cNvSpPr txBox="1"/>
          <p:nvPr/>
        </p:nvSpPr>
        <p:spPr>
          <a:xfrm>
            <a:off x="11341100" y="7912100"/>
            <a:ext cx="1701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6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디자인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BE1B21A-A4E4-4C64-8DB6-CFDBC2C71DE1}"/>
              </a:ext>
            </a:extLst>
          </p:cNvPr>
          <p:cNvSpPr txBox="1"/>
          <p:nvPr/>
        </p:nvSpPr>
        <p:spPr>
          <a:xfrm>
            <a:off x="11366500" y="8171544"/>
            <a:ext cx="1651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3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무엇을 어떻게 어림잡을지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827E2E54-11E0-4563-822A-3A5986DDB85B}"/>
              </a:ext>
            </a:extLst>
          </p:cNvPr>
          <p:cNvSpPr/>
          <p:nvPr/>
        </p:nvSpPr>
        <p:spPr>
          <a:xfrm>
            <a:off x="13601700" y="7772400"/>
            <a:ext cx="1905000" cy="838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CF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138BBF-7AA7-4267-97F4-ADCEED9170B1}"/>
              </a:ext>
            </a:extLst>
          </p:cNvPr>
          <p:cNvSpPr txBox="1"/>
          <p:nvPr/>
        </p:nvSpPr>
        <p:spPr>
          <a:xfrm>
            <a:off x="13703300" y="7912100"/>
            <a:ext cx="1701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6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개발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8DA5A4D-EB1A-45CF-B03F-A68562FA21C0}"/>
              </a:ext>
            </a:extLst>
          </p:cNvPr>
          <p:cNvSpPr txBox="1"/>
          <p:nvPr/>
        </p:nvSpPr>
        <p:spPr>
          <a:xfrm>
            <a:off x="13728700" y="8229600"/>
            <a:ext cx="1651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3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실제로 구현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0FA068A3-6843-4310-9AD9-10FA01BE52E2}"/>
              </a:ext>
            </a:extLst>
          </p:cNvPr>
          <p:cNvSpPr/>
          <p:nvPr/>
        </p:nvSpPr>
        <p:spPr>
          <a:xfrm>
            <a:off x="15963900" y="7772400"/>
            <a:ext cx="1905000" cy="838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CF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2CA2BC4-C922-460E-B64B-3A8C100EF20B}"/>
              </a:ext>
            </a:extLst>
          </p:cNvPr>
          <p:cNvSpPr txBox="1"/>
          <p:nvPr/>
        </p:nvSpPr>
        <p:spPr>
          <a:xfrm>
            <a:off x="16065500" y="7912100"/>
            <a:ext cx="1701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6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증명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3BE1987-73F4-486B-A100-6E6ECA414F9B}"/>
              </a:ext>
            </a:extLst>
          </p:cNvPr>
          <p:cNvSpPr txBox="1"/>
          <p:nvPr/>
        </p:nvSpPr>
        <p:spPr>
          <a:xfrm>
            <a:off x="16090900" y="8229600"/>
            <a:ext cx="1651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3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안전함</a:t>
            </a:r>
            <a:r>
              <a:rPr lang="en-US" altLang="ko-KR" sz="884">
                <a:solidFill>
                  <a:srgbClr val="7C8A99"/>
                </a:solidFill>
                <a:latin typeface="Aptos" panose="02110004020202020204"/>
                <a:ea typeface="맑은 고딕" panose="020B0503020000020004" pitchFamily="50" charset="-127"/>
              </a:rPr>
              <a:t>sound</a:t>
            </a:r>
            <a:r>
              <a:rPr lang="ko-KR" altLang="en-US" sz="13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을 보임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0571F22B-E960-4481-9A48-D4C81CE9953B}"/>
              </a:ext>
            </a:extLst>
          </p:cNvPr>
          <p:cNvSpPr/>
          <p:nvPr/>
        </p:nvSpPr>
        <p:spPr>
          <a:xfrm>
            <a:off x="18326100" y="7772400"/>
            <a:ext cx="1905000" cy="838200"/>
          </a:xfrm>
          <a:prstGeom prst="roundRect">
            <a:avLst/>
          </a:prstGeom>
          <a:solidFill>
            <a:srgbClr val="00397F"/>
          </a:solidFill>
          <a:ln w="15240">
            <a:solidFill>
              <a:srgbClr val="0039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7B26069-5D3F-4C39-995E-44473933F40F}"/>
              </a:ext>
            </a:extLst>
          </p:cNvPr>
          <p:cNvSpPr txBox="1"/>
          <p:nvPr/>
        </p:nvSpPr>
        <p:spPr>
          <a:xfrm>
            <a:off x="18427700" y="7912100"/>
            <a:ext cx="1701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600" b="1">
                <a:solidFill>
                  <a:srgbClr val="FFFFFF"/>
                </a:solidFill>
                <a:latin typeface="Aptos" panose="02110004020202020204"/>
                <a:ea typeface="맑은 고딕" panose="020B0503020000020004" pitchFamily="50" charset="-127"/>
              </a:rPr>
              <a:t>공격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DCC7C93-6DB3-4C7E-B378-AC920D952313}"/>
              </a:ext>
            </a:extLst>
          </p:cNvPr>
          <p:cNvSpPr txBox="1"/>
          <p:nvPr/>
        </p:nvSpPr>
        <p:spPr>
          <a:xfrm>
            <a:off x="18453100" y="8229600"/>
            <a:ext cx="1651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300">
                <a:solidFill>
                  <a:srgbClr val="A9C6E6"/>
                </a:solidFill>
                <a:latin typeface="Aptos" panose="02110004020202020204"/>
                <a:ea typeface="맑은 고딕" panose="020B0503020000020004" pitchFamily="50" charset="-127"/>
              </a:rPr>
              <a:t>정밀도가 깨지는 곳</a:t>
            </a: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1707EE4C-C6E1-4E5C-95E9-6CA652B31D56}"/>
              </a:ext>
            </a:extLst>
          </p:cNvPr>
          <p:cNvCxnSpPr/>
          <p:nvPr/>
        </p:nvCxnSpPr>
        <p:spPr>
          <a:xfrm>
            <a:off x="13246100" y="8191500"/>
            <a:ext cx="254000" cy="0"/>
          </a:xfrm>
          <a:prstGeom prst="line">
            <a:avLst/>
          </a:prstGeom>
          <a:ln w="22860">
            <a:solidFill>
              <a:srgbClr val="3A72B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87146839-C792-4C61-B26B-074D0BDCACB6}"/>
              </a:ext>
            </a:extLst>
          </p:cNvPr>
          <p:cNvCxnSpPr/>
          <p:nvPr/>
        </p:nvCxnSpPr>
        <p:spPr>
          <a:xfrm>
            <a:off x="15608300" y="8191500"/>
            <a:ext cx="254000" cy="0"/>
          </a:xfrm>
          <a:prstGeom prst="line">
            <a:avLst/>
          </a:prstGeom>
          <a:ln w="22860">
            <a:solidFill>
              <a:srgbClr val="3A72B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8AA8937E-5897-440E-A266-709EAF5D8333}"/>
              </a:ext>
            </a:extLst>
          </p:cNvPr>
          <p:cNvCxnSpPr/>
          <p:nvPr/>
        </p:nvCxnSpPr>
        <p:spPr>
          <a:xfrm>
            <a:off x="17970500" y="8191500"/>
            <a:ext cx="254000" cy="0"/>
          </a:xfrm>
          <a:prstGeom prst="line">
            <a:avLst/>
          </a:prstGeom>
          <a:ln w="22860">
            <a:solidFill>
              <a:srgbClr val="3A72B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7C8EA1C0-5C7D-404C-8000-A26DABE145D6}"/>
              </a:ext>
            </a:extLst>
          </p:cNvPr>
          <p:cNvCxnSpPr/>
          <p:nvPr/>
        </p:nvCxnSpPr>
        <p:spPr>
          <a:xfrm>
            <a:off x="19278600" y="8610600"/>
            <a:ext cx="0" cy="482600"/>
          </a:xfrm>
          <a:prstGeom prst="line">
            <a:avLst/>
          </a:prstGeom>
          <a:ln w="22860">
            <a:solidFill>
              <a:srgbClr val="3A7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E328921C-BC4F-464C-B79A-1A2FE918195B}"/>
              </a:ext>
            </a:extLst>
          </p:cNvPr>
          <p:cNvCxnSpPr/>
          <p:nvPr/>
        </p:nvCxnSpPr>
        <p:spPr>
          <a:xfrm flipH="1">
            <a:off x="12192000" y="9093200"/>
            <a:ext cx="7086600" cy="0"/>
          </a:xfrm>
          <a:prstGeom prst="line">
            <a:avLst/>
          </a:prstGeom>
          <a:ln w="22860">
            <a:solidFill>
              <a:srgbClr val="3A7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B2984F9F-2E8D-4501-BF6C-74607204B648}"/>
              </a:ext>
            </a:extLst>
          </p:cNvPr>
          <p:cNvCxnSpPr/>
          <p:nvPr/>
        </p:nvCxnSpPr>
        <p:spPr>
          <a:xfrm flipV="1">
            <a:off x="12192000" y="8610600"/>
            <a:ext cx="0" cy="482600"/>
          </a:xfrm>
          <a:prstGeom prst="line">
            <a:avLst/>
          </a:prstGeom>
          <a:ln w="22860">
            <a:solidFill>
              <a:srgbClr val="3A72B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B82F4EC-EB3A-460F-B962-DA044CE89E17}"/>
              </a:ext>
            </a:extLst>
          </p:cNvPr>
          <p:cNvSpPr txBox="1"/>
          <p:nvPr/>
        </p:nvSpPr>
        <p:spPr>
          <a:xfrm>
            <a:off x="11036300" y="9220200"/>
            <a:ext cx="9410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400" b="1">
                <a:solidFill>
                  <a:srgbClr val="3A72B8"/>
                </a:solidFill>
                <a:latin typeface="Aptos" panose="02110004020202020204"/>
                <a:ea typeface="맑은 고딕" panose="020B0503020000020004" pitchFamily="50" charset="-127"/>
              </a:rPr>
              <a:t>찾아낸 공격을 다시 설계로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A25CE05-3D0F-4C98-939E-542E03BE399A}"/>
              </a:ext>
            </a:extLst>
          </p:cNvPr>
          <p:cNvSpPr txBox="1"/>
          <p:nvPr/>
        </p:nvSpPr>
        <p:spPr>
          <a:xfrm>
            <a:off x="939800" y="12903200"/>
            <a:ext cx="7874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3500" b="1">
                <a:solidFill>
                  <a:srgbClr val="3A72B8"/>
                </a:solidFill>
                <a:latin typeface="Aptos" panose="02110004020202020204"/>
                <a:ea typeface="맑은 고딕" panose="020B0503020000020004" pitchFamily="50" charset="-127"/>
              </a:rPr>
              <a:t>03</a:t>
            </a:r>
            <a:endParaRPr lang="ko-KR" altLang="en-US" sz="3500" b="1">
              <a:solidFill>
                <a:srgbClr val="3A72B8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33D4BEC-6B1C-484E-83B6-49F69BC61361}"/>
              </a:ext>
            </a:extLst>
          </p:cNvPr>
          <p:cNvSpPr txBox="1"/>
          <p:nvPr/>
        </p:nvSpPr>
        <p:spPr>
          <a:xfrm>
            <a:off x="1828800" y="12903200"/>
            <a:ext cx="85217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35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공격의 정의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9A6C3E1-E073-4D5D-9777-2C64E7FD9AE3}"/>
              </a:ext>
            </a:extLst>
          </p:cNvPr>
          <p:cNvSpPr txBox="1"/>
          <p:nvPr/>
        </p:nvSpPr>
        <p:spPr>
          <a:xfrm>
            <a:off x="939800" y="13665200"/>
            <a:ext cx="94107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프로그램의 어떤 위치에서</a:t>
            </a:r>
            <a:r>
              <a:rPr lang="en-US" altLang="ko-KR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, </a:t>
            </a: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어떤 변수가 실제보다 더 크게 어림잡아진 것을 성공한 공격으로 정의한다</a:t>
            </a:r>
            <a:r>
              <a:rPr lang="en-US" altLang="ko-KR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.</a:t>
            </a:r>
            <a:endParaRPr lang="ko-KR" altLang="en-US" sz="1900" b="1">
              <a:solidFill>
                <a:srgbClr val="1A222B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4FBEA200-0667-4954-8AF8-44155236039C}"/>
              </a:ext>
            </a:extLst>
          </p:cNvPr>
          <p:cNvSpPr txBox="1"/>
          <p:nvPr/>
        </p:nvSpPr>
        <p:spPr>
          <a:xfrm>
            <a:off x="11036300" y="12903200"/>
            <a:ext cx="7874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3500" b="1">
                <a:solidFill>
                  <a:srgbClr val="3A72B8"/>
                </a:solidFill>
                <a:latin typeface="Aptos" panose="02110004020202020204"/>
                <a:ea typeface="맑은 고딕" panose="020B0503020000020004" pitchFamily="50" charset="-127"/>
              </a:rPr>
              <a:t>04</a:t>
            </a:r>
            <a:endParaRPr lang="ko-KR" altLang="en-US" sz="3500" b="1">
              <a:solidFill>
                <a:srgbClr val="3A72B8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E3A7EA30-A346-468F-A87C-D93A87EB62DC}"/>
              </a:ext>
            </a:extLst>
          </p:cNvPr>
          <p:cNvSpPr txBox="1"/>
          <p:nvPr/>
        </p:nvSpPr>
        <p:spPr>
          <a:xfrm>
            <a:off x="11925300" y="12903200"/>
            <a:ext cx="85217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35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증명나무 합성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17662497-E3CA-4972-ADD1-3C165AC35F49}"/>
              </a:ext>
            </a:extLst>
          </p:cNvPr>
          <p:cNvSpPr txBox="1"/>
          <p:nvPr/>
        </p:nvSpPr>
        <p:spPr>
          <a:xfrm>
            <a:off x="11036300" y="13665200"/>
            <a:ext cx="94107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프로그램을 먼저 합성</a:t>
            </a:r>
            <a:r>
              <a:rPr lang="en-US" altLang="ko-KR" sz="1292">
                <a:solidFill>
                  <a:srgbClr val="7C8A99"/>
                </a:solidFill>
                <a:latin typeface="Aptos" panose="02110004020202020204"/>
                <a:ea typeface="맑은 고딕" panose="020B0503020000020004" pitchFamily="50" charset="-127"/>
              </a:rPr>
              <a:t>synthesis</a:t>
            </a:r>
            <a:r>
              <a:rPr lang="ko-KR" altLang="en-US" sz="1900" b="1">
                <a:solidFill>
                  <a:srgbClr val="1A222B"/>
                </a:solidFill>
              </a:rPr>
              <a:t>하면</a:t>
            </a:r>
            <a:r>
              <a:rPr lang="en-US" altLang="ko-KR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, </a:t>
            </a: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그것이 올바른 공격 프로그램인지 항상 알아낼 수 없다</a:t>
            </a:r>
            <a:r>
              <a:rPr lang="en-US" altLang="ko-KR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. </a:t>
            </a:r>
            <a:endParaRPr lang="ko-KR" altLang="en-US" sz="1900" b="1">
              <a:solidFill>
                <a:srgbClr val="1A222B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64A42253-7BFC-4CBE-B5A0-6C900AA2030A}"/>
              </a:ext>
            </a:extLst>
          </p:cNvPr>
          <p:cNvSpPr txBox="1"/>
          <p:nvPr/>
        </p:nvSpPr>
        <p:spPr>
          <a:xfrm>
            <a:off x="11029950" y="14237536"/>
            <a:ext cx="94107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5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공격 성공을 판정하려면 그 프로그램의 실제 실행 의미</a:t>
            </a:r>
            <a:r>
              <a:rPr lang="en-US" altLang="ko-KR" sz="1290">
                <a:solidFill>
                  <a:srgbClr val="7C8A99"/>
                </a:solidFill>
                <a:latin typeface="Aptos" panose="02110004020202020204"/>
                <a:ea typeface="맑은 고딕" panose="020B0503020000020004" pitchFamily="50" charset="-127"/>
              </a:rPr>
              <a:t>concrete semantics</a:t>
            </a:r>
            <a:r>
              <a:rPr lang="ko-KR" altLang="en-US" sz="15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를 알아야 한다</a:t>
            </a:r>
            <a:r>
              <a:rPr lang="en-US" altLang="ko-KR" sz="15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. </a:t>
            </a:r>
            <a:r>
              <a:rPr lang="ko-KR" altLang="en-US" sz="15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그런데 프로그램이 실제로 무슨 실행 의미를 가지는지는 유한 시간 내애 항상 알아낼 수 없다</a:t>
            </a:r>
            <a:r>
              <a:rPr lang="en-US" altLang="ko-KR" sz="15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(Rice</a:t>
            </a:r>
            <a:r>
              <a:rPr lang="ko-KR" altLang="en-US" sz="15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 정리</a:t>
            </a:r>
            <a:r>
              <a:rPr lang="en-US" altLang="ko-KR" sz="15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). </a:t>
            </a:r>
            <a:r>
              <a:rPr lang="ko-KR" altLang="en-US" sz="15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만약 가능했다면</a:t>
            </a:r>
            <a:r>
              <a:rPr lang="en-US" altLang="ko-KR" sz="15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, </a:t>
            </a:r>
            <a:r>
              <a:rPr lang="ko-KR" altLang="en-US" sz="15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그 자체가 이상적인 분석기가 되니 어불성설이다</a:t>
            </a:r>
            <a:r>
              <a:rPr lang="en-US" altLang="ko-KR" sz="15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.</a:t>
            </a:r>
            <a:endParaRPr lang="ko-KR" altLang="en-US" sz="1500">
              <a:solidFill>
                <a:srgbClr val="3E4A57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572" name="TextBox 571">
            <a:extLst>
              <a:ext uri="{FF2B5EF4-FFF2-40B4-BE49-F238E27FC236}">
                <a16:creationId xmlns:a16="http://schemas.microsoft.com/office/drawing/2014/main" id="{0E8AB625-A404-4669-9822-B8355A67F13C}"/>
              </a:ext>
            </a:extLst>
          </p:cNvPr>
          <p:cNvSpPr txBox="1"/>
          <p:nvPr/>
        </p:nvSpPr>
        <p:spPr>
          <a:xfrm>
            <a:off x="939800" y="19558000"/>
            <a:ext cx="7874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3500" b="1">
                <a:solidFill>
                  <a:srgbClr val="3A72B8"/>
                </a:solidFill>
                <a:latin typeface="Aptos" panose="02110004020202020204"/>
                <a:ea typeface="맑은 고딕" panose="020B0503020000020004" pitchFamily="50" charset="-127"/>
              </a:rPr>
              <a:t>05</a:t>
            </a:r>
            <a:endParaRPr lang="ko-KR" altLang="en-US" sz="3500" b="1">
              <a:solidFill>
                <a:srgbClr val="3A72B8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id="{F239F5F9-B467-45F2-87B3-0F724ECD9E8F}"/>
              </a:ext>
            </a:extLst>
          </p:cNvPr>
          <p:cNvSpPr txBox="1"/>
          <p:nvPr/>
        </p:nvSpPr>
        <p:spPr>
          <a:xfrm>
            <a:off x="1828800" y="19558000"/>
            <a:ext cx="85217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35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증명나무의 크기</a:t>
            </a:r>
          </a:p>
        </p:txBody>
      </p:sp>
      <p:sp>
        <p:nvSpPr>
          <p:cNvPr id="574" name="TextBox 573">
            <a:extLst>
              <a:ext uri="{FF2B5EF4-FFF2-40B4-BE49-F238E27FC236}">
                <a16:creationId xmlns:a16="http://schemas.microsoft.com/office/drawing/2014/main" id="{A9E5E5A3-950F-4F1A-B71B-0C904D14390E}"/>
              </a:ext>
            </a:extLst>
          </p:cNvPr>
          <p:cNvSpPr txBox="1"/>
          <p:nvPr/>
        </p:nvSpPr>
        <p:spPr>
          <a:xfrm>
            <a:off x="939800" y="20320000"/>
            <a:ext cx="94107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증명나무를 작은 것부터 순서대로</a:t>
            </a:r>
            <a:r>
              <a:rPr lang="en-US" altLang="ko-KR" sz="1292">
                <a:solidFill>
                  <a:srgbClr val="7C8A99"/>
                </a:solidFill>
                <a:latin typeface="Aptos" panose="02110004020202020204"/>
                <a:ea typeface="맑은 고딕" panose="020B0503020000020004" pitchFamily="50" charset="-127"/>
              </a:rPr>
              <a:t>bottom-up</a:t>
            </a:r>
            <a:r>
              <a:rPr lang="en-US" altLang="ko-KR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 </a:t>
            </a: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빠짐없이 만들어 나간다</a:t>
            </a:r>
            <a:r>
              <a:rPr lang="en-US" altLang="ko-KR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. </a:t>
            </a: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이 때</a:t>
            </a:r>
            <a:r>
              <a:rPr lang="en-US" altLang="ko-KR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, '</a:t>
            </a: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크기</a:t>
            </a:r>
            <a:r>
              <a:rPr lang="en-US" altLang="ko-KR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'</a:t>
            </a: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를 무엇으로 잡을지가 핵심이다</a:t>
            </a:r>
            <a:r>
              <a:rPr lang="en-US" altLang="ko-KR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.</a:t>
            </a:r>
            <a:endParaRPr lang="ko-KR" altLang="en-US" sz="1900" b="1">
              <a:solidFill>
                <a:srgbClr val="1A222B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398" name="사각형: 둥근 모서리 397">
            <a:extLst>
              <a:ext uri="{FF2B5EF4-FFF2-40B4-BE49-F238E27FC236}">
                <a16:creationId xmlns:a16="http://schemas.microsoft.com/office/drawing/2014/main" id="{3C47BA80-5B41-4652-931A-6C3BDE2812C9}"/>
              </a:ext>
            </a:extLst>
          </p:cNvPr>
          <p:cNvSpPr/>
          <p:nvPr/>
        </p:nvSpPr>
        <p:spPr>
          <a:xfrm>
            <a:off x="939800" y="24688800"/>
            <a:ext cx="4572000" cy="1930400"/>
          </a:xfrm>
          <a:prstGeom prst="roundRect">
            <a:avLst>
              <a:gd name="adj" fmla="val 7237"/>
            </a:avLst>
          </a:prstGeom>
          <a:solidFill>
            <a:srgbClr val="FFFFFF"/>
          </a:solidFill>
          <a:ln w="15240">
            <a:solidFill>
              <a:srgbClr val="C3CF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9" name="직사각형 398">
            <a:extLst>
              <a:ext uri="{FF2B5EF4-FFF2-40B4-BE49-F238E27FC236}">
                <a16:creationId xmlns:a16="http://schemas.microsoft.com/office/drawing/2014/main" id="{55123BF5-664C-4C8E-AE24-554C1FB81D6B}"/>
              </a:ext>
            </a:extLst>
          </p:cNvPr>
          <p:cNvSpPr/>
          <p:nvPr/>
        </p:nvSpPr>
        <p:spPr>
          <a:xfrm>
            <a:off x="939800" y="24904700"/>
            <a:ext cx="76200" cy="1498600"/>
          </a:xfrm>
          <a:prstGeom prst="rect">
            <a:avLst/>
          </a:prstGeom>
          <a:solidFill>
            <a:srgbClr val="3A72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3002DEA1-D959-4DC8-B395-B03F77425C15}"/>
              </a:ext>
            </a:extLst>
          </p:cNvPr>
          <p:cNvSpPr txBox="1"/>
          <p:nvPr/>
        </p:nvSpPr>
        <p:spPr>
          <a:xfrm>
            <a:off x="1295400" y="24879300"/>
            <a:ext cx="40132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7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증명나무의 노드</a:t>
            </a:r>
            <a:r>
              <a:rPr lang="en-US" altLang="ko-KR" sz="1290">
                <a:solidFill>
                  <a:srgbClr val="7C8A99"/>
                </a:solidFill>
              </a:rPr>
              <a:t>node</a:t>
            </a:r>
            <a:r>
              <a:rPr lang="ko-KR" altLang="en-US" sz="17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 수만 세면</a:t>
            </a:r>
            <a:r>
              <a:rPr lang="en-US" altLang="ko-KR" sz="17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?</a:t>
            </a:r>
            <a:endParaRPr lang="ko-KR" altLang="en-US" sz="1700" b="1">
              <a:solidFill>
                <a:srgbClr val="00397F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00DBA983-7AF4-4ECF-9C6D-86CFA7F270B3}"/>
              </a:ext>
            </a:extLst>
          </p:cNvPr>
          <p:cNvSpPr txBox="1"/>
          <p:nvPr/>
        </p:nvSpPr>
        <p:spPr>
          <a:xfrm>
            <a:off x="1295400" y="25273000"/>
            <a:ext cx="3962400" cy="1168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4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실행되지 않는 갈림길</a:t>
            </a:r>
            <a:r>
              <a:rPr lang="en-US" altLang="ko-KR" sz="952">
                <a:solidFill>
                  <a:srgbClr val="7C8A99"/>
                </a:solidFill>
                <a:latin typeface="Aptos" panose="02110004020202020204"/>
                <a:ea typeface="맑은 고딕" panose="020B0503020000020004" pitchFamily="50" charset="-127"/>
              </a:rPr>
              <a:t>branch</a:t>
            </a:r>
            <a:r>
              <a:rPr lang="ko-KR" altLang="en-US" sz="14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에 아무리 큰 코드가 들어가도 증명나무는 커지지 않는다</a:t>
            </a:r>
            <a:r>
              <a:rPr lang="en-US" altLang="ko-KR" sz="14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같은 크기의 나무에 대응하는 프로그램이 무한히 많아진다</a:t>
            </a:r>
            <a:r>
              <a:rPr lang="en-US" altLang="ko-KR" sz="14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.</a:t>
            </a:r>
            <a:endParaRPr lang="ko-KR" altLang="en-US" sz="1400">
              <a:solidFill>
                <a:srgbClr val="3E4A57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406" name="사각형: 둥근 모서리 405">
            <a:extLst>
              <a:ext uri="{FF2B5EF4-FFF2-40B4-BE49-F238E27FC236}">
                <a16:creationId xmlns:a16="http://schemas.microsoft.com/office/drawing/2014/main" id="{FD2E9A9C-A194-480F-95CE-98E0677D0442}"/>
              </a:ext>
            </a:extLst>
          </p:cNvPr>
          <p:cNvSpPr/>
          <p:nvPr/>
        </p:nvSpPr>
        <p:spPr>
          <a:xfrm>
            <a:off x="5765800" y="24688800"/>
            <a:ext cx="4584700" cy="1930400"/>
          </a:xfrm>
          <a:prstGeom prst="roundRect">
            <a:avLst>
              <a:gd name="adj" fmla="val 7237"/>
            </a:avLst>
          </a:prstGeom>
          <a:solidFill>
            <a:srgbClr val="FFFFFF"/>
          </a:solidFill>
          <a:ln w="15240">
            <a:solidFill>
              <a:srgbClr val="C3CF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9" name="직사각형 408">
            <a:extLst>
              <a:ext uri="{FF2B5EF4-FFF2-40B4-BE49-F238E27FC236}">
                <a16:creationId xmlns:a16="http://schemas.microsoft.com/office/drawing/2014/main" id="{6D0191BB-0D55-4BA6-995D-6209D6D96631}"/>
              </a:ext>
            </a:extLst>
          </p:cNvPr>
          <p:cNvSpPr/>
          <p:nvPr/>
        </p:nvSpPr>
        <p:spPr>
          <a:xfrm>
            <a:off x="5765800" y="24904700"/>
            <a:ext cx="76200" cy="1498600"/>
          </a:xfrm>
          <a:prstGeom prst="rect">
            <a:avLst/>
          </a:prstGeom>
          <a:solidFill>
            <a:srgbClr val="3A72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4" name="TextBox 413">
            <a:extLst>
              <a:ext uri="{FF2B5EF4-FFF2-40B4-BE49-F238E27FC236}">
                <a16:creationId xmlns:a16="http://schemas.microsoft.com/office/drawing/2014/main" id="{A8B07F04-B879-42C8-BDE4-320CCDE995F4}"/>
              </a:ext>
            </a:extLst>
          </p:cNvPr>
          <p:cNvSpPr txBox="1"/>
          <p:nvPr/>
        </p:nvSpPr>
        <p:spPr>
          <a:xfrm>
            <a:off x="6121400" y="24879300"/>
            <a:ext cx="40259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7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프로그램 크기로 재면</a:t>
            </a:r>
            <a:r>
              <a:rPr lang="en-US" altLang="ko-KR" sz="17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?</a:t>
            </a:r>
            <a:endParaRPr lang="ko-KR" altLang="en-US" sz="1700" b="1">
              <a:solidFill>
                <a:srgbClr val="00397F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CA7AAEDC-E69C-4B96-858A-B2A9E58FF7A9}"/>
              </a:ext>
            </a:extLst>
          </p:cNvPr>
          <p:cNvSpPr txBox="1"/>
          <p:nvPr/>
        </p:nvSpPr>
        <p:spPr>
          <a:xfrm>
            <a:off x="6121400" y="25273000"/>
            <a:ext cx="3975100" cy="1168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4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반대로 프로그램 크기는 그대로인데 실행 의미가 무한히 길어질 수 있다</a:t>
            </a:r>
            <a:r>
              <a:rPr lang="en-US" altLang="ko-KR" sz="14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반복문 하나로 증명나무만 끝없이 자라</a:t>
            </a:r>
            <a:r>
              <a:rPr lang="en-US" altLang="ko-KR" sz="14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, </a:t>
            </a:r>
            <a:r>
              <a:rPr lang="ko-KR" altLang="en-US" sz="14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같은 크기의 나무에 대응하는 증명나무가 무한히 많아진다</a:t>
            </a:r>
            <a:r>
              <a:rPr lang="en-US" altLang="ko-KR" sz="14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.</a:t>
            </a:r>
            <a:endParaRPr lang="ko-KR" altLang="en-US" sz="1400">
              <a:solidFill>
                <a:srgbClr val="3E4A57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416" name="TextBox 415">
            <a:extLst>
              <a:ext uri="{FF2B5EF4-FFF2-40B4-BE49-F238E27FC236}">
                <a16:creationId xmlns:a16="http://schemas.microsoft.com/office/drawing/2014/main" id="{82ADB219-22D1-4F5D-A742-DFD1766F05C4}"/>
              </a:ext>
            </a:extLst>
          </p:cNvPr>
          <p:cNvSpPr txBox="1"/>
          <p:nvPr/>
        </p:nvSpPr>
        <p:spPr>
          <a:xfrm>
            <a:off x="939800" y="26822400"/>
            <a:ext cx="94107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7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어느 쪽도 혼자서는 안 된다</a:t>
            </a:r>
            <a:r>
              <a:rPr lang="en-US" altLang="ko-KR" sz="17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. </a:t>
            </a:r>
            <a:r>
              <a:rPr lang="ko-KR" altLang="en-US" sz="17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이를 해결하기 위해</a:t>
            </a:r>
            <a:r>
              <a:rPr lang="en-US" altLang="ko-KR" sz="17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 </a:t>
            </a:r>
            <a:r>
              <a:rPr lang="ko-KR" altLang="en-US" sz="17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문법에 구멍</a:t>
            </a:r>
            <a:r>
              <a:rPr lang="en-US" altLang="ko-KR" sz="1156">
                <a:solidFill>
                  <a:srgbClr val="7C8A99"/>
                </a:solidFill>
                <a:latin typeface="Aptos" panose="02110004020202020204"/>
                <a:ea typeface="맑은 고딕" panose="020B0503020000020004" pitchFamily="50" charset="-127"/>
              </a:rPr>
              <a:t>hole</a:t>
            </a:r>
            <a:r>
              <a:rPr lang="ko-KR" altLang="en-US" sz="17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을 들인다</a:t>
            </a:r>
            <a:r>
              <a:rPr lang="en-US" altLang="ko-KR" sz="17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.</a:t>
            </a:r>
            <a:endParaRPr lang="ko-KR" altLang="en-US" sz="1700" b="1">
              <a:solidFill>
                <a:srgbClr val="1A222B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417" name="TextBox 416">
            <a:extLst>
              <a:ext uri="{FF2B5EF4-FFF2-40B4-BE49-F238E27FC236}">
                <a16:creationId xmlns:a16="http://schemas.microsoft.com/office/drawing/2014/main" id="{5D022769-3FCA-4AE6-BDDC-99154F815BE0}"/>
              </a:ext>
            </a:extLst>
          </p:cNvPr>
          <p:cNvSpPr txBox="1"/>
          <p:nvPr/>
        </p:nvSpPr>
        <p:spPr>
          <a:xfrm>
            <a:off x="11036300" y="19558000"/>
            <a:ext cx="7874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3500" b="1">
                <a:solidFill>
                  <a:srgbClr val="3A72B8"/>
                </a:solidFill>
                <a:latin typeface="Aptos" panose="02110004020202020204"/>
                <a:ea typeface="맑은 고딕" panose="020B0503020000020004" pitchFamily="50" charset="-127"/>
              </a:rPr>
              <a:t>06</a:t>
            </a:r>
            <a:endParaRPr lang="ko-KR" altLang="en-US" sz="3500" b="1">
              <a:solidFill>
                <a:srgbClr val="3A72B8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418" name="TextBox 417">
            <a:extLst>
              <a:ext uri="{FF2B5EF4-FFF2-40B4-BE49-F238E27FC236}">
                <a16:creationId xmlns:a16="http://schemas.microsoft.com/office/drawing/2014/main" id="{8FE91CF6-0A8E-48E4-91B7-46E33F29C93F}"/>
              </a:ext>
            </a:extLst>
          </p:cNvPr>
          <p:cNvSpPr txBox="1"/>
          <p:nvPr/>
        </p:nvSpPr>
        <p:spPr>
          <a:xfrm>
            <a:off x="11925300" y="19558000"/>
            <a:ext cx="85217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35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구멍 뚫린 증명나무와 통일시키기</a:t>
            </a:r>
            <a:r>
              <a:rPr lang="en-US" altLang="ko-KR" sz="2000">
                <a:solidFill>
                  <a:srgbClr val="7C8A99"/>
                </a:solidFill>
              </a:rPr>
              <a:t>unification</a:t>
            </a:r>
            <a:endParaRPr lang="ko-KR" altLang="en-US" sz="2000" b="1">
              <a:solidFill>
                <a:srgbClr val="00397F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419" name="TextBox 418">
            <a:extLst>
              <a:ext uri="{FF2B5EF4-FFF2-40B4-BE49-F238E27FC236}">
                <a16:creationId xmlns:a16="http://schemas.microsoft.com/office/drawing/2014/main" id="{792B7CC4-CB37-458C-ABC0-7DCB1EB3B855}"/>
              </a:ext>
            </a:extLst>
          </p:cNvPr>
          <p:cNvSpPr txBox="1"/>
          <p:nvPr/>
        </p:nvSpPr>
        <p:spPr>
          <a:xfrm>
            <a:off x="11036300" y="20320000"/>
            <a:ext cx="94107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실행되지 않은 자리를 구멍</a:t>
            </a:r>
            <a:r>
              <a:rPr lang="en-US" altLang="ko-KR" sz="1292">
                <a:solidFill>
                  <a:srgbClr val="7C8A99"/>
                </a:solidFill>
                <a:latin typeface="Aptos" panose="02110004020202020204"/>
                <a:ea typeface="맑은 고딕" panose="020B0503020000020004" pitchFamily="50" charset="-127"/>
              </a:rPr>
              <a:t>hole</a:t>
            </a: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으로 남기면</a:t>
            </a:r>
            <a:r>
              <a:rPr lang="en-US" altLang="ko-KR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, </a:t>
            </a: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크기를 그냥 노드</a:t>
            </a:r>
            <a:r>
              <a:rPr lang="en-US" altLang="ko-KR" sz="1290" b="1">
                <a:solidFill>
                  <a:srgbClr val="7C8A99"/>
                </a:solidFill>
                <a:latin typeface="Aptos" panose="02110004020202020204"/>
                <a:ea typeface="맑은 고딕" panose="020B0503020000020004" pitchFamily="50" charset="-127"/>
              </a:rPr>
              <a:t>n</a:t>
            </a:r>
            <a:r>
              <a:rPr lang="en-US" altLang="ko-KR" sz="1290">
                <a:solidFill>
                  <a:srgbClr val="7C8A99"/>
                </a:solidFill>
              </a:rPr>
              <a:t>ode</a:t>
            </a: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 수로 정의할 수 있다</a:t>
            </a:r>
            <a:r>
              <a:rPr lang="en-US" altLang="ko-KR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.</a:t>
            </a:r>
            <a:endParaRPr lang="ko-KR" altLang="en-US" sz="1900" b="1">
              <a:solidFill>
                <a:srgbClr val="1A222B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420" name="사각형: 둥근 모서리 419">
            <a:extLst>
              <a:ext uri="{FF2B5EF4-FFF2-40B4-BE49-F238E27FC236}">
                <a16:creationId xmlns:a16="http://schemas.microsoft.com/office/drawing/2014/main" id="{3F5C8F3D-0510-4199-8CD9-D7D5669258C9}"/>
              </a:ext>
            </a:extLst>
          </p:cNvPr>
          <p:cNvSpPr/>
          <p:nvPr/>
        </p:nvSpPr>
        <p:spPr>
          <a:xfrm>
            <a:off x="11027166" y="20915919"/>
            <a:ext cx="5580119" cy="2028463"/>
          </a:xfrm>
          <a:prstGeom prst="roundRect">
            <a:avLst>
              <a:gd name="adj" fmla="val 6579"/>
            </a:avLst>
          </a:prstGeom>
          <a:solidFill>
            <a:srgbClr val="2E34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1" name="TextBox 420">
            <a:extLst>
              <a:ext uri="{FF2B5EF4-FFF2-40B4-BE49-F238E27FC236}">
                <a16:creationId xmlns:a16="http://schemas.microsoft.com/office/drawing/2014/main" id="{884ACB80-6F1C-46EF-B26B-739389EDF95E}"/>
              </a:ext>
            </a:extLst>
          </p:cNvPr>
          <p:cNvSpPr txBox="1"/>
          <p:nvPr/>
        </p:nvSpPr>
        <p:spPr>
          <a:xfrm>
            <a:off x="11382767" y="21144520"/>
            <a:ext cx="4622800" cy="147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500">
                <a:solidFill>
                  <a:srgbClr val="88C0D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500">
                <a:solidFill>
                  <a:srgbClr val="D8DEE9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(x || </a:t>
            </a:r>
            <a:r>
              <a:rPr lang="en-US" altLang="ko-KR" sz="1500">
                <a:solidFill>
                  <a:srgbClr val="EBCB8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?H1</a:t>
            </a:r>
            <a:r>
              <a:rPr lang="en-US" altLang="ko-KR" sz="1500">
                <a:solidFill>
                  <a:srgbClr val="D8DEE9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) {
  </a:t>
            </a:r>
            <a:r>
              <a:rPr lang="en-US" altLang="ko-KR" sz="1500">
                <a:solidFill>
                  <a:srgbClr val="88C0D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500">
                <a:solidFill>
                  <a:srgbClr val="D8DEE9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500">
                <a:solidFill>
                  <a:srgbClr val="EBCB8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0</a:t>
            </a:r>
            <a:r>
              <a:rPr lang="en-US" altLang="ko-KR" sz="1500">
                <a:solidFill>
                  <a:srgbClr val="D8DEE9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;
} </a:t>
            </a:r>
            <a:r>
              <a:rPr lang="en-US" altLang="ko-KR" sz="1500">
                <a:solidFill>
                  <a:srgbClr val="88C0D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else</a:t>
            </a:r>
            <a:r>
              <a:rPr lang="en-US" altLang="ko-KR" sz="1500">
                <a:solidFill>
                  <a:srgbClr val="D8DEE9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{
  </a:t>
            </a:r>
            <a:r>
              <a:rPr lang="en-US" altLang="ko-KR" sz="1500">
                <a:solidFill>
                  <a:srgbClr val="EBCB8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?H2</a:t>
            </a:r>
            <a:r>
              <a:rPr lang="en-US" altLang="ko-KR" sz="1500">
                <a:solidFill>
                  <a:srgbClr val="D8DEE9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
}</a:t>
            </a:r>
          </a:p>
          <a:p>
            <a:pPr>
              <a:lnSpc>
                <a:spcPct val="115000"/>
              </a:lnSpc>
            </a:pPr>
            <a:r>
              <a:rPr lang="en-US" altLang="ko-KR" sz="1500">
                <a:solidFill>
                  <a:srgbClr val="EBCB8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?H3</a:t>
            </a:r>
            <a:endParaRPr lang="ko-KR" altLang="en-US" sz="1500">
              <a:solidFill>
                <a:srgbClr val="EBCB8B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428" name="TextBox 427">
            <a:extLst>
              <a:ext uri="{FF2B5EF4-FFF2-40B4-BE49-F238E27FC236}">
                <a16:creationId xmlns:a16="http://schemas.microsoft.com/office/drawing/2014/main" id="{E7D44950-5931-421A-8F2D-2D0E65F30B93}"/>
              </a:ext>
            </a:extLst>
          </p:cNvPr>
          <p:cNvSpPr txBox="1"/>
          <p:nvPr/>
        </p:nvSpPr>
        <p:spPr>
          <a:xfrm>
            <a:off x="17043792" y="21284725"/>
            <a:ext cx="3469883" cy="21219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350" b="1" spc="150">
                <a:latin typeface="Aptos" panose="02110004020202020204"/>
                <a:ea typeface="맑은 고딕" panose="020B0503020000020004" pitchFamily="50" charset="-127"/>
              </a:rPr>
              <a:t>구멍이 놓일 수 있는 자리</a:t>
            </a:r>
            <a:r>
              <a:rPr lang="en-US" altLang="ko-KR" sz="1350" b="1" spc="150">
                <a:latin typeface="Aptos" panose="02110004020202020204"/>
                <a:ea typeface="맑은 고딕" panose="020B0503020000020004" pitchFamily="50" charset="-127"/>
              </a:rPr>
              <a:t>(</a:t>
            </a:r>
            <a:r>
              <a:rPr lang="ko-KR" altLang="en-US" sz="1350" b="1" spc="150">
                <a:latin typeface="Aptos" panose="02110004020202020204"/>
                <a:ea typeface="맑은 고딕" panose="020B0503020000020004" pitchFamily="50" charset="-127"/>
              </a:rPr>
              <a:t>실행되지 않을 수 있는 자리</a:t>
            </a:r>
            <a:r>
              <a:rPr lang="en-US" altLang="ko-KR" sz="1350" b="1" spc="150">
                <a:latin typeface="Aptos" panose="02110004020202020204"/>
                <a:ea typeface="맑은 고딕" panose="020B0503020000020004" pitchFamily="50" charset="-127"/>
              </a:rPr>
              <a:t>)</a:t>
            </a:r>
            <a:r>
              <a:rPr lang="ko-KR" altLang="en-US" sz="1350" b="1" spc="150">
                <a:latin typeface="Aptos" panose="02110004020202020204"/>
                <a:ea typeface="맑은 고딕" panose="020B0503020000020004" pitchFamily="50" charset="-127"/>
              </a:rPr>
              <a:t>는 네 종류뿐</a:t>
            </a:r>
            <a:endParaRPr lang="en-US" altLang="ko-KR" sz="1350" b="1" spc="150">
              <a:latin typeface="Aptos" panose="02110004020202020204"/>
              <a:ea typeface="맑은 고딕" panose="020B0503020000020004" pitchFamily="50" charset="-127"/>
            </a:endParaRPr>
          </a:p>
          <a:p>
            <a:pPr>
              <a:lnSpc>
                <a:spcPct val="95000"/>
              </a:lnSpc>
            </a:pPr>
            <a:endParaRPr lang="en-US" altLang="ko-KR" sz="1350" b="1" spc="150">
              <a:latin typeface="Aptos" panose="02110004020202020204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95000"/>
              </a:lnSpc>
              <a:buFontTx/>
              <a:buChar char="-"/>
            </a:pPr>
            <a:r>
              <a:rPr lang="en-US" altLang="ko-KR" sz="1400">
                <a:latin typeface="Consolas" panose="020B0609020204030204" pitchFamily="49" charset="0"/>
              </a:rPr>
              <a:t>||, &amp;&amp;</a:t>
            </a:r>
            <a:r>
              <a:rPr lang="ko-KR" altLang="en-US" sz="1400">
                <a:latin typeface="Consolas" panose="020B0609020204030204" pitchFamily="49" charset="0"/>
              </a:rPr>
              <a:t>의 뒷부분</a:t>
            </a:r>
            <a:endParaRPr lang="en-US" altLang="ko-KR" sz="1400">
              <a:latin typeface="Consolas" panose="020B0609020204030204" pitchFamily="49" charset="0"/>
            </a:endParaRPr>
          </a:p>
          <a:p>
            <a:pPr marL="285750" indent="-285750">
              <a:lnSpc>
                <a:spcPct val="95000"/>
              </a:lnSpc>
              <a:buFontTx/>
              <a:buChar char="-"/>
            </a:pPr>
            <a:r>
              <a:rPr lang="ko-KR" altLang="en-US" sz="1400" spc="150">
                <a:latin typeface="Consolas" panose="020B0609020204030204" pitchFamily="49" charset="0"/>
                <a:ea typeface="맑은 고딕" panose="020B0503020000020004" pitchFamily="50" charset="-127"/>
              </a:rPr>
              <a:t>조건문의 실행되지 않는 부분</a:t>
            </a:r>
            <a:endParaRPr lang="en-US" altLang="ko-KR" sz="1400" spc="150"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95000"/>
              </a:lnSpc>
              <a:buFontTx/>
              <a:buChar char="-"/>
            </a:pPr>
            <a:r>
              <a:rPr lang="en-US" altLang="ko-KR" sz="1400">
                <a:latin typeface="Consolas" panose="020B0609020204030204" pitchFamily="49" charset="0"/>
              </a:rPr>
              <a:t>return </a:t>
            </a:r>
            <a:r>
              <a:rPr lang="ko-KR" altLang="en-US" sz="1400" spc="150">
                <a:latin typeface="Consolas" panose="020B0609020204030204" pitchFamily="49" charset="0"/>
                <a:ea typeface="맑은 고딕" panose="020B0503020000020004" pitchFamily="50" charset="-127"/>
              </a:rPr>
              <a:t>이후의 꼬리 부분</a:t>
            </a:r>
            <a:endParaRPr lang="en-US" altLang="ko-KR" sz="1400" spc="150"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95000"/>
              </a:lnSpc>
              <a:buFontTx/>
              <a:buChar char="-"/>
            </a:pPr>
            <a:r>
              <a:rPr lang="ko-KR" altLang="en-US" sz="1400" spc="150">
                <a:latin typeface="Consolas" panose="020B0609020204030204" pitchFamily="49" charset="0"/>
                <a:ea typeface="맑은 고딕" panose="020B0503020000020004" pitchFamily="50" charset="-127"/>
              </a:rPr>
              <a:t>함수의 내용</a:t>
            </a:r>
            <a:endParaRPr lang="en-US" altLang="ko-KR" sz="1400" spc="150"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95000"/>
              </a:lnSpc>
              <a:buFontTx/>
              <a:buChar char="-"/>
            </a:pPr>
            <a:endParaRPr lang="en-US" altLang="ko-KR" sz="1350" b="1" spc="150">
              <a:latin typeface="Aptos" panose="02110004020202020204"/>
              <a:ea typeface="맑은 고딕" panose="020B0503020000020004" pitchFamily="50" charset="-127"/>
            </a:endParaRPr>
          </a:p>
          <a:p>
            <a:pPr>
              <a:lnSpc>
                <a:spcPct val="95000"/>
              </a:lnSpc>
            </a:pPr>
            <a:endParaRPr lang="en-US" altLang="ko-KR" sz="1350" b="1" spc="150">
              <a:latin typeface="Aptos" panose="02110004020202020204"/>
              <a:ea typeface="맑은 고딕" panose="020B0503020000020004" pitchFamily="50" charset="-127"/>
            </a:endParaRPr>
          </a:p>
          <a:p>
            <a:pPr>
              <a:lnSpc>
                <a:spcPct val="95000"/>
              </a:lnSpc>
            </a:pPr>
            <a:endParaRPr lang="ko-KR" altLang="en-US" sz="1350" b="1" spc="150"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163" name="사각형: 둥근 모서리 162">
            <a:extLst>
              <a:ext uri="{FF2B5EF4-FFF2-40B4-BE49-F238E27FC236}">
                <a16:creationId xmlns:a16="http://schemas.microsoft.com/office/drawing/2014/main" id="{6DD1F1D4-87AB-463E-93A5-F2A790F7A48D}"/>
              </a:ext>
            </a:extLst>
          </p:cNvPr>
          <p:cNvSpPr/>
          <p:nvPr/>
        </p:nvSpPr>
        <p:spPr>
          <a:xfrm>
            <a:off x="11036300" y="15099693"/>
            <a:ext cx="9410700" cy="584200"/>
          </a:xfrm>
          <a:prstGeom prst="roundRect">
            <a:avLst>
              <a:gd name="adj" fmla="val 21739"/>
            </a:avLst>
          </a:prstGeom>
          <a:solidFill>
            <a:srgbClr val="D6DE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50CBF60-1D75-4FCF-9683-5321CFE20DC4}"/>
              </a:ext>
            </a:extLst>
          </p:cNvPr>
          <p:cNvSpPr txBox="1"/>
          <p:nvPr/>
        </p:nvSpPr>
        <p:spPr>
          <a:xfrm>
            <a:off x="11341100" y="15099693"/>
            <a:ext cx="88011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6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따라서 프로그램의 실행 의미 즉</a:t>
            </a:r>
            <a:r>
              <a:rPr lang="en-US" altLang="ko-KR" sz="16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, </a:t>
            </a:r>
            <a:r>
              <a:rPr lang="ko-KR" altLang="en-US" sz="16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큰보폭</a:t>
            </a:r>
            <a:r>
              <a:rPr lang="en-US" altLang="ko-KR" sz="1600" b="1">
                <a:solidFill>
                  <a:srgbClr val="7C8A99"/>
                </a:solidFill>
                <a:latin typeface="Aptos" panose="020B0004020202020204" pitchFamily="34" charset="0"/>
              </a:rPr>
              <a:t>Big-Step</a:t>
            </a:r>
            <a:r>
              <a:rPr lang="ko-KR" altLang="en-US" sz="16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 증명나무를 바로 합성한다</a:t>
            </a:r>
            <a:r>
              <a:rPr lang="en-US" altLang="ko-KR" sz="16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.</a:t>
            </a:r>
            <a:endParaRPr lang="ko-KR" altLang="en-US" sz="1600" b="1">
              <a:solidFill>
                <a:srgbClr val="00397F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pic>
        <p:nvPicPr>
          <p:cNvPr id="470" name="그림 469">
            <a:extLst>
              <a:ext uri="{FF2B5EF4-FFF2-40B4-BE49-F238E27FC236}">
                <a16:creationId xmlns:a16="http://schemas.microsoft.com/office/drawing/2014/main" id="{69FC67EA-41F1-450F-A29E-E8E41CF25E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9434" y="15881171"/>
            <a:ext cx="4310866" cy="3339493"/>
          </a:xfrm>
          <a:prstGeom prst="rect">
            <a:avLst/>
          </a:prstGeom>
        </p:spPr>
      </p:pic>
      <p:sp>
        <p:nvSpPr>
          <p:cNvPr id="471" name="TextBox 470">
            <a:extLst>
              <a:ext uri="{FF2B5EF4-FFF2-40B4-BE49-F238E27FC236}">
                <a16:creationId xmlns:a16="http://schemas.microsoft.com/office/drawing/2014/main" id="{026F34EB-4282-4408-B13C-ADF0C6D1BC23}"/>
              </a:ext>
            </a:extLst>
          </p:cNvPr>
          <p:cNvSpPr txBox="1"/>
          <p:nvPr/>
        </p:nvSpPr>
        <p:spPr>
          <a:xfrm>
            <a:off x="16637000" y="17365721"/>
            <a:ext cx="3858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rgbClr val="FF0000"/>
                </a:solidFill>
              </a:rPr>
              <a:t>그림 좀더 크고 잘보이는걸로 바꾸기</a:t>
            </a:r>
          </a:p>
        </p:txBody>
      </p:sp>
      <p:sp>
        <p:nvSpPr>
          <p:cNvPr id="472" name="TextBox 471">
            <a:extLst>
              <a:ext uri="{FF2B5EF4-FFF2-40B4-BE49-F238E27FC236}">
                <a16:creationId xmlns:a16="http://schemas.microsoft.com/office/drawing/2014/main" id="{0DBCD82E-6DF8-469E-A670-A15ED0E70B61}"/>
              </a:ext>
            </a:extLst>
          </p:cNvPr>
          <p:cNvSpPr txBox="1"/>
          <p:nvPr/>
        </p:nvSpPr>
        <p:spPr>
          <a:xfrm>
            <a:off x="13373100" y="24904700"/>
            <a:ext cx="50658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</a:rPr>
              <a:t>unification</a:t>
            </a:r>
            <a:r>
              <a:rPr lang="ko-KR" altLang="en-US">
                <a:solidFill>
                  <a:srgbClr val="FF0000"/>
                </a:solidFill>
              </a:rPr>
              <a:t>이 일어나는 예시를 코드로 보여주자</a:t>
            </a:r>
            <a:r>
              <a:rPr lang="en-US" altLang="ko-KR">
                <a:solidFill>
                  <a:srgbClr val="FF0000"/>
                </a:solidFill>
              </a:rPr>
              <a:t>.</a:t>
            </a:r>
          </a:p>
          <a:p>
            <a:r>
              <a:rPr lang="ko-KR" altLang="en-US">
                <a:solidFill>
                  <a:srgbClr val="FF0000"/>
                </a:solidFill>
              </a:rPr>
              <a:t>이왕이면 조금 교묘해서 생각해보기 좋은 예시로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263875C5-B2DE-4713-9EA3-EDA8420F7892}"/>
              </a:ext>
            </a:extLst>
          </p:cNvPr>
          <p:cNvSpPr txBox="1"/>
          <p:nvPr/>
        </p:nvSpPr>
        <p:spPr>
          <a:xfrm>
            <a:off x="13950163" y="21155119"/>
            <a:ext cx="2013737" cy="147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500">
                <a:solidFill>
                  <a:srgbClr val="88C0D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int </a:t>
            </a:r>
            <a:r>
              <a:rPr lang="en-US" altLang="ko-KR" sz="150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f(</a:t>
            </a:r>
            <a:r>
              <a:rPr lang="en-US" altLang="ko-KR" sz="1500">
                <a:solidFill>
                  <a:srgbClr val="88C0D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50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x) {</a:t>
            </a:r>
          </a:p>
          <a:p>
            <a:pPr>
              <a:lnSpc>
                <a:spcPct val="115000"/>
              </a:lnSpc>
            </a:pPr>
            <a:r>
              <a:rPr lang="en-US" altLang="ko-KR" sz="1500">
                <a:solidFill>
                  <a:srgbClr val="88C0D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</a:t>
            </a:r>
            <a:r>
              <a:rPr lang="en-US" altLang="ko-KR" sz="1500">
                <a:solidFill>
                  <a:srgbClr val="EBCB8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?H4</a:t>
            </a:r>
          </a:p>
          <a:p>
            <a:pPr>
              <a:lnSpc>
                <a:spcPct val="115000"/>
              </a:lnSpc>
            </a:pPr>
            <a:r>
              <a:rPr lang="en-US" altLang="ko-KR" sz="150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  <a:endParaRPr lang="ko-KR" altLang="en-US" sz="150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4A6D9068-4147-4DA5-8AF2-9684E83D3C95}"/>
              </a:ext>
            </a:extLst>
          </p:cNvPr>
          <p:cNvSpPr txBox="1"/>
          <p:nvPr/>
        </p:nvSpPr>
        <p:spPr>
          <a:xfrm>
            <a:off x="11036300" y="23273808"/>
            <a:ext cx="94107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반복문 혹은 재귀함수에서 반복 실행되는 코드 부분은 실제로 일치해야 하기 때문에</a:t>
            </a:r>
            <a:r>
              <a:rPr lang="en-US" altLang="ko-KR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, </a:t>
            </a: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통일시키기</a:t>
            </a:r>
            <a:r>
              <a:rPr lang="en-US" altLang="ko-KR" sz="1290">
                <a:solidFill>
                  <a:srgbClr val="7C8A99"/>
                </a:solidFill>
              </a:rPr>
              <a:t>unification</a:t>
            </a: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 알고리즘이 필요하다</a:t>
            </a:r>
            <a:r>
              <a:rPr lang="en-US" altLang="ko-KR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. </a:t>
            </a: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타입 추론</a:t>
            </a:r>
            <a:r>
              <a:rPr lang="en-US" altLang="ko-KR" sz="1290">
                <a:solidFill>
                  <a:srgbClr val="7C8A99"/>
                </a:solidFill>
              </a:rPr>
              <a:t>type inference</a:t>
            </a:r>
            <a:r>
              <a:rPr lang="ko-KR" altLang="en-US" sz="1900" b="1">
                <a:solidFill>
                  <a:srgbClr val="1A222B"/>
                </a:solidFill>
              </a:rPr>
              <a:t>에서와 유사하다</a:t>
            </a:r>
            <a:r>
              <a:rPr lang="en-US" altLang="ko-KR" sz="1900" b="1">
                <a:solidFill>
                  <a:srgbClr val="1A222B"/>
                </a:solidFill>
              </a:rPr>
              <a:t>.</a:t>
            </a:r>
            <a:endParaRPr lang="ko-KR" altLang="en-US" sz="1900" b="1">
              <a:solidFill>
                <a:srgbClr val="1A222B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6EA83200-934D-437B-B0C7-C1768F99092B}"/>
              </a:ext>
            </a:extLst>
          </p:cNvPr>
          <p:cNvSpPr txBox="1"/>
          <p:nvPr/>
        </p:nvSpPr>
        <p:spPr>
          <a:xfrm>
            <a:off x="12207433" y="10975192"/>
            <a:ext cx="70711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rgbClr val="FF0000"/>
                </a:solidFill>
              </a:rPr>
              <a:t>여기 무슨 내용을 채우지</a:t>
            </a:r>
            <a:r>
              <a:rPr lang="en-US" altLang="ko-KR">
                <a:solidFill>
                  <a:srgbClr val="FF0000"/>
                </a:solidFill>
              </a:rPr>
              <a:t>?</a:t>
            </a:r>
          </a:p>
          <a:p>
            <a:r>
              <a:rPr lang="ko-KR" altLang="en-US">
                <a:solidFill>
                  <a:srgbClr val="FF0000"/>
                </a:solidFill>
              </a:rPr>
              <a:t>안전성과 유한성을 유지하면서 정밀도를 점점 높여간다고 하자 일단 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35C2B957-294D-4855-9284-A598A9F6A5FA}"/>
              </a:ext>
            </a:extLst>
          </p:cNvPr>
          <p:cNvSpPr txBox="1"/>
          <p:nvPr/>
        </p:nvSpPr>
        <p:spPr>
          <a:xfrm>
            <a:off x="3773302" y="10387052"/>
            <a:ext cx="3616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</a:rPr>
              <a:t>SnT</a:t>
            </a:r>
            <a:r>
              <a:rPr lang="ko-KR" altLang="en-US">
                <a:solidFill>
                  <a:srgbClr val="FF0000"/>
                </a:solidFill>
              </a:rPr>
              <a:t>때 썼던 공격 예시를 가져오자</a:t>
            </a:r>
            <a:r>
              <a:rPr lang="en-US" altLang="ko-KR">
                <a:solidFill>
                  <a:srgbClr val="FF0000"/>
                </a:solidFill>
              </a:rPr>
              <a:t>. </a:t>
            </a:r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A1C81A80-AE5C-4F67-9F99-E3A3CD58C05E}"/>
              </a:ext>
            </a:extLst>
          </p:cNvPr>
          <p:cNvSpPr txBox="1"/>
          <p:nvPr/>
        </p:nvSpPr>
        <p:spPr>
          <a:xfrm>
            <a:off x="939800" y="16579850"/>
            <a:ext cx="94107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프로그램 실행의 비결정성</a:t>
            </a:r>
            <a:r>
              <a:rPr lang="en-US" altLang="ko-KR" sz="1292">
                <a:solidFill>
                  <a:srgbClr val="7C8A99"/>
                </a:solidFill>
                <a:latin typeface="Aptos" panose="02110004020202020204"/>
                <a:ea typeface="맑은 고딕" panose="020B0503020000020004" pitchFamily="50" charset="-127"/>
              </a:rPr>
              <a:t>nondeterminism</a:t>
            </a: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을 없애야</a:t>
            </a:r>
            <a:r>
              <a:rPr lang="en-US" altLang="ko-KR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, </a:t>
            </a: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증명나무가 유일하게 정해지고 정밀도를 따지는 일이 뜻을 가진다</a:t>
            </a:r>
            <a:r>
              <a:rPr lang="en-US" altLang="ko-KR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.</a:t>
            </a:r>
            <a:endParaRPr lang="ko-KR" altLang="en-US" sz="1900" b="1">
              <a:solidFill>
                <a:srgbClr val="1A222B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2635C75F-8B1F-463C-80DD-CCF31AA5D401}"/>
              </a:ext>
            </a:extLst>
          </p:cNvPr>
          <p:cNvSpPr txBox="1"/>
          <p:nvPr/>
        </p:nvSpPr>
        <p:spPr>
          <a:xfrm>
            <a:off x="1679642" y="17817327"/>
            <a:ext cx="83247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</a:rPr>
              <a:t>SnT</a:t>
            </a:r>
            <a:r>
              <a:rPr lang="ko-KR" altLang="en-US">
                <a:solidFill>
                  <a:srgbClr val="FF0000"/>
                </a:solidFill>
              </a:rPr>
              <a:t>때 썼던</a:t>
            </a:r>
            <a:r>
              <a:rPr lang="en-US" altLang="ko-KR">
                <a:solidFill>
                  <a:srgbClr val="FF0000"/>
                </a:solidFill>
              </a:rPr>
              <a:t>, </a:t>
            </a:r>
            <a:r>
              <a:rPr lang="ko-KR" altLang="en-US">
                <a:solidFill>
                  <a:srgbClr val="FF0000"/>
                </a:solidFill>
              </a:rPr>
              <a:t>비결정성에 의해 잘못 공격한 예시를 보여주자</a:t>
            </a:r>
            <a:r>
              <a:rPr lang="en-US" altLang="ko-KR">
                <a:solidFill>
                  <a:srgbClr val="FF0000"/>
                </a:solidFill>
              </a:rPr>
              <a:t>.</a:t>
            </a:r>
          </a:p>
          <a:p>
            <a:endParaRPr lang="en-US" altLang="ko-KR">
              <a:solidFill>
                <a:srgbClr val="FF0000"/>
              </a:solidFill>
            </a:endParaRPr>
          </a:p>
          <a:p>
            <a:r>
              <a:rPr lang="ko-KR" altLang="en-US">
                <a:solidFill>
                  <a:srgbClr val="FF0000"/>
                </a:solidFill>
              </a:rPr>
              <a:t>그리고 나서 비결정성을 없앤 언어가 </a:t>
            </a:r>
            <a:r>
              <a:rPr lang="en-US" altLang="ko-KR">
                <a:solidFill>
                  <a:srgbClr val="FF0000"/>
                </a:solidFill>
              </a:rPr>
              <a:t>CIL– </a:t>
            </a:r>
            <a:r>
              <a:rPr lang="ko-KR" altLang="en-US">
                <a:solidFill>
                  <a:srgbClr val="FF0000"/>
                </a:solidFill>
              </a:rPr>
              <a:t>언어</a:t>
            </a:r>
            <a:r>
              <a:rPr lang="en-US" altLang="ko-KR">
                <a:solidFill>
                  <a:srgbClr val="FF0000"/>
                </a:solidFill>
              </a:rPr>
              <a:t>, C </a:t>
            </a:r>
            <a:r>
              <a:rPr lang="ko-KR" altLang="en-US">
                <a:solidFill>
                  <a:srgbClr val="FF0000"/>
                </a:solidFill>
              </a:rPr>
              <a:t>스타일의 작은 언어라고 말하자</a:t>
            </a:r>
            <a:r>
              <a:rPr lang="en-US" altLang="ko-KR">
                <a:solidFill>
                  <a:srgbClr val="FF0000"/>
                </a:solidFill>
              </a:rPr>
              <a:t>.</a:t>
            </a:r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F1CD64E4-14C6-4A5A-806A-B6962C25678D}"/>
              </a:ext>
            </a:extLst>
          </p:cNvPr>
          <p:cNvSpPr txBox="1"/>
          <p:nvPr/>
        </p:nvSpPr>
        <p:spPr>
          <a:xfrm>
            <a:off x="1735031" y="14554591"/>
            <a:ext cx="85138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rgbClr val="FF0000"/>
                </a:solidFill>
              </a:rPr>
              <a:t>수식으로 예쁘게 쓰자</a:t>
            </a:r>
            <a:r>
              <a:rPr lang="en-US" altLang="ko-KR">
                <a:solidFill>
                  <a:srgbClr val="FF0000"/>
                </a:solidFill>
              </a:rPr>
              <a:t>.</a:t>
            </a:r>
          </a:p>
          <a:p>
            <a:endParaRPr lang="en-US" altLang="ko-KR">
              <a:solidFill>
                <a:srgbClr val="FF0000"/>
              </a:solidFill>
            </a:endParaRPr>
          </a:p>
          <a:p>
            <a:r>
              <a:rPr lang="ko-KR" altLang="en-US">
                <a:solidFill>
                  <a:srgbClr val="FF0000"/>
                </a:solidFill>
              </a:rPr>
              <a:t>분석기가 꼭 위치별</a:t>
            </a:r>
            <a:r>
              <a:rPr lang="en-US" altLang="ko-KR">
                <a:solidFill>
                  <a:srgbClr val="FF0000"/>
                </a:solidFill>
              </a:rPr>
              <a:t>, </a:t>
            </a:r>
            <a:r>
              <a:rPr lang="ko-KR" altLang="en-US">
                <a:solidFill>
                  <a:srgbClr val="FF0000"/>
                </a:solidFill>
              </a:rPr>
              <a:t>변수별로 분석한다고 정해진 것은 아니기에</a:t>
            </a:r>
            <a:endParaRPr lang="en-US" altLang="ko-KR">
              <a:solidFill>
                <a:srgbClr val="FF0000"/>
              </a:solidFill>
            </a:endParaRPr>
          </a:p>
          <a:p>
            <a:r>
              <a:rPr lang="ko-KR" altLang="en-US">
                <a:solidFill>
                  <a:srgbClr val="FF0000"/>
                </a:solidFill>
              </a:rPr>
              <a:t>범용적인 분석기에 해당하는 공격은 아니지만</a:t>
            </a:r>
            <a:r>
              <a:rPr lang="en-US" altLang="ko-KR">
                <a:solidFill>
                  <a:srgbClr val="FF0000"/>
                </a:solidFill>
              </a:rPr>
              <a:t>, </a:t>
            </a:r>
            <a:r>
              <a:rPr lang="ko-KR" altLang="en-US">
                <a:solidFill>
                  <a:srgbClr val="FF0000"/>
                </a:solidFill>
              </a:rPr>
              <a:t>편의상 이렇게 정의한다고 설명하자</a:t>
            </a:r>
            <a:r>
              <a:rPr lang="en-US" altLang="ko-KR">
                <a:solidFill>
                  <a:srgbClr val="FF0000"/>
                </a:solidFill>
              </a:rPr>
              <a:t>.</a:t>
            </a:r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5E2749BC-6786-44DC-8080-1B52A1917AFA}"/>
              </a:ext>
            </a:extLst>
          </p:cNvPr>
          <p:cNvSpPr txBox="1"/>
          <p:nvPr/>
        </p:nvSpPr>
        <p:spPr>
          <a:xfrm>
            <a:off x="5819801" y="22487448"/>
            <a:ext cx="4770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</a:rPr>
              <a:t>SnT</a:t>
            </a:r>
            <a:r>
              <a:rPr lang="ko-KR" altLang="en-US">
                <a:solidFill>
                  <a:srgbClr val="FF0000"/>
                </a:solidFill>
              </a:rPr>
              <a:t>때 썼던</a:t>
            </a:r>
            <a:r>
              <a:rPr lang="en-US" altLang="ko-KR">
                <a:solidFill>
                  <a:srgbClr val="FF0000"/>
                </a:solidFill>
              </a:rPr>
              <a:t>, </a:t>
            </a:r>
            <a:r>
              <a:rPr lang="ko-KR" altLang="en-US">
                <a:solidFill>
                  <a:srgbClr val="FF0000"/>
                </a:solidFill>
              </a:rPr>
              <a:t>프로그램이 커지는 예시 가져오기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C064D69-BC7A-4324-BCFD-3FF6D64E9E3C}"/>
              </a:ext>
            </a:extLst>
          </p:cNvPr>
          <p:cNvSpPr txBox="1"/>
          <p:nvPr/>
        </p:nvSpPr>
        <p:spPr>
          <a:xfrm>
            <a:off x="740942" y="22487448"/>
            <a:ext cx="4770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</a:rPr>
              <a:t>SnT</a:t>
            </a:r>
            <a:r>
              <a:rPr lang="ko-KR" altLang="en-US">
                <a:solidFill>
                  <a:srgbClr val="FF0000"/>
                </a:solidFill>
              </a:rPr>
              <a:t>때 썼던</a:t>
            </a:r>
            <a:r>
              <a:rPr lang="en-US" altLang="ko-KR">
                <a:solidFill>
                  <a:srgbClr val="FF0000"/>
                </a:solidFill>
              </a:rPr>
              <a:t>, </a:t>
            </a:r>
            <a:r>
              <a:rPr lang="ko-KR" altLang="en-US">
                <a:solidFill>
                  <a:srgbClr val="FF0000"/>
                </a:solidFill>
              </a:rPr>
              <a:t>실행의미가 커지는 예시 가져오기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D037E03A-548C-4C12-AB28-A40156BA5815}"/>
              </a:ext>
            </a:extLst>
          </p:cNvPr>
          <p:cNvSpPr txBox="1"/>
          <p:nvPr/>
        </p:nvSpPr>
        <p:spPr>
          <a:xfrm>
            <a:off x="3363492" y="27439416"/>
            <a:ext cx="7124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rgbClr val="FF0000"/>
                </a:solidFill>
              </a:rPr>
              <a:t>사실 구멍이 필요한 이유는 더 있는데 이건 나중에 생각해서 추가하자</a:t>
            </a:r>
            <a:r>
              <a:rPr lang="en-US" altLang="ko-KR">
                <a:solidFill>
                  <a:srgbClr val="FF0000"/>
                </a:solidFill>
              </a:rPr>
              <a:t>.</a:t>
            </a:r>
            <a:endParaRPr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423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68</TotalTime>
  <Words>573</Words>
  <Application>Microsoft Office PowerPoint</Application>
  <PresentationFormat>사용자 지정</PresentationFormat>
  <Paragraphs>82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맑은 고딕</vt:lpstr>
      <vt:lpstr>Arial</vt:lpstr>
      <vt:lpstr>Consolas</vt:lpstr>
      <vt:lpstr>Times New Roman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JungWonJun</dc:creator>
  <cp:lastModifiedBy>JungWonJun</cp:lastModifiedBy>
  <cp:revision>48</cp:revision>
  <dcterms:created xsi:type="dcterms:W3CDTF">2026-08-20T07:14:27Z</dcterms:created>
  <dcterms:modified xsi:type="dcterms:W3CDTF">2026-08-23T12:26:51Z</dcterms:modified>
</cp:coreProperties>
</file>